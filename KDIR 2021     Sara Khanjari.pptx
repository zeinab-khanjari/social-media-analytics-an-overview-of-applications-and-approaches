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48" r:id="rId1"/>
  </p:sldMasterIdLst>
  <p:notesMasterIdLst>
    <p:notesMasterId r:id="rId21"/>
  </p:notesMasterIdLst>
  <p:handoutMasterIdLst>
    <p:handoutMasterId r:id="rId22"/>
  </p:handoutMasterIdLst>
  <p:sldIdLst>
    <p:sldId id="256" r:id="rId2"/>
    <p:sldId id="311" r:id="rId3"/>
    <p:sldId id="282" r:id="rId4"/>
    <p:sldId id="291" r:id="rId5"/>
    <p:sldId id="315" r:id="rId6"/>
    <p:sldId id="283" r:id="rId7"/>
    <p:sldId id="296" r:id="rId8"/>
    <p:sldId id="316" r:id="rId9"/>
    <p:sldId id="317" r:id="rId10"/>
    <p:sldId id="318" r:id="rId11"/>
    <p:sldId id="319" r:id="rId12"/>
    <p:sldId id="320" r:id="rId13"/>
    <p:sldId id="321" r:id="rId14"/>
    <p:sldId id="322" r:id="rId15"/>
    <p:sldId id="323" r:id="rId16"/>
    <p:sldId id="324" r:id="rId17"/>
    <p:sldId id="314" r:id="rId18"/>
    <p:sldId id="281" r:id="rId19"/>
    <p:sldId id="266" r:id="rId20"/>
  </p:sldIdLst>
  <p:sldSz cx="9144000" cy="6858000" type="screen4x3"/>
  <p:notesSz cx="6985000" cy="9271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ie Broadwell" initials="KB"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55" autoAdjust="0"/>
    <p:restoredTop sz="74372" autoAdjust="0"/>
  </p:normalViewPr>
  <p:slideViewPr>
    <p:cSldViewPr snapToObjects="1">
      <p:cViewPr varScale="1">
        <p:scale>
          <a:sx n="49" d="100"/>
          <a:sy n="49" d="100"/>
        </p:scale>
        <p:origin x="1076" y="5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embeddings/oleObject2.bin"/><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r>
              <a:rPr lang="en-US" sz="1200" b="1" dirty="0">
                <a:latin typeface="Times New Roman" panose="02020603050405020304" pitchFamily="18" charset="0"/>
                <a:cs typeface="Times New Roman" panose="02020603050405020304" pitchFamily="18" charset="0"/>
              </a:rPr>
              <a:t>Areas of application</a:t>
            </a:r>
          </a:p>
        </c:rich>
      </c:tx>
      <c:overlay val="0"/>
      <c:spPr>
        <a:noFill/>
        <a:ln>
          <a:noFill/>
        </a:ln>
        <a:effectLst/>
      </c:spPr>
      <c:txPr>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432930616497366"/>
          <c:y val="9.9992284097017992E-2"/>
          <c:w val="0.8880371828521435"/>
          <c:h val="0.66440818695739956"/>
        </c:manualLayout>
      </c:layout>
      <c:barChart>
        <c:barDir val="col"/>
        <c:grouping val="clustered"/>
        <c:varyColors val="0"/>
        <c:ser>
          <c:idx val="0"/>
          <c:order val="0"/>
          <c:spPr>
            <a:solidFill>
              <a:schemeClr val="accent5">
                <a:lumMod val="75000"/>
              </a:schemeClr>
            </a:solidFill>
            <a:ln>
              <a:noFill/>
            </a:ln>
            <a:effectLst/>
          </c:spPr>
          <c:invertIfNegative val="0"/>
          <c:cat>
            <c:strRef>
              <c:f>Areas!$A$12:$A$17</c:f>
              <c:strCache>
                <c:ptCount val="6"/>
                <c:pt idx="0">
                  <c:v>Urban planning</c:v>
                </c:pt>
                <c:pt idx="1">
                  <c:v>Disaster</c:v>
                </c:pt>
                <c:pt idx="2">
                  <c:v>Public health-Psychology</c:v>
                </c:pt>
                <c:pt idx="3">
                  <c:v>Political science</c:v>
                </c:pt>
                <c:pt idx="4">
                  <c:v>Business</c:v>
                </c:pt>
                <c:pt idx="5">
                  <c:v>Marketing</c:v>
                </c:pt>
              </c:strCache>
            </c:strRef>
          </c:cat>
          <c:val>
            <c:numRef>
              <c:f>Areas!$B$12:$B$17</c:f>
              <c:numCache>
                <c:formatCode>General</c:formatCode>
                <c:ptCount val="6"/>
                <c:pt idx="0">
                  <c:v>74</c:v>
                </c:pt>
                <c:pt idx="1">
                  <c:v>321</c:v>
                </c:pt>
                <c:pt idx="2">
                  <c:v>506</c:v>
                </c:pt>
                <c:pt idx="3">
                  <c:v>721</c:v>
                </c:pt>
                <c:pt idx="4">
                  <c:v>1093</c:v>
                </c:pt>
                <c:pt idx="5">
                  <c:v>830</c:v>
                </c:pt>
              </c:numCache>
            </c:numRef>
          </c:val>
          <c:extLst>
            <c:ext xmlns:c16="http://schemas.microsoft.com/office/drawing/2014/chart" uri="{C3380CC4-5D6E-409C-BE32-E72D297353CC}">
              <c16:uniqueId val="{00000000-FE69-4113-BED2-187F7FFC1F11}"/>
            </c:ext>
          </c:extLst>
        </c:ser>
        <c:dLbls>
          <c:showLegendKey val="0"/>
          <c:showVal val="0"/>
          <c:showCatName val="0"/>
          <c:showSerName val="0"/>
          <c:showPercent val="0"/>
          <c:showBubbleSize val="0"/>
        </c:dLbls>
        <c:gapWidth val="219"/>
        <c:overlap val="-27"/>
        <c:axId val="257820352"/>
        <c:axId val="257818112"/>
      </c:barChart>
      <c:catAx>
        <c:axId val="257820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57818112"/>
        <c:crosses val="autoZero"/>
        <c:auto val="1"/>
        <c:lblAlgn val="ctr"/>
        <c:lblOffset val="100"/>
        <c:noMultiLvlLbl val="0"/>
      </c:catAx>
      <c:valAx>
        <c:axId val="257818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57820352"/>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bg2"/>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r>
              <a:rPr lang="en-US" sz="1200" b="1" dirty="0">
                <a:latin typeface="Times New Roman" panose="02020603050405020304" pitchFamily="18" charset="0"/>
                <a:cs typeface="Times New Roman" panose="02020603050405020304" pitchFamily="18" charset="0"/>
              </a:rPr>
              <a:t>Approaches</a:t>
            </a:r>
          </a:p>
        </c:rich>
      </c:tx>
      <c:overlay val="0"/>
      <c:spPr>
        <a:noFill/>
        <a:ln>
          <a:noFill/>
        </a:ln>
        <a:effectLst/>
      </c:spPr>
      <c:txPr>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2"/>
            </a:solidFill>
            <a:ln>
              <a:noFill/>
            </a:ln>
            <a:effectLst/>
          </c:spPr>
          <c:invertIfNegative val="0"/>
          <c:cat>
            <c:strRef>
              <c:f>Appreaches!$A$11:$A$15</c:f>
              <c:strCache>
                <c:ptCount val="5"/>
                <c:pt idx="0">
                  <c:v>Topic modeling</c:v>
                </c:pt>
                <c:pt idx="1">
                  <c:v>Sentiment analysis</c:v>
                </c:pt>
                <c:pt idx="2">
                  <c:v>Social Network Analysis</c:v>
                </c:pt>
                <c:pt idx="3">
                  <c:v>Spatial analysis</c:v>
                </c:pt>
                <c:pt idx="4">
                  <c:v>Temporal analysis</c:v>
                </c:pt>
              </c:strCache>
            </c:strRef>
          </c:cat>
          <c:val>
            <c:numRef>
              <c:f>Appreaches!$B$11:$B$15</c:f>
              <c:numCache>
                <c:formatCode>General</c:formatCode>
                <c:ptCount val="5"/>
                <c:pt idx="0">
                  <c:v>263</c:v>
                </c:pt>
                <c:pt idx="1">
                  <c:v>713</c:v>
                </c:pt>
                <c:pt idx="2">
                  <c:v>411</c:v>
                </c:pt>
                <c:pt idx="3">
                  <c:v>41</c:v>
                </c:pt>
                <c:pt idx="4">
                  <c:v>61</c:v>
                </c:pt>
              </c:numCache>
            </c:numRef>
          </c:val>
          <c:extLst>
            <c:ext xmlns:c16="http://schemas.microsoft.com/office/drawing/2014/chart" uri="{C3380CC4-5D6E-409C-BE32-E72D297353CC}">
              <c16:uniqueId val="{00000000-B8B8-469E-A4ED-C5CBA4609D6C}"/>
            </c:ext>
          </c:extLst>
        </c:ser>
        <c:dLbls>
          <c:showLegendKey val="0"/>
          <c:showVal val="0"/>
          <c:showCatName val="0"/>
          <c:showSerName val="0"/>
          <c:showPercent val="0"/>
          <c:showBubbleSize val="0"/>
        </c:dLbls>
        <c:gapWidth val="219"/>
        <c:overlap val="-27"/>
        <c:axId val="257820912"/>
        <c:axId val="257821472"/>
      </c:barChart>
      <c:catAx>
        <c:axId val="257820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57821472"/>
        <c:crosses val="autoZero"/>
        <c:auto val="1"/>
        <c:lblAlgn val="ctr"/>
        <c:lblOffset val="100"/>
        <c:noMultiLvlLbl val="0"/>
      </c:catAx>
      <c:valAx>
        <c:axId val="257821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57820912"/>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bg2"/>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D972EC-821A-4779-956A-61116BAC8F81}"/>
              </a:ext>
            </a:extLst>
          </p:cNvPr>
          <p:cNvSpPr>
            <a:spLocks noGrp="1"/>
          </p:cNvSpPr>
          <p:nvPr>
            <p:ph type="hdr" sz="quarter"/>
          </p:nvPr>
        </p:nvSpPr>
        <p:spPr>
          <a:xfrm>
            <a:off x="0" y="0"/>
            <a:ext cx="3027363" cy="4651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60F669A-F2B2-4957-B1CC-2AC676749DAD}"/>
              </a:ext>
            </a:extLst>
          </p:cNvPr>
          <p:cNvSpPr>
            <a:spLocks noGrp="1"/>
          </p:cNvSpPr>
          <p:nvPr>
            <p:ph type="dt" sz="quarter" idx="1"/>
          </p:nvPr>
        </p:nvSpPr>
        <p:spPr>
          <a:xfrm>
            <a:off x="3956050" y="0"/>
            <a:ext cx="3027363" cy="465138"/>
          </a:xfrm>
          <a:prstGeom prst="rect">
            <a:avLst/>
          </a:prstGeom>
        </p:spPr>
        <p:txBody>
          <a:bodyPr vert="horz" lIns="91440" tIns="45720" rIns="91440" bIns="45720" rtlCol="0"/>
          <a:lstStyle>
            <a:lvl1pPr algn="r">
              <a:defRPr sz="1200"/>
            </a:lvl1pPr>
          </a:lstStyle>
          <a:p>
            <a:fld id="{D24D4E2B-3597-4CA9-85F5-A701DB8FE973}" type="datetimeFigureOut">
              <a:rPr lang="en-US" smtClean="0"/>
              <a:t>10/25/2021</a:t>
            </a:fld>
            <a:endParaRPr lang="en-US"/>
          </a:p>
        </p:txBody>
      </p:sp>
      <p:sp>
        <p:nvSpPr>
          <p:cNvPr id="4" name="Footer Placeholder 3">
            <a:extLst>
              <a:ext uri="{FF2B5EF4-FFF2-40B4-BE49-F238E27FC236}">
                <a16:creationId xmlns:a16="http://schemas.microsoft.com/office/drawing/2014/main" id="{F12FF5AF-2566-452D-ADC1-1629DE92FBC0}"/>
              </a:ext>
            </a:extLst>
          </p:cNvPr>
          <p:cNvSpPr>
            <a:spLocks noGrp="1"/>
          </p:cNvSpPr>
          <p:nvPr>
            <p:ph type="ftr" sz="quarter" idx="2"/>
          </p:nvPr>
        </p:nvSpPr>
        <p:spPr>
          <a:xfrm>
            <a:off x="0" y="8805863"/>
            <a:ext cx="3027363" cy="4651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A388CD8-C033-4E25-A60D-FC04F0EBB808}"/>
              </a:ext>
            </a:extLst>
          </p:cNvPr>
          <p:cNvSpPr>
            <a:spLocks noGrp="1"/>
          </p:cNvSpPr>
          <p:nvPr>
            <p:ph type="sldNum" sz="quarter" idx="3"/>
          </p:nvPr>
        </p:nvSpPr>
        <p:spPr>
          <a:xfrm>
            <a:off x="3956050" y="8805863"/>
            <a:ext cx="3027363" cy="465137"/>
          </a:xfrm>
          <a:prstGeom prst="rect">
            <a:avLst/>
          </a:prstGeom>
        </p:spPr>
        <p:txBody>
          <a:bodyPr vert="horz" lIns="91440" tIns="45720" rIns="91440" bIns="45720" rtlCol="0" anchor="b"/>
          <a:lstStyle>
            <a:lvl1pPr algn="r">
              <a:defRPr sz="1200"/>
            </a:lvl1pPr>
          </a:lstStyle>
          <a:p>
            <a:fld id="{B36FB962-2A49-4F74-9E20-BD422FAA159A}" type="slidenum">
              <a:rPr lang="en-US" smtClean="0"/>
              <a:t>‹#›</a:t>
            </a:fld>
            <a:endParaRPr lang="en-US"/>
          </a:p>
        </p:txBody>
      </p:sp>
    </p:spTree>
    <p:extLst>
      <p:ext uri="{BB962C8B-B14F-4D97-AF65-F5344CB8AC3E}">
        <p14:creationId xmlns:p14="http://schemas.microsoft.com/office/powerpoint/2010/main" val="3204028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26833" cy="463550"/>
          </a:xfrm>
          <a:prstGeom prst="rect">
            <a:avLst/>
          </a:prstGeom>
        </p:spPr>
        <p:txBody>
          <a:bodyPr vert="horz" lIns="92885" tIns="46442" rIns="92885" bIns="46442" rtlCol="0"/>
          <a:lstStyle>
            <a:lvl1pPr algn="l">
              <a:defRPr sz="1200"/>
            </a:lvl1pPr>
          </a:lstStyle>
          <a:p>
            <a:endParaRPr lang="en-US"/>
          </a:p>
        </p:txBody>
      </p:sp>
      <p:sp>
        <p:nvSpPr>
          <p:cNvPr id="3" name="Date Placeholder 2"/>
          <p:cNvSpPr>
            <a:spLocks noGrp="1"/>
          </p:cNvSpPr>
          <p:nvPr>
            <p:ph type="dt" idx="1"/>
          </p:nvPr>
        </p:nvSpPr>
        <p:spPr>
          <a:xfrm>
            <a:off x="3956551" y="0"/>
            <a:ext cx="3026833" cy="463550"/>
          </a:xfrm>
          <a:prstGeom prst="rect">
            <a:avLst/>
          </a:prstGeom>
        </p:spPr>
        <p:txBody>
          <a:bodyPr vert="horz" lIns="92885" tIns="46442" rIns="92885" bIns="46442" rtlCol="0"/>
          <a:lstStyle>
            <a:lvl1pPr algn="r">
              <a:defRPr sz="1200"/>
            </a:lvl1pPr>
          </a:lstStyle>
          <a:p>
            <a:fld id="{BA8A44F1-2F5C-41F7-8E51-D28977C19E65}" type="datetimeFigureOut">
              <a:rPr lang="en-US" smtClean="0"/>
              <a:pPr/>
              <a:t>10/25/2021</a:t>
            </a:fld>
            <a:endParaRPr lang="en-US"/>
          </a:p>
        </p:txBody>
      </p:sp>
      <p:sp>
        <p:nvSpPr>
          <p:cNvPr id="4" name="Slide Image Placeholder 3"/>
          <p:cNvSpPr>
            <a:spLocks noGrp="1" noRot="1" noChangeAspect="1"/>
          </p:cNvSpPr>
          <p:nvPr>
            <p:ph type="sldImg" idx="2"/>
          </p:nvPr>
        </p:nvSpPr>
        <p:spPr>
          <a:xfrm>
            <a:off x="1174750" y="695325"/>
            <a:ext cx="4635500" cy="3476625"/>
          </a:xfrm>
          <a:prstGeom prst="rect">
            <a:avLst/>
          </a:prstGeom>
          <a:noFill/>
          <a:ln w="12700">
            <a:solidFill>
              <a:prstClr val="black"/>
            </a:solidFill>
          </a:ln>
        </p:spPr>
        <p:txBody>
          <a:bodyPr vert="horz" lIns="92885" tIns="46442" rIns="92885" bIns="46442" rtlCol="0" anchor="ctr"/>
          <a:lstStyle/>
          <a:p>
            <a:endParaRPr lang="en-US"/>
          </a:p>
        </p:txBody>
      </p:sp>
      <p:sp>
        <p:nvSpPr>
          <p:cNvPr id="5" name="Notes Placeholder 4"/>
          <p:cNvSpPr>
            <a:spLocks noGrp="1"/>
          </p:cNvSpPr>
          <p:nvPr>
            <p:ph type="body" sz="quarter" idx="3"/>
          </p:nvPr>
        </p:nvSpPr>
        <p:spPr>
          <a:xfrm>
            <a:off x="698500" y="4403725"/>
            <a:ext cx="5588000" cy="4171950"/>
          </a:xfrm>
          <a:prstGeom prst="rect">
            <a:avLst/>
          </a:prstGeom>
        </p:spPr>
        <p:txBody>
          <a:bodyPr vert="horz" lIns="92885" tIns="46442" rIns="92885" bIns="4644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05841"/>
            <a:ext cx="3026833" cy="463550"/>
          </a:xfrm>
          <a:prstGeom prst="rect">
            <a:avLst/>
          </a:prstGeom>
        </p:spPr>
        <p:txBody>
          <a:bodyPr vert="horz" lIns="92885" tIns="46442" rIns="92885" bIns="46442" rtlCol="0" anchor="b"/>
          <a:lstStyle>
            <a:lvl1pPr algn="l">
              <a:defRPr sz="1200"/>
            </a:lvl1pPr>
          </a:lstStyle>
          <a:p>
            <a:endParaRPr lang="en-US"/>
          </a:p>
        </p:txBody>
      </p:sp>
      <p:sp>
        <p:nvSpPr>
          <p:cNvPr id="7" name="Slide Number Placeholder 6"/>
          <p:cNvSpPr>
            <a:spLocks noGrp="1"/>
          </p:cNvSpPr>
          <p:nvPr>
            <p:ph type="sldNum" sz="quarter" idx="5"/>
          </p:nvPr>
        </p:nvSpPr>
        <p:spPr>
          <a:xfrm>
            <a:off x="3956551" y="8805841"/>
            <a:ext cx="3026833" cy="463550"/>
          </a:xfrm>
          <a:prstGeom prst="rect">
            <a:avLst/>
          </a:prstGeom>
        </p:spPr>
        <p:txBody>
          <a:bodyPr vert="horz" lIns="92885" tIns="46442" rIns="92885" bIns="46442" rtlCol="0" anchor="b"/>
          <a:lstStyle>
            <a:lvl1pPr algn="r">
              <a:defRPr sz="1200"/>
            </a:lvl1pPr>
          </a:lstStyle>
          <a:p>
            <a:fld id="{E7381286-940D-4206-A173-4258F251750A}" type="slidenum">
              <a:rPr lang="en-US" smtClean="0"/>
              <a:pPr/>
              <a:t>‹#›</a:t>
            </a:fld>
            <a:endParaRPr lang="en-US"/>
          </a:p>
        </p:txBody>
      </p:sp>
    </p:spTree>
    <p:extLst>
      <p:ext uri="{BB962C8B-B14F-4D97-AF65-F5344CB8AC3E}">
        <p14:creationId xmlns:p14="http://schemas.microsoft.com/office/powerpoint/2010/main" val="393332759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a:t>
            </a:fld>
            <a:endParaRPr lang="en-US"/>
          </a:p>
        </p:txBody>
      </p:sp>
      <p:sp>
        <p:nvSpPr>
          <p:cNvPr id="5" name="Footer Placeholder 4">
            <a:extLst>
              <a:ext uri="{FF2B5EF4-FFF2-40B4-BE49-F238E27FC236}">
                <a16:creationId xmlns:a16="http://schemas.microsoft.com/office/drawing/2014/main" id="{DB6EBED6-CBAD-4B9E-BDCC-624FC10E676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44766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2</a:t>
            </a:fld>
            <a:endParaRPr lang="en-US"/>
          </a:p>
        </p:txBody>
      </p:sp>
      <p:sp>
        <p:nvSpPr>
          <p:cNvPr id="5" name="Footer Placeholder 4">
            <a:extLst>
              <a:ext uri="{FF2B5EF4-FFF2-40B4-BE49-F238E27FC236}">
                <a16:creationId xmlns:a16="http://schemas.microsoft.com/office/drawing/2014/main" id="{42906CB1-D103-4817-B754-082E951CF5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18480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Arial" panose="020B0604020202020204" pitchFamily="34" charset="0"/>
              </a:rPr>
              <a:t>Users' activities and user-generated data on social media can generate useful and valuable information that can be used in policymaking and the decision-making process for research related to real-world applications and issues.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ko-KR"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Arial" panose="020B0604020202020204" pitchFamily="34" charset="0"/>
              </a:rPr>
              <a:t>Through social media platform, people can share their ideas, thoughts, feelings, pictures, and videos around different subjects and interact with other people. People's social media activities generate valuable data that can be used to discover users' and humans' behaviors, thoughts, emotions, and interactions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ko-KR" dirty="0">
              <a:solidFill>
                <a:schemeClr val="tx1">
                  <a:lumMod val="75000"/>
                  <a:lumOff val="25000"/>
                </a:schemeClr>
              </a:solidFill>
              <a:latin typeface="Times New Roman" panose="02020603050405020304" pitchFamily="18" charset="0"/>
              <a:cs typeface="Times New Roman" panose="02020603050405020304" pitchFamily="18" charset="0"/>
            </a:endParaRPr>
          </a:p>
          <a:p>
            <a:endParaRPr lang="en-GB" sz="1200" dirty="0">
              <a:effectLst/>
              <a:latin typeface="Times New Roman" panose="02020603050405020304" pitchFamily="18" charset="0"/>
              <a:ea typeface="MS Mincho" panose="02020609040205080304" pitchFamily="49" charset="-128"/>
            </a:endParaRPr>
          </a:p>
          <a:p>
            <a:r>
              <a:rPr lang="en-GB" sz="1200" dirty="0">
                <a:effectLst/>
                <a:latin typeface="Times New Roman" panose="02020603050405020304" pitchFamily="18" charset="0"/>
                <a:ea typeface="MS Mincho" panose="02020609040205080304" pitchFamily="49" charset="-128"/>
              </a:rPr>
              <a:t>Social media data can be considered a data source for some </a:t>
            </a:r>
            <a:r>
              <a:rPr lang="en-GB" sz="1200" b="1" dirty="0">
                <a:effectLst/>
                <a:latin typeface="Times New Roman" panose="02020603050405020304" pitchFamily="18" charset="0"/>
                <a:ea typeface="MS Mincho" panose="02020609040205080304" pitchFamily="49" charset="-128"/>
              </a:rPr>
              <a:t>data-driven research</a:t>
            </a:r>
            <a:r>
              <a:rPr lang="en-GB" sz="1200" dirty="0">
                <a:effectLst/>
                <a:latin typeface="Times New Roman" panose="02020603050405020304" pitchFamily="18" charset="0"/>
                <a:ea typeface="MS Mincho" panose="02020609040205080304" pitchFamily="49" charset="-128"/>
              </a:rPr>
              <a:t>. This data will help researchers gain information about the general public and apply the information to improve the quality of decisions and policies related to the general public issues and business goals</a:t>
            </a:r>
            <a:endParaRPr lang="ko-KR" alt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3</a:t>
            </a:fld>
            <a:endParaRPr lang="en-US"/>
          </a:p>
        </p:txBody>
      </p:sp>
      <p:sp>
        <p:nvSpPr>
          <p:cNvPr id="5" name="Footer Placeholder 4">
            <a:extLst>
              <a:ext uri="{FF2B5EF4-FFF2-40B4-BE49-F238E27FC236}">
                <a16:creationId xmlns:a16="http://schemas.microsoft.com/office/drawing/2014/main" id="{4B923D20-3946-4B45-A757-4C4A1115643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87706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Times New Roman" panose="02020603050405020304" pitchFamily="18" charset="0"/>
                <a:ea typeface="MS Mincho" panose="02020609040205080304" pitchFamily="49" charset="-128"/>
                <a:cs typeface="Times New Roman" panose="02020603050405020304" pitchFamily="18" charset="0"/>
              </a:rPr>
              <a:t>Many papers on social media analysis methods, social media analysis application areas, and various social media analysis tasks have been published over time. This paper contributes by reviewing published papers from 2011 to 2020 to look at social media analysis from a different angle. This paper aims to identify areas of application of social media analysis related to real-world issues and events and to identify the most used analysis approaches in these areas.</a:t>
            </a:r>
            <a:endParaRPr lang="en-US" sz="1800" dirty="0">
              <a:effectLst/>
              <a:latin typeface="Times New Roman" panose="02020603050405020304" pitchFamily="18" charset="0"/>
              <a:ea typeface="MS Mincho" panose="02020609040205080304" pitchFamily="49" charset="-128"/>
            </a:endParaRP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Times New Roman" panose="02020603050405020304" pitchFamily="18" charset="0"/>
                <a:ea typeface="MS Mincho" panose="02020609040205080304" pitchFamily="49" charset="-128"/>
                <a:cs typeface="Times New Roman" panose="02020603050405020304" pitchFamily="18" charset="0"/>
              </a:rPr>
              <a:t>According to the goals stated in the introduction section, this paper tries to answer the following questions:</a:t>
            </a:r>
            <a:endParaRPr lang="en-US" sz="1800" dirty="0">
              <a:effectLst/>
              <a:latin typeface="Times New Roman" panose="02020603050405020304" pitchFamily="18" charset="0"/>
              <a:ea typeface="MS Mincho" panose="02020609040205080304" pitchFamily="49" charset="-128"/>
            </a:endParaRPr>
          </a:p>
          <a:p>
            <a:pPr marL="0" indent="0">
              <a:buNone/>
            </a:pPr>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4</a:t>
            </a:fld>
            <a:endParaRPr lang="en-US"/>
          </a:p>
        </p:txBody>
      </p:sp>
      <p:sp>
        <p:nvSpPr>
          <p:cNvPr id="5" name="Footer Placeholder 4">
            <a:extLst>
              <a:ext uri="{FF2B5EF4-FFF2-40B4-BE49-F238E27FC236}">
                <a16:creationId xmlns:a16="http://schemas.microsoft.com/office/drawing/2014/main" id="{F9D58B02-CD65-4097-BE55-64DC0A5AFD7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557623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Tx/>
              <a:buAutoNum type="romanUcPeriod"/>
              <a:tabLst/>
              <a:defRPr/>
            </a:pPr>
            <a:r>
              <a:rPr lang="en-US" sz="1200" dirty="0">
                <a:effectLst/>
                <a:latin typeface="Times New Roman" panose="02020603050405020304" pitchFamily="18" charset="0"/>
                <a:ea typeface="Calibri" panose="020F0502020204030204" pitchFamily="34" charset="0"/>
                <a:cs typeface="Arial" panose="020B0604020202020204" pitchFamily="34" charset="0"/>
              </a:rPr>
              <a:t>These techniques include methods such as machine learning, data mining, natural language processing, and deep learning methods. </a:t>
            </a:r>
            <a:endParaRPr lang="en-US" sz="1200" dirty="0">
              <a:latin typeface="Times New Roman" panose="02020603050405020304" pitchFamily="18" charset="0"/>
            </a:endParaRPr>
          </a:p>
          <a:p>
            <a:pPr marL="285750" indent="-285750">
              <a:buAutoNum type="romanUcPeriod"/>
            </a:pPr>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5</a:t>
            </a:fld>
            <a:endParaRPr lang="en-US"/>
          </a:p>
        </p:txBody>
      </p:sp>
      <p:sp>
        <p:nvSpPr>
          <p:cNvPr id="5" name="Footer Placeholder 4">
            <a:extLst>
              <a:ext uri="{FF2B5EF4-FFF2-40B4-BE49-F238E27FC236}">
                <a16:creationId xmlns:a16="http://schemas.microsoft.com/office/drawing/2014/main" id="{4B923D20-3946-4B45-A757-4C4A1115643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17761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6</a:t>
            </a:fld>
            <a:endParaRPr lang="en-US"/>
          </a:p>
        </p:txBody>
      </p:sp>
      <p:sp>
        <p:nvSpPr>
          <p:cNvPr id="5" name="Footer Placeholder 4">
            <a:extLst>
              <a:ext uri="{FF2B5EF4-FFF2-40B4-BE49-F238E27FC236}">
                <a16:creationId xmlns:a16="http://schemas.microsoft.com/office/drawing/2014/main" id="{A69F9120-2C39-4B83-971F-84C08F04B47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02664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Arial" panose="020B0604020202020204" pitchFamily="34" charset="0"/>
              </a:rPr>
              <a:t>This paper surveys the studies that study user-generated data and user activities in social media to improve strategies related to the decision-making process. Considering that we mainly focus on the text as users’ generated-data, we chose five social media analysis approaches. These five approaches together can help to extract valuable knowledge from social media data to learn about the general public. This section discusses the identified approaches to answer the second question Q</a:t>
            </a:r>
            <a:r>
              <a:rPr lang="en-US" sz="1800" baseline="-25000" dirty="0">
                <a:effectLst/>
                <a:latin typeface="Times New Roman" panose="02020603050405020304" pitchFamily="18" charset="0"/>
                <a:ea typeface="Calibri" panose="020F0502020204030204" pitchFamily="34" charset="0"/>
                <a:cs typeface="Arial" panose="020B0604020202020204" pitchFamily="34" charset="0"/>
              </a:rPr>
              <a:t>2 </a:t>
            </a:r>
            <a:r>
              <a:rPr lang="en-US" sz="1800" dirty="0">
                <a:effectLst/>
                <a:latin typeface="Times New Roman" panose="02020603050405020304" pitchFamily="18" charset="0"/>
                <a:ea typeface="Calibri" panose="020F0502020204030204" pitchFamily="34" charset="0"/>
                <a:cs typeface="Arial" panose="020B0604020202020204" pitchFamily="34" charset="0"/>
              </a:rPr>
              <a:t>of this study.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7</a:t>
            </a:fld>
            <a:endParaRPr lang="en-US"/>
          </a:p>
        </p:txBody>
      </p:sp>
      <p:sp>
        <p:nvSpPr>
          <p:cNvPr id="5" name="Footer Placeholder 4">
            <a:extLst>
              <a:ext uri="{FF2B5EF4-FFF2-40B4-BE49-F238E27FC236}">
                <a16:creationId xmlns:a16="http://schemas.microsoft.com/office/drawing/2014/main" id="{AC162AA1-7AC3-4031-A228-7279041C1FE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07912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8</a:t>
            </a:fld>
            <a:endParaRPr lang="en-US"/>
          </a:p>
        </p:txBody>
      </p:sp>
      <p:sp>
        <p:nvSpPr>
          <p:cNvPr id="5" name="Footer Placeholder 4">
            <a:extLst>
              <a:ext uri="{FF2B5EF4-FFF2-40B4-BE49-F238E27FC236}">
                <a16:creationId xmlns:a16="http://schemas.microsoft.com/office/drawing/2014/main" id="{A69F9120-2C39-4B83-971F-84C08F04B47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611744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9</a:t>
            </a:fld>
            <a:endParaRPr lang="en-US"/>
          </a:p>
        </p:txBody>
      </p:sp>
      <p:sp>
        <p:nvSpPr>
          <p:cNvPr id="5" name="Footer Placeholder 4">
            <a:extLst>
              <a:ext uri="{FF2B5EF4-FFF2-40B4-BE49-F238E27FC236}">
                <a16:creationId xmlns:a16="http://schemas.microsoft.com/office/drawing/2014/main" id="{A69F9120-2C39-4B83-971F-84C08F04B47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30765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10</a:t>
            </a:fld>
            <a:endParaRPr lang="en-US"/>
          </a:p>
        </p:txBody>
      </p:sp>
      <p:sp>
        <p:nvSpPr>
          <p:cNvPr id="5" name="Footer Placeholder 4">
            <a:extLst>
              <a:ext uri="{FF2B5EF4-FFF2-40B4-BE49-F238E27FC236}">
                <a16:creationId xmlns:a16="http://schemas.microsoft.com/office/drawing/2014/main" id="{A69F9120-2C39-4B83-971F-84C08F04B47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41277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11</a:t>
            </a:fld>
            <a:endParaRPr lang="en-US"/>
          </a:p>
        </p:txBody>
      </p:sp>
      <p:sp>
        <p:nvSpPr>
          <p:cNvPr id="5" name="Footer Placeholder 4">
            <a:extLst>
              <a:ext uri="{FF2B5EF4-FFF2-40B4-BE49-F238E27FC236}">
                <a16:creationId xmlns:a16="http://schemas.microsoft.com/office/drawing/2014/main" id="{A69F9120-2C39-4B83-971F-84C08F04B47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19599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12</a:t>
            </a:fld>
            <a:endParaRPr lang="en-US"/>
          </a:p>
        </p:txBody>
      </p:sp>
      <p:sp>
        <p:nvSpPr>
          <p:cNvPr id="5" name="Footer Placeholder 4">
            <a:extLst>
              <a:ext uri="{FF2B5EF4-FFF2-40B4-BE49-F238E27FC236}">
                <a16:creationId xmlns:a16="http://schemas.microsoft.com/office/drawing/2014/main" id="{A69F9120-2C39-4B83-971F-84C08F04B47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2428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Arial" panose="020B0604020202020204" pitchFamily="34" charset="0"/>
              </a:rPr>
              <a:t>This paper surveys the studies that study user-generated data and user activities in social media to improve strategies related to the decision-making process. Considering that we mainly focus on the text as users’ generated-data, we chose five social media analysis approaches. These five approaches together can help to extract valuable knowledge from social media data to learn about the general public. This section discusses the identified approaches to answer the second question Q</a:t>
            </a:r>
            <a:r>
              <a:rPr lang="en-US" sz="1800" baseline="-25000" dirty="0">
                <a:effectLst/>
                <a:latin typeface="Times New Roman" panose="02020603050405020304" pitchFamily="18" charset="0"/>
                <a:ea typeface="Calibri" panose="020F0502020204030204" pitchFamily="34" charset="0"/>
                <a:cs typeface="Arial" panose="020B0604020202020204" pitchFamily="34" charset="0"/>
              </a:rPr>
              <a:t>2 </a:t>
            </a:r>
            <a:r>
              <a:rPr lang="en-US" sz="1800" dirty="0">
                <a:effectLst/>
                <a:latin typeface="Times New Roman" panose="02020603050405020304" pitchFamily="18" charset="0"/>
                <a:ea typeface="Calibri" panose="020F0502020204030204" pitchFamily="34" charset="0"/>
                <a:cs typeface="Arial" panose="020B0604020202020204" pitchFamily="34" charset="0"/>
              </a:rPr>
              <a:t>of this study.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13</a:t>
            </a:fld>
            <a:endParaRPr lang="en-US"/>
          </a:p>
        </p:txBody>
      </p:sp>
      <p:sp>
        <p:nvSpPr>
          <p:cNvPr id="5" name="Footer Placeholder 4">
            <a:extLst>
              <a:ext uri="{FF2B5EF4-FFF2-40B4-BE49-F238E27FC236}">
                <a16:creationId xmlns:a16="http://schemas.microsoft.com/office/drawing/2014/main" id="{AC162AA1-7AC3-4031-A228-7279041C1FE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00543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Arial" panose="020B0604020202020204" pitchFamily="34" charset="0"/>
              </a:rPr>
              <a:t>This paper surveys the studies that study user-generated data and user activities in social media to improve strategies related to the decision-making process. Considering that we mainly focus on the text as users’ generated-data, we chose five social media analysis approaches. These five approaches together can help to extract valuable knowledge from social media data to learn about the general public. This section discusses the identified approaches to answer the second question Q</a:t>
            </a:r>
            <a:r>
              <a:rPr lang="en-US" sz="1800" baseline="-25000" dirty="0">
                <a:effectLst/>
                <a:latin typeface="Times New Roman" panose="02020603050405020304" pitchFamily="18" charset="0"/>
                <a:ea typeface="Calibri" panose="020F0502020204030204" pitchFamily="34" charset="0"/>
                <a:cs typeface="Arial" panose="020B0604020202020204" pitchFamily="34" charset="0"/>
              </a:rPr>
              <a:t>2 </a:t>
            </a:r>
            <a:r>
              <a:rPr lang="en-US" sz="1800" dirty="0">
                <a:effectLst/>
                <a:latin typeface="Times New Roman" panose="02020603050405020304" pitchFamily="18" charset="0"/>
                <a:ea typeface="Calibri" panose="020F0502020204030204" pitchFamily="34" charset="0"/>
                <a:cs typeface="Arial" panose="020B0604020202020204" pitchFamily="34" charset="0"/>
              </a:rPr>
              <a:t>of this study.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14</a:t>
            </a:fld>
            <a:endParaRPr lang="en-US"/>
          </a:p>
        </p:txBody>
      </p:sp>
      <p:sp>
        <p:nvSpPr>
          <p:cNvPr id="5" name="Footer Placeholder 4">
            <a:extLst>
              <a:ext uri="{FF2B5EF4-FFF2-40B4-BE49-F238E27FC236}">
                <a16:creationId xmlns:a16="http://schemas.microsoft.com/office/drawing/2014/main" id="{AC162AA1-7AC3-4031-A228-7279041C1FE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64927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Arial" panose="020B0604020202020204" pitchFamily="34" charset="0"/>
              </a:rPr>
              <a:t>This paper surveys the studies that study user-generated data and user activities in social media to improve strategies related to the decision-making process. Considering that we mainly focus on the text as users’ generated-data, we chose five social media analysis approaches. These five approaches together can help to extract valuable knowledge from social media data to learn about the general public. This section discusses the identified approaches to answer the second question Q</a:t>
            </a:r>
            <a:r>
              <a:rPr lang="en-US" sz="1800" baseline="-25000" dirty="0">
                <a:effectLst/>
                <a:latin typeface="Times New Roman" panose="02020603050405020304" pitchFamily="18" charset="0"/>
                <a:ea typeface="Calibri" panose="020F0502020204030204" pitchFamily="34" charset="0"/>
                <a:cs typeface="Arial" panose="020B0604020202020204" pitchFamily="34" charset="0"/>
              </a:rPr>
              <a:t>2 </a:t>
            </a:r>
            <a:r>
              <a:rPr lang="en-US" sz="1800" dirty="0">
                <a:effectLst/>
                <a:latin typeface="Times New Roman" panose="02020603050405020304" pitchFamily="18" charset="0"/>
                <a:ea typeface="Calibri" panose="020F0502020204030204" pitchFamily="34" charset="0"/>
                <a:cs typeface="Arial" panose="020B0604020202020204" pitchFamily="34" charset="0"/>
              </a:rPr>
              <a:t>of this study.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15</a:t>
            </a:fld>
            <a:endParaRPr lang="en-US"/>
          </a:p>
        </p:txBody>
      </p:sp>
      <p:sp>
        <p:nvSpPr>
          <p:cNvPr id="5" name="Footer Placeholder 4">
            <a:extLst>
              <a:ext uri="{FF2B5EF4-FFF2-40B4-BE49-F238E27FC236}">
                <a16:creationId xmlns:a16="http://schemas.microsoft.com/office/drawing/2014/main" id="{AC162AA1-7AC3-4031-A228-7279041C1FE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304985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Arial" panose="020B0604020202020204" pitchFamily="34" charset="0"/>
              </a:rPr>
              <a:t>This paper surveys the studies that study user-generated data and user activities in social media to improve strategies related to the decision-making process. Considering that we mainly focus on the text as users’ generated-data, we chose five social media analysis approaches. These five approaches together can help to extract valuable knowledge from social media data to learn about the general public. This section discusses the identified approaches to answer the second question Q</a:t>
            </a:r>
            <a:r>
              <a:rPr lang="en-US" sz="1800" baseline="-25000" dirty="0">
                <a:effectLst/>
                <a:latin typeface="Times New Roman" panose="02020603050405020304" pitchFamily="18" charset="0"/>
                <a:ea typeface="Calibri" panose="020F0502020204030204" pitchFamily="34" charset="0"/>
                <a:cs typeface="Arial" panose="020B0604020202020204" pitchFamily="34" charset="0"/>
              </a:rPr>
              <a:t>2 </a:t>
            </a:r>
            <a:r>
              <a:rPr lang="en-US" sz="1800" dirty="0">
                <a:effectLst/>
                <a:latin typeface="Times New Roman" panose="02020603050405020304" pitchFamily="18" charset="0"/>
                <a:ea typeface="Calibri" panose="020F0502020204030204" pitchFamily="34" charset="0"/>
                <a:cs typeface="Arial" panose="020B0604020202020204" pitchFamily="34" charset="0"/>
              </a:rPr>
              <a:t>of this study.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16</a:t>
            </a:fld>
            <a:endParaRPr lang="en-US"/>
          </a:p>
        </p:txBody>
      </p:sp>
      <p:sp>
        <p:nvSpPr>
          <p:cNvPr id="5" name="Footer Placeholder 4">
            <a:extLst>
              <a:ext uri="{FF2B5EF4-FFF2-40B4-BE49-F238E27FC236}">
                <a16:creationId xmlns:a16="http://schemas.microsoft.com/office/drawing/2014/main" id="{AC162AA1-7AC3-4031-A228-7279041C1FE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97488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AutoNum type="romanUcPeriod"/>
            </a:pPr>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17</a:t>
            </a:fld>
            <a:endParaRPr lang="en-US"/>
          </a:p>
        </p:txBody>
      </p:sp>
      <p:sp>
        <p:nvSpPr>
          <p:cNvPr id="5" name="Footer Placeholder 4">
            <a:extLst>
              <a:ext uri="{FF2B5EF4-FFF2-40B4-BE49-F238E27FC236}">
                <a16:creationId xmlns:a16="http://schemas.microsoft.com/office/drawing/2014/main" id="{4B923D20-3946-4B45-A757-4C4A1115643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046422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848"/>
            <a:endParaRPr lang="en-US" dirty="0">
              <a:effectLst/>
            </a:endParaRPr>
          </a:p>
        </p:txBody>
      </p:sp>
      <p:sp>
        <p:nvSpPr>
          <p:cNvPr id="4" name="Slide Number Placeholder 3"/>
          <p:cNvSpPr>
            <a:spLocks noGrp="1"/>
          </p:cNvSpPr>
          <p:nvPr>
            <p:ph type="sldNum" sz="quarter" idx="10"/>
          </p:nvPr>
        </p:nvSpPr>
        <p:spPr/>
        <p:txBody>
          <a:bodyPr/>
          <a:lstStyle/>
          <a:p>
            <a:fld id="{E7381286-940D-4206-A173-4258F251750A}" type="slidenum">
              <a:rPr lang="en-US" smtClean="0"/>
              <a:pPr/>
              <a:t>18</a:t>
            </a:fld>
            <a:endParaRPr lang="en-US"/>
          </a:p>
        </p:txBody>
      </p:sp>
      <p:sp>
        <p:nvSpPr>
          <p:cNvPr id="5" name="Footer Placeholder 4">
            <a:extLst>
              <a:ext uri="{FF2B5EF4-FFF2-40B4-BE49-F238E27FC236}">
                <a16:creationId xmlns:a16="http://schemas.microsoft.com/office/drawing/2014/main" id="{DBC7D644-23B8-4CE1-AA67-80F58072A69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29226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381286-940D-4206-A173-4258F251750A}" type="slidenum">
              <a:rPr lang="en-US" smtClean="0"/>
              <a:pPr/>
              <a:t>19</a:t>
            </a:fld>
            <a:endParaRPr lang="en-US"/>
          </a:p>
        </p:txBody>
      </p:sp>
      <p:sp>
        <p:nvSpPr>
          <p:cNvPr id="5" name="Footer Placeholder 4">
            <a:extLst>
              <a:ext uri="{FF2B5EF4-FFF2-40B4-BE49-F238E27FC236}">
                <a16:creationId xmlns:a16="http://schemas.microsoft.com/office/drawing/2014/main" id="{597F0853-78BF-45E1-9C17-7C0FC6BDC83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185786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C0A3862-7E2D-4AB2-96DC-A45D2D87E456}" type="datetime1">
              <a:rPr lang="en-US" smtClean="0"/>
              <a:t>10/25/2021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3363182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EFF8D4-D1D3-46B7-A990-8EFBF84387BB}" type="datetime1">
              <a:rPr lang="en-US" smtClean="0"/>
              <a:t>10/25/2021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2432059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9A8CCF-5DAD-45B1-A5EF-0691704F7FF4}" type="datetime1">
              <a:rPr lang="en-US" smtClean="0"/>
              <a:t>10/25/2021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159020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F20E22-6777-41B5-99DF-38112A89B355}" type="datetime1">
              <a:rPr lang="en-US" smtClean="0"/>
              <a:t>10/25/2021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1549790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F4DE1A-8FC0-418E-AA2F-AEA1B7A5C2BD}" type="datetime1">
              <a:rPr lang="en-US" smtClean="0"/>
              <a:t>10/25/2021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1537925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B6F22B-C85D-4647-84A1-BA9AB24EEBFC}" type="datetime1">
              <a:rPr lang="en-US" smtClean="0"/>
              <a:t>10/25/2021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1084426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ADE7F0-14D9-470A-8654-2E7DFA06837E}" type="datetime1">
              <a:rPr lang="en-US" smtClean="0"/>
              <a:t>10/25/2021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2028249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009D8A-CD23-49E2-A093-A022C33B0D0D}" type="datetime1">
              <a:rPr lang="en-US" smtClean="0"/>
              <a:t>10/25/2021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1362990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F57122-1856-4F11-8A86-9D46695E1F26}" type="datetime1">
              <a:rPr lang="en-US" smtClean="0"/>
              <a:t>10/25/2021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229461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40E9E-D9FC-4C6D-8086-3C269950E960}" type="datetime1">
              <a:rPr lang="en-US" smtClean="0"/>
              <a:t>10/25/2021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427431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4EE491-DF9C-4B71-B818-D28D7AF2BD96}" type="datetime1">
              <a:rPr lang="en-US" smtClean="0"/>
              <a:t>10/25/2021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881A0-7E4F-4F05-8C98-13E0A3A62794}" type="slidenum">
              <a:rPr lang="en-US" smtClean="0"/>
              <a:pPr/>
              <a:t>‹#›</a:t>
            </a:fld>
            <a:endParaRPr lang="en-US"/>
          </a:p>
        </p:txBody>
      </p:sp>
    </p:spTree>
    <p:extLst>
      <p:ext uri="{BB962C8B-B14F-4D97-AF65-F5344CB8AC3E}">
        <p14:creationId xmlns:p14="http://schemas.microsoft.com/office/powerpoint/2010/main" val="279080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7C53D0-62BB-4479-81C4-13C17B6C553C}" type="datetime1">
              <a:rPr lang="en-US" smtClean="0"/>
              <a:t>10/25/2021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F881A0-7E4F-4F05-8C98-13E0A3A62794}" type="slidenum">
              <a:rPr lang="en-US" smtClean="0"/>
              <a:pPr/>
              <a:t>‹#›</a:t>
            </a:fld>
            <a:endParaRPr lang="en-US"/>
          </a:p>
        </p:txBody>
      </p:sp>
    </p:spTree>
    <p:extLst>
      <p:ext uri="{BB962C8B-B14F-4D97-AF65-F5344CB8AC3E}">
        <p14:creationId xmlns:p14="http://schemas.microsoft.com/office/powerpoint/2010/main" val="2157074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7001" y="4505663"/>
            <a:ext cx="8788400" cy="1643187"/>
          </a:xfrm>
        </p:spPr>
        <p:txBody>
          <a:bodyPr>
            <a:normAutofit/>
          </a:bodyPr>
          <a:lstStyle/>
          <a:p>
            <a:r>
              <a:rPr lang="en-US" sz="2400" dirty="0"/>
              <a:t>  </a:t>
            </a:r>
            <a:r>
              <a:rPr lang="en-US" sz="1800" dirty="0"/>
              <a:t>Zeinab Khanjari </a:t>
            </a:r>
          </a:p>
          <a:p>
            <a:r>
              <a:rPr lang="en-US" sz="1800" dirty="0" err="1"/>
              <a:t>Nasseh</a:t>
            </a:r>
            <a:r>
              <a:rPr lang="en-US" sz="1800" dirty="0"/>
              <a:t> Tabrizi </a:t>
            </a:r>
          </a:p>
          <a:p>
            <a:endParaRPr lang="en-US" sz="1800" dirty="0"/>
          </a:p>
          <a:p>
            <a:r>
              <a:rPr lang="en-GB" sz="1800" i="1" dirty="0">
                <a:effectLst/>
                <a:latin typeface="Times New Roman" panose="02020603050405020304" pitchFamily="18" charset="0"/>
                <a:ea typeface="MS Mincho" panose="02020609040205080304" pitchFamily="49" charset="-128"/>
              </a:rPr>
              <a:t>Department of computer science, East Carolina University, Greenville, NC, United States</a:t>
            </a:r>
            <a:endParaRPr lang="en-US" sz="1800" i="1" dirty="0">
              <a:effectLst/>
              <a:latin typeface="Times New Roman" panose="02020603050405020304" pitchFamily="18" charset="0"/>
              <a:ea typeface="MS Mincho" panose="02020609040205080304" pitchFamily="49" charset="-128"/>
            </a:endParaRPr>
          </a:p>
          <a:p>
            <a:endParaRPr lang="en-US" sz="2400" dirty="0"/>
          </a:p>
        </p:txBody>
      </p:sp>
      <p:sp>
        <p:nvSpPr>
          <p:cNvPr id="5" name="Rectangle 4">
            <a:extLst>
              <a:ext uri="{FF2B5EF4-FFF2-40B4-BE49-F238E27FC236}">
                <a16:creationId xmlns:a16="http://schemas.microsoft.com/office/drawing/2014/main" id="{FD95EF4A-0769-4D63-99C4-70995FEC4144}"/>
              </a:ext>
            </a:extLst>
          </p:cNvPr>
          <p:cNvSpPr/>
          <p:nvPr/>
        </p:nvSpPr>
        <p:spPr>
          <a:xfrm>
            <a:off x="-25400" y="-39188"/>
            <a:ext cx="9194800" cy="4411166"/>
          </a:xfrm>
          <a:prstGeom prst="rect">
            <a:avLst/>
          </a:prstGeom>
          <a:solidFill>
            <a:srgbClr val="572929"/>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l"/>
            <a:endParaRPr lang="en-US" sz="2000" b="0" i="0" dirty="0">
              <a:solidFill>
                <a:srgbClr val="191919"/>
              </a:solidFill>
              <a:effectLst/>
              <a:latin typeface="Open Sans" panose="020B0606030504020204" pitchFamily="34" charset="0"/>
            </a:endParaRPr>
          </a:p>
        </p:txBody>
      </p:sp>
      <p:pic>
        <p:nvPicPr>
          <p:cNvPr id="10" name="Picture 9" descr="Logo&#10;&#10;Description automatically generated with medium confidence">
            <a:extLst>
              <a:ext uri="{FF2B5EF4-FFF2-40B4-BE49-F238E27FC236}">
                <a16:creationId xmlns:a16="http://schemas.microsoft.com/office/drawing/2014/main" id="{27DF4545-D253-43BC-BD20-7A846F601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 y="375561"/>
            <a:ext cx="1962251" cy="673135"/>
          </a:xfrm>
          <a:prstGeom prst="rect">
            <a:avLst/>
          </a:prstGeom>
        </p:spPr>
      </p:pic>
      <p:pic>
        <p:nvPicPr>
          <p:cNvPr id="13" name="Picture 12">
            <a:extLst>
              <a:ext uri="{FF2B5EF4-FFF2-40B4-BE49-F238E27FC236}">
                <a16:creationId xmlns:a16="http://schemas.microsoft.com/office/drawing/2014/main" id="{70AAA826-BF2E-4859-9047-7D9876C55399}"/>
              </a:ext>
            </a:extLst>
          </p:cNvPr>
          <p:cNvPicPr>
            <a:picLocks noChangeAspect="1"/>
          </p:cNvPicPr>
          <p:nvPr/>
        </p:nvPicPr>
        <p:blipFill>
          <a:blip r:embed="rId4"/>
          <a:stretch>
            <a:fillRect/>
          </a:stretch>
        </p:blipFill>
        <p:spPr>
          <a:xfrm>
            <a:off x="7618826" y="6015165"/>
            <a:ext cx="1372773" cy="673135"/>
          </a:xfrm>
          <a:prstGeom prst="rect">
            <a:avLst/>
          </a:prstGeom>
        </p:spPr>
      </p:pic>
      <p:sp>
        <p:nvSpPr>
          <p:cNvPr id="2" name="Title 1"/>
          <p:cNvSpPr>
            <a:spLocks noGrp="1"/>
          </p:cNvSpPr>
          <p:nvPr>
            <p:ph type="ctrTitle"/>
          </p:nvPr>
        </p:nvSpPr>
        <p:spPr>
          <a:xfrm>
            <a:off x="68217" y="1233422"/>
            <a:ext cx="8923382" cy="3138556"/>
          </a:xfrm>
        </p:spPr>
        <p:txBody>
          <a:bodyPr>
            <a:normAutofit fontScale="90000"/>
          </a:bodyPr>
          <a:lstStyle/>
          <a:p>
            <a:r>
              <a:rPr lang="en-GB" dirty="0">
                <a:solidFill>
                  <a:schemeClr val="bg1">
                    <a:lumMod val="85000"/>
                  </a:schemeClr>
                </a:solidFill>
                <a:latin typeface="+mn-lt"/>
                <a:cs typeface="Aharoni" panose="02010803020104030203" pitchFamily="2" charset="-79"/>
              </a:rPr>
              <a:t>Social Media Analytics: An Overview of Applications and Approaches</a:t>
            </a:r>
            <a:br>
              <a:rPr lang="en-GB" dirty="0">
                <a:solidFill>
                  <a:schemeClr val="bg1">
                    <a:lumMod val="85000"/>
                  </a:schemeClr>
                </a:solidFill>
                <a:latin typeface="+mn-lt"/>
                <a:cs typeface="Aharoni" panose="02010803020104030203" pitchFamily="2" charset="-79"/>
              </a:rPr>
            </a:br>
            <a:br>
              <a:rPr lang="en-GB" dirty="0">
                <a:solidFill>
                  <a:schemeClr val="bg1">
                    <a:lumMod val="85000"/>
                  </a:schemeClr>
                </a:solidFill>
                <a:latin typeface="+mn-lt"/>
                <a:cs typeface="Aharoni" panose="02010803020104030203" pitchFamily="2" charset="-79"/>
              </a:rPr>
            </a:br>
            <a:r>
              <a:rPr lang="en-US" sz="2200" i="1" dirty="0">
                <a:solidFill>
                  <a:schemeClr val="bg1">
                    <a:lumMod val="85000"/>
                  </a:schemeClr>
                </a:solidFill>
                <a:latin typeface="+mn-lt"/>
                <a:cs typeface="Aharoni" panose="02010803020104030203" pitchFamily="2" charset="-79"/>
              </a:rPr>
              <a:t>KDIR 2021 : 13th International Conference on Knowledge Discovery and Information Retrieval</a:t>
            </a:r>
            <a:br>
              <a:rPr lang="en-US" sz="4400" b="0" i="0" dirty="0">
                <a:solidFill>
                  <a:srgbClr val="191919"/>
                </a:solidFill>
                <a:effectLst/>
                <a:latin typeface="Open Sans" panose="020B0606030504020204" pitchFamily="34" charset="0"/>
              </a:rPr>
            </a:br>
            <a:endParaRPr lang="en-US"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13666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B7C867-4251-45A8-95D0-89EAE9EF7115}"/>
              </a:ext>
            </a:extLst>
          </p:cNvPr>
          <p:cNvSpPr>
            <a:spLocks noGrp="1"/>
          </p:cNvSpPr>
          <p:nvPr>
            <p:ph type="sldNum" sz="quarter" idx="12"/>
          </p:nvPr>
        </p:nvSpPr>
        <p:spPr/>
        <p:txBody>
          <a:bodyPr/>
          <a:lstStyle/>
          <a:p>
            <a:fld id="{85F881A0-7E4F-4F05-8C98-13E0A3A62794}" type="slidenum">
              <a:rPr lang="en-US" smtClean="0"/>
              <a:pPr/>
              <a:t>2</a:t>
            </a:fld>
            <a:endParaRPr lang="en-US"/>
          </a:p>
        </p:txBody>
      </p:sp>
      <p:sp>
        <p:nvSpPr>
          <p:cNvPr id="2" name="Title 1"/>
          <p:cNvSpPr>
            <a:spLocks noGrp="1"/>
          </p:cNvSpPr>
          <p:nvPr>
            <p:ph type="title"/>
          </p:nvPr>
        </p:nvSpPr>
        <p:spPr>
          <a:xfrm>
            <a:off x="533400" y="435995"/>
            <a:ext cx="7696200" cy="928620"/>
          </a:xfrm>
        </p:spPr>
        <p:txBody>
          <a:bodyPr>
            <a:normAutofit/>
          </a:bodyPr>
          <a:lstStyle/>
          <a:p>
            <a:pPr algn="l"/>
            <a:r>
              <a:rPr lang="en-US" sz="3600" dirty="0">
                <a:solidFill>
                  <a:schemeClr val="bg1"/>
                </a:solidFill>
                <a:latin typeface="+mn-lt"/>
                <a:cs typeface="Aharoni" panose="02010803020104030203" pitchFamily="2" charset="-79"/>
              </a:rPr>
              <a:t>Overview</a:t>
            </a:r>
            <a:r>
              <a:rPr lang="en-US" sz="3600" dirty="0">
                <a:solidFill>
                  <a:schemeClr val="bg1"/>
                </a:solidFill>
                <a:latin typeface="Aharoni" panose="02010803020104030203" pitchFamily="2" charset="-79"/>
                <a:cs typeface="Aharoni" panose="02010803020104030203" pitchFamily="2" charset="-79"/>
              </a:rPr>
              <a:t>:</a:t>
            </a:r>
          </a:p>
        </p:txBody>
      </p:sp>
      <p:sp>
        <p:nvSpPr>
          <p:cNvPr id="12" name="Rectangle 11">
            <a:extLst>
              <a:ext uri="{FF2B5EF4-FFF2-40B4-BE49-F238E27FC236}">
                <a16:creationId xmlns:a16="http://schemas.microsoft.com/office/drawing/2014/main" id="{E32A92E3-9650-441F-959E-5C1326648BC4}"/>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sp>
        <p:nvSpPr>
          <p:cNvPr id="14" name="Title 1">
            <a:extLst>
              <a:ext uri="{FF2B5EF4-FFF2-40B4-BE49-F238E27FC236}">
                <a16:creationId xmlns:a16="http://schemas.microsoft.com/office/drawing/2014/main" id="{464178F9-95D8-4203-A011-50E384DA712E}"/>
              </a:ext>
            </a:extLst>
          </p:cNvPr>
          <p:cNvSpPr txBox="1">
            <a:spLocks/>
          </p:cNvSpPr>
          <p:nvPr/>
        </p:nvSpPr>
        <p:spPr>
          <a:xfrm>
            <a:off x="228600" y="39183"/>
            <a:ext cx="7696200" cy="9286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a:solidFill>
                  <a:schemeClr val="bg1"/>
                </a:solidFill>
                <a:latin typeface="+mn-lt"/>
                <a:cs typeface="Aharoni" panose="02010803020104030203" pitchFamily="2" charset="-79"/>
              </a:rPr>
              <a:t>Overview</a:t>
            </a:r>
            <a:r>
              <a:rPr lang="en-US" sz="3600" dirty="0">
                <a:solidFill>
                  <a:schemeClr val="bg1"/>
                </a:solidFill>
                <a:latin typeface="Aharoni" panose="02010803020104030203" pitchFamily="2" charset="-79"/>
                <a:cs typeface="Aharoni" panose="02010803020104030203" pitchFamily="2" charset="-79"/>
              </a:rPr>
              <a:t>:</a:t>
            </a:r>
          </a:p>
        </p:txBody>
      </p:sp>
      <p:grpSp>
        <p:nvGrpSpPr>
          <p:cNvPr id="7" name="Group 6">
            <a:extLst>
              <a:ext uri="{FF2B5EF4-FFF2-40B4-BE49-F238E27FC236}">
                <a16:creationId xmlns:a16="http://schemas.microsoft.com/office/drawing/2014/main" id="{8AE586E5-7E6C-4CFB-9C0C-9C7FDC6C1023}"/>
              </a:ext>
            </a:extLst>
          </p:cNvPr>
          <p:cNvGrpSpPr/>
          <p:nvPr/>
        </p:nvGrpSpPr>
        <p:grpSpPr>
          <a:xfrm>
            <a:off x="383598" y="1461982"/>
            <a:ext cx="4919283" cy="481964"/>
            <a:chOff x="467292" y="1450924"/>
            <a:chExt cx="4919283" cy="481964"/>
          </a:xfrm>
        </p:grpSpPr>
        <p:sp>
          <p:nvSpPr>
            <p:cNvPr id="8" name="TextBox 7">
              <a:extLst>
                <a:ext uri="{FF2B5EF4-FFF2-40B4-BE49-F238E27FC236}">
                  <a16:creationId xmlns:a16="http://schemas.microsoft.com/office/drawing/2014/main" id="{72106C55-D8FC-4263-BCBC-498A4B4E5213}"/>
                </a:ext>
              </a:extLst>
            </p:cNvPr>
            <p:cNvSpPr txBox="1"/>
            <p:nvPr/>
          </p:nvSpPr>
          <p:spPr>
            <a:xfrm>
              <a:off x="1103308" y="1450924"/>
              <a:ext cx="4283267"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cs typeface="Times New Roman" panose="02020603050405020304" pitchFamily="18" charset="0"/>
                </a:rPr>
                <a:t>Introduction and Background</a:t>
              </a:r>
            </a:p>
          </p:txBody>
        </p:sp>
        <p:sp>
          <p:nvSpPr>
            <p:cNvPr id="9" name="Rectangle 8">
              <a:extLst>
                <a:ext uri="{FF2B5EF4-FFF2-40B4-BE49-F238E27FC236}">
                  <a16:creationId xmlns:a16="http://schemas.microsoft.com/office/drawing/2014/main" id="{59331AEB-FA42-4355-A237-9A2B15352109}"/>
                </a:ext>
              </a:extLst>
            </p:cNvPr>
            <p:cNvSpPr/>
            <p:nvPr/>
          </p:nvSpPr>
          <p:spPr>
            <a:xfrm>
              <a:off x="467292" y="1471224"/>
              <a:ext cx="447108" cy="4616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Times New Roman" panose="02020603050405020304" pitchFamily="18" charset="0"/>
                  <a:cs typeface="Times New Roman" panose="02020603050405020304" pitchFamily="18" charset="0"/>
                </a:rPr>
                <a:t>1</a:t>
              </a:r>
              <a:endParaRPr lang="ko-KR" altLang="en-US" sz="1600" b="1" dirty="0">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A4E260C6-8FAF-49FB-81F2-A7837725BEC3}"/>
              </a:ext>
            </a:extLst>
          </p:cNvPr>
          <p:cNvGrpSpPr/>
          <p:nvPr/>
        </p:nvGrpSpPr>
        <p:grpSpPr>
          <a:xfrm>
            <a:off x="397666" y="2290780"/>
            <a:ext cx="3793333" cy="481964"/>
            <a:chOff x="425802" y="2290780"/>
            <a:chExt cx="3793333" cy="481964"/>
          </a:xfrm>
        </p:grpSpPr>
        <p:sp>
          <p:nvSpPr>
            <p:cNvPr id="11" name="TextBox 10">
              <a:extLst>
                <a:ext uri="{FF2B5EF4-FFF2-40B4-BE49-F238E27FC236}">
                  <a16:creationId xmlns:a16="http://schemas.microsoft.com/office/drawing/2014/main" id="{ACA1BA76-7984-420B-847D-FB71513817C9}"/>
                </a:ext>
              </a:extLst>
            </p:cNvPr>
            <p:cNvSpPr txBox="1"/>
            <p:nvPr/>
          </p:nvSpPr>
          <p:spPr>
            <a:xfrm>
              <a:off x="1061818" y="2290780"/>
              <a:ext cx="3157317"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cs typeface="Times New Roman" panose="02020603050405020304" pitchFamily="18" charset="0"/>
                </a:rPr>
                <a:t>Research Questions</a:t>
              </a:r>
            </a:p>
          </p:txBody>
        </p:sp>
        <p:sp>
          <p:nvSpPr>
            <p:cNvPr id="13" name="Rectangle 12">
              <a:extLst>
                <a:ext uri="{FF2B5EF4-FFF2-40B4-BE49-F238E27FC236}">
                  <a16:creationId xmlns:a16="http://schemas.microsoft.com/office/drawing/2014/main" id="{DB375F76-D593-40CB-A1F7-18CCCD9CD916}"/>
                </a:ext>
              </a:extLst>
            </p:cNvPr>
            <p:cNvSpPr/>
            <p:nvPr/>
          </p:nvSpPr>
          <p:spPr>
            <a:xfrm>
              <a:off x="425802" y="2311080"/>
              <a:ext cx="447108" cy="4616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Times New Roman" panose="02020603050405020304" pitchFamily="18" charset="0"/>
                  <a:cs typeface="Times New Roman" panose="02020603050405020304" pitchFamily="18" charset="0"/>
                </a:rPr>
                <a:t>2</a:t>
              </a:r>
              <a:endParaRPr lang="ko-KR" altLang="en-US" sz="1600" b="1" dirty="0">
                <a:latin typeface="Times New Roman" panose="02020603050405020304" pitchFamily="18" charset="0"/>
                <a:cs typeface="Times New Roman" panose="02020603050405020304" pitchFamily="18" charset="0"/>
              </a:endParaRPr>
            </a:p>
          </p:txBody>
        </p:sp>
      </p:grpSp>
      <p:grpSp>
        <p:nvGrpSpPr>
          <p:cNvPr id="15" name="Group 14">
            <a:extLst>
              <a:ext uri="{FF2B5EF4-FFF2-40B4-BE49-F238E27FC236}">
                <a16:creationId xmlns:a16="http://schemas.microsoft.com/office/drawing/2014/main" id="{58BD85DE-3EC9-4605-BD1A-CD3458F7B9B1}"/>
              </a:ext>
            </a:extLst>
          </p:cNvPr>
          <p:cNvGrpSpPr/>
          <p:nvPr/>
        </p:nvGrpSpPr>
        <p:grpSpPr>
          <a:xfrm>
            <a:off x="383598" y="3120773"/>
            <a:ext cx="4921881" cy="481963"/>
            <a:chOff x="425802" y="2290781"/>
            <a:chExt cx="4921881" cy="481963"/>
          </a:xfrm>
        </p:grpSpPr>
        <p:sp>
          <p:nvSpPr>
            <p:cNvPr id="16" name="TextBox 15">
              <a:extLst>
                <a:ext uri="{FF2B5EF4-FFF2-40B4-BE49-F238E27FC236}">
                  <a16:creationId xmlns:a16="http://schemas.microsoft.com/office/drawing/2014/main" id="{197A69EC-F38A-4658-B67F-B0F62E73F717}"/>
                </a:ext>
              </a:extLst>
            </p:cNvPr>
            <p:cNvSpPr txBox="1"/>
            <p:nvPr/>
          </p:nvSpPr>
          <p:spPr>
            <a:xfrm>
              <a:off x="1061818" y="2290781"/>
              <a:ext cx="4285865" cy="400110"/>
            </a:xfrm>
            <a:prstGeom prst="rect">
              <a:avLst/>
            </a:prstGeom>
            <a:noFill/>
          </p:spPr>
          <p:txBody>
            <a:bodyPr wrap="square" rtlCol="0">
              <a:spAutoFit/>
            </a:bodyPr>
            <a:lstStyle/>
            <a:p>
              <a:r>
                <a:rPr lang="en-US" sz="2000" dirty="0">
                  <a:solidFill>
                    <a:schemeClr val="tx1">
                      <a:lumMod val="75000"/>
                      <a:lumOff val="25000"/>
                    </a:schemeClr>
                  </a:solidFill>
                  <a:latin typeface="Times New Roman" panose="02020603050405020304" pitchFamily="18" charset="0"/>
                  <a:cs typeface="Times New Roman" panose="02020603050405020304" pitchFamily="18" charset="0"/>
                </a:rPr>
                <a:t>Research Methodology</a:t>
              </a:r>
              <a:endParaRPr lang="en-US" altLang="ko-KR"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E249ADC9-85A6-4ACA-9FB6-FC0E25B4E998}"/>
                </a:ext>
              </a:extLst>
            </p:cNvPr>
            <p:cNvSpPr/>
            <p:nvPr/>
          </p:nvSpPr>
          <p:spPr>
            <a:xfrm>
              <a:off x="425802" y="2311080"/>
              <a:ext cx="447108" cy="4616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Times New Roman" panose="02020603050405020304" pitchFamily="18" charset="0"/>
                  <a:cs typeface="Times New Roman" panose="02020603050405020304" pitchFamily="18" charset="0"/>
                </a:rPr>
                <a:t>3</a:t>
              </a:r>
              <a:endParaRPr lang="ko-KR" altLang="en-US" sz="1600" b="1" dirty="0">
                <a:latin typeface="Times New Roman" panose="02020603050405020304" pitchFamily="18" charset="0"/>
                <a:cs typeface="Times New Roman" panose="02020603050405020304" pitchFamily="18" charset="0"/>
              </a:endParaRPr>
            </a:p>
          </p:txBody>
        </p:sp>
      </p:grpSp>
      <p:grpSp>
        <p:nvGrpSpPr>
          <p:cNvPr id="18" name="Group 17">
            <a:extLst>
              <a:ext uri="{FF2B5EF4-FFF2-40B4-BE49-F238E27FC236}">
                <a16:creationId xmlns:a16="http://schemas.microsoft.com/office/drawing/2014/main" id="{C1DFFD06-6209-4AF2-9A3C-A54DE0481483}"/>
              </a:ext>
            </a:extLst>
          </p:cNvPr>
          <p:cNvGrpSpPr/>
          <p:nvPr/>
        </p:nvGrpSpPr>
        <p:grpSpPr>
          <a:xfrm>
            <a:off x="383598" y="3975974"/>
            <a:ext cx="7846001" cy="481964"/>
            <a:chOff x="425802" y="2290780"/>
            <a:chExt cx="7846001" cy="481964"/>
          </a:xfrm>
        </p:grpSpPr>
        <p:sp>
          <p:nvSpPr>
            <p:cNvPr id="19" name="TextBox 18">
              <a:extLst>
                <a:ext uri="{FF2B5EF4-FFF2-40B4-BE49-F238E27FC236}">
                  <a16:creationId xmlns:a16="http://schemas.microsoft.com/office/drawing/2014/main" id="{9DCAFE80-23CD-456A-845F-D60833CD374D}"/>
                </a:ext>
              </a:extLst>
            </p:cNvPr>
            <p:cNvSpPr txBox="1"/>
            <p:nvPr/>
          </p:nvSpPr>
          <p:spPr>
            <a:xfrm>
              <a:off x="1061818" y="2290780"/>
              <a:ext cx="7209985"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cs typeface="Times New Roman" panose="02020603050405020304" pitchFamily="18" charset="0"/>
                </a:rPr>
                <a:t>Results: </a:t>
              </a:r>
              <a:r>
                <a:rPr lang="en-US" sz="2000" dirty="0">
                  <a:solidFill>
                    <a:schemeClr val="tx1">
                      <a:lumMod val="75000"/>
                      <a:lumOff val="25000"/>
                    </a:schemeClr>
                  </a:solidFill>
                  <a:latin typeface="Times New Roman" panose="02020603050405020304" pitchFamily="18" charset="0"/>
                  <a:cs typeface="Times New Roman" panose="02020603050405020304" pitchFamily="18" charset="0"/>
                </a:rPr>
                <a:t>Social Media Data Analysis Application Areas</a:t>
              </a:r>
            </a:p>
          </p:txBody>
        </p:sp>
        <p:sp>
          <p:nvSpPr>
            <p:cNvPr id="20" name="Rectangle 19">
              <a:extLst>
                <a:ext uri="{FF2B5EF4-FFF2-40B4-BE49-F238E27FC236}">
                  <a16:creationId xmlns:a16="http://schemas.microsoft.com/office/drawing/2014/main" id="{DDE88FE5-2703-4AB0-9587-939C8950652A}"/>
                </a:ext>
              </a:extLst>
            </p:cNvPr>
            <p:cNvSpPr/>
            <p:nvPr/>
          </p:nvSpPr>
          <p:spPr>
            <a:xfrm>
              <a:off x="425802" y="2311080"/>
              <a:ext cx="447108" cy="4616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Times New Roman" panose="02020603050405020304" pitchFamily="18" charset="0"/>
                  <a:cs typeface="Times New Roman" panose="02020603050405020304" pitchFamily="18" charset="0"/>
                </a:rPr>
                <a:t>4</a:t>
              </a:r>
              <a:endParaRPr lang="ko-KR" altLang="en-US" sz="1600" b="1" dirty="0">
                <a:latin typeface="Times New Roman" panose="02020603050405020304" pitchFamily="18" charset="0"/>
                <a:cs typeface="Times New Roman" panose="02020603050405020304" pitchFamily="18" charset="0"/>
              </a:endParaRPr>
            </a:p>
          </p:txBody>
        </p:sp>
      </p:grpSp>
      <p:grpSp>
        <p:nvGrpSpPr>
          <p:cNvPr id="21" name="Group 20">
            <a:extLst>
              <a:ext uri="{FF2B5EF4-FFF2-40B4-BE49-F238E27FC236}">
                <a16:creationId xmlns:a16="http://schemas.microsoft.com/office/drawing/2014/main" id="{47F95338-5DCA-46AF-86C7-E1B7B287CD6E}"/>
              </a:ext>
            </a:extLst>
          </p:cNvPr>
          <p:cNvGrpSpPr/>
          <p:nvPr/>
        </p:nvGrpSpPr>
        <p:grpSpPr>
          <a:xfrm>
            <a:off x="412118" y="5527958"/>
            <a:ext cx="4540882" cy="481964"/>
            <a:chOff x="425802" y="2290780"/>
            <a:chExt cx="4540882" cy="481964"/>
          </a:xfrm>
        </p:grpSpPr>
        <p:sp>
          <p:nvSpPr>
            <p:cNvPr id="22" name="TextBox 21">
              <a:extLst>
                <a:ext uri="{FF2B5EF4-FFF2-40B4-BE49-F238E27FC236}">
                  <a16:creationId xmlns:a16="http://schemas.microsoft.com/office/drawing/2014/main" id="{F3F3651B-5755-4411-9D2E-FA1EF9AE86F4}"/>
                </a:ext>
              </a:extLst>
            </p:cNvPr>
            <p:cNvSpPr txBox="1"/>
            <p:nvPr/>
          </p:nvSpPr>
          <p:spPr>
            <a:xfrm>
              <a:off x="1061818" y="2290780"/>
              <a:ext cx="3904866"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cs typeface="Times New Roman" panose="02020603050405020304" pitchFamily="18" charset="0"/>
                </a:rPr>
                <a:t>Conclusion and Future Work</a:t>
              </a:r>
            </a:p>
          </p:txBody>
        </p:sp>
        <p:sp>
          <p:nvSpPr>
            <p:cNvPr id="23" name="Rectangle 22">
              <a:extLst>
                <a:ext uri="{FF2B5EF4-FFF2-40B4-BE49-F238E27FC236}">
                  <a16:creationId xmlns:a16="http://schemas.microsoft.com/office/drawing/2014/main" id="{3FE67E67-6672-4CE3-9D0C-4DF3D7BD867E}"/>
                </a:ext>
              </a:extLst>
            </p:cNvPr>
            <p:cNvSpPr/>
            <p:nvPr/>
          </p:nvSpPr>
          <p:spPr>
            <a:xfrm>
              <a:off x="425802" y="2311080"/>
              <a:ext cx="447108" cy="4616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Times New Roman" panose="02020603050405020304" pitchFamily="18" charset="0"/>
                  <a:cs typeface="Times New Roman" panose="02020603050405020304" pitchFamily="18" charset="0"/>
                </a:rPr>
                <a:t>6</a:t>
              </a:r>
              <a:endParaRPr lang="ko-KR" altLang="en-US" sz="1600" b="1" dirty="0">
                <a:latin typeface="Times New Roman" panose="02020603050405020304" pitchFamily="18" charset="0"/>
                <a:cs typeface="Times New Roman" panose="02020603050405020304" pitchFamily="18" charset="0"/>
              </a:endParaRPr>
            </a:p>
          </p:txBody>
        </p:sp>
      </p:grpSp>
      <p:grpSp>
        <p:nvGrpSpPr>
          <p:cNvPr id="27" name="Group 26">
            <a:extLst>
              <a:ext uri="{FF2B5EF4-FFF2-40B4-BE49-F238E27FC236}">
                <a16:creationId xmlns:a16="http://schemas.microsoft.com/office/drawing/2014/main" id="{CAC27F9B-5799-4FA4-BEEA-84745A491A1F}"/>
              </a:ext>
            </a:extLst>
          </p:cNvPr>
          <p:cNvGrpSpPr/>
          <p:nvPr/>
        </p:nvGrpSpPr>
        <p:grpSpPr>
          <a:xfrm>
            <a:off x="397666" y="4760231"/>
            <a:ext cx="8020841" cy="481963"/>
            <a:chOff x="425802" y="2290781"/>
            <a:chExt cx="8020841" cy="481963"/>
          </a:xfrm>
        </p:grpSpPr>
        <p:sp>
          <p:nvSpPr>
            <p:cNvPr id="28" name="TextBox 27">
              <a:extLst>
                <a:ext uri="{FF2B5EF4-FFF2-40B4-BE49-F238E27FC236}">
                  <a16:creationId xmlns:a16="http://schemas.microsoft.com/office/drawing/2014/main" id="{08F4A504-2C6D-4182-A3E3-A8FEC1E6EDF2}"/>
                </a:ext>
              </a:extLst>
            </p:cNvPr>
            <p:cNvSpPr txBox="1"/>
            <p:nvPr/>
          </p:nvSpPr>
          <p:spPr>
            <a:xfrm>
              <a:off x="1061818" y="2290781"/>
              <a:ext cx="7384825"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cs typeface="Times New Roman" panose="02020603050405020304" pitchFamily="18" charset="0"/>
                </a:rPr>
                <a:t>Results: </a:t>
              </a:r>
              <a:r>
                <a:rPr lang="en-US" sz="2000" dirty="0">
                  <a:solidFill>
                    <a:schemeClr val="tx1">
                      <a:lumMod val="75000"/>
                      <a:lumOff val="25000"/>
                    </a:schemeClr>
                  </a:solidFill>
                  <a:latin typeface="Times New Roman" panose="02020603050405020304" pitchFamily="18" charset="0"/>
                  <a:cs typeface="Times New Roman" panose="02020603050405020304" pitchFamily="18" charset="0"/>
                </a:rPr>
                <a:t>Social Media Data </a:t>
              </a:r>
              <a:r>
                <a:rPr lang="en-US" sz="2000" b="0" i="0" dirty="0">
                  <a:effectLst/>
                </a:rPr>
                <a:t>Analysis Approaches</a:t>
              </a:r>
            </a:p>
          </p:txBody>
        </p:sp>
        <p:sp>
          <p:nvSpPr>
            <p:cNvPr id="29" name="Rectangle 28">
              <a:extLst>
                <a:ext uri="{FF2B5EF4-FFF2-40B4-BE49-F238E27FC236}">
                  <a16:creationId xmlns:a16="http://schemas.microsoft.com/office/drawing/2014/main" id="{12ABDD91-667A-4D39-8DB1-75E37B7B6ADE}"/>
                </a:ext>
              </a:extLst>
            </p:cNvPr>
            <p:cNvSpPr/>
            <p:nvPr/>
          </p:nvSpPr>
          <p:spPr>
            <a:xfrm>
              <a:off x="425802" y="2311080"/>
              <a:ext cx="447108" cy="4616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Times New Roman" panose="02020603050405020304" pitchFamily="18" charset="0"/>
                  <a:cs typeface="Times New Roman" panose="02020603050405020304" pitchFamily="18" charset="0"/>
                </a:rPr>
                <a:t>5</a:t>
              </a:r>
              <a:endParaRPr lang="ko-KR" altLang="en-US" sz="1600"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02065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8912"/>
            <a:ext cx="8229600" cy="763588"/>
          </a:xfrm>
        </p:spPr>
        <p:txBody>
          <a:bodyPr>
            <a:normAutofit fontScale="90000"/>
          </a:bodyPr>
          <a:lstStyle/>
          <a:p>
            <a:pPr algn="l"/>
            <a:br>
              <a:rPr lang="en-US" sz="4000" dirty="0">
                <a:solidFill>
                  <a:schemeClr val="bg1"/>
                </a:solidFill>
                <a:latin typeface="+mn-lt"/>
                <a:cs typeface="Aharoni" panose="02010803020104030203" pitchFamily="2" charset="-79"/>
              </a:rPr>
            </a:br>
            <a:r>
              <a:rPr lang="en-US" sz="4000" dirty="0">
                <a:solidFill>
                  <a:schemeClr val="bg1"/>
                </a:solidFill>
                <a:latin typeface="+mn-lt"/>
                <a:cs typeface="Aharoni" panose="02010803020104030203" pitchFamily="2" charset="-79"/>
              </a:rPr>
              <a:t>Social Media Analytics</a:t>
            </a:r>
            <a:br>
              <a:rPr lang="en-US" sz="1600" i="0" dirty="0">
                <a:effectLst/>
                <a:latin typeface="+mn-lt"/>
              </a:rPr>
            </a:br>
            <a:endParaRPr lang="en-US" sz="4000" dirty="0">
              <a:solidFill>
                <a:schemeClr val="bg1"/>
              </a:solidFill>
              <a:latin typeface="+mn-lt"/>
              <a:cs typeface="Aharoni" panose="02010803020104030203" pitchFamily="2" charset="-79"/>
            </a:endParaRPr>
          </a:p>
        </p:txBody>
      </p:sp>
      <p:sp>
        <p:nvSpPr>
          <p:cNvPr id="3" name="Slide Number Placeholder 2">
            <a:extLst>
              <a:ext uri="{FF2B5EF4-FFF2-40B4-BE49-F238E27FC236}">
                <a16:creationId xmlns:a16="http://schemas.microsoft.com/office/drawing/2014/main" id="{7014162E-5747-43E3-9619-B5E3CE4B6A2C}"/>
              </a:ext>
            </a:extLst>
          </p:cNvPr>
          <p:cNvSpPr>
            <a:spLocks noGrp="1"/>
          </p:cNvSpPr>
          <p:nvPr>
            <p:ph type="sldNum" sz="quarter" idx="12"/>
          </p:nvPr>
        </p:nvSpPr>
        <p:spPr/>
        <p:txBody>
          <a:bodyPr/>
          <a:lstStyle/>
          <a:p>
            <a:fld id="{85F881A0-7E4F-4F05-8C98-13E0A3A62794}" type="slidenum">
              <a:rPr lang="en-US" smtClean="0"/>
              <a:pPr/>
              <a:t>3</a:t>
            </a:fld>
            <a:endParaRPr lang="en-US"/>
          </a:p>
        </p:txBody>
      </p:sp>
      <p:sp>
        <p:nvSpPr>
          <p:cNvPr id="9" name="Rectangle 8">
            <a:extLst>
              <a:ext uri="{FF2B5EF4-FFF2-40B4-BE49-F238E27FC236}">
                <a16:creationId xmlns:a16="http://schemas.microsoft.com/office/drawing/2014/main" id="{56D47CBA-63D0-447E-B4CB-2FD5FE0A483E}"/>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sp>
        <p:nvSpPr>
          <p:cNvPr id="10" name="Title 1">
            <a:extLst>
              <a:ext uri="{FF2B5EF4-FFF2-40B4-BE49-F238E27FC236}">
                <a16:creationId xmlns:a16="http://schemas.microsoft.com/office/drawing/2014/main" id="{6916AE0D-86F6-493E-9998-782374F5FFD3}"/>
              </a:ext>
            </a:extLst>
          </p:cNvPr>
          <p:cNvSpPr txBox="1">
            <a:spLocks/>
          </p:cNvSpPr>
          <p:nvPr/>
        </p:nvSpPr>
        <p:spPr>
          <a:xfrm>
            <a:off x="0" y="126963"/>
            <a:ext cx="8229600" cy="7635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200" dirty="0">
                <a:solidFill>
                  <a:schemeClr val="bg1"/>
                </a:solidFill>
                <a:latin typeface="+mn-lt"/>
                <a:cs typeface="Aharoni" panose="02010803020104030203" pitchFamily="2" charset="-79"/>
              </a:rPr>
            </a:br>
            <a:r>
              <a:rPr lang="en-US" altLang="ko-KR" sz="3200" dirty="0">
                <a:solidFill>
                  <a:schemeClr val="bg1"/>
                </a:solidFill>
                <a:latin typeface="+mn-lt"/>
                <a:cs typeface="Aharoni" panose="02010803020104030203" pitchFamily="2" charset="-79"/>
              </a:rPr>
              <a:t>Introduction and Background</a:t>
            </a:r>
            <a:br>
              <a:rPr lang="en-US" sz="3200" dirty="0">
                <a:latin typeface="+mn-lt"/>
              </a:rPr>
            </a:br>
            <a:endParaRPr lang="en-US" sz="3200" dirty="0">
              <a:solidFill>
                <a:schemeClr val="bg1"/>
              </a:solidFill>
              <a:latin typeface="+mn-lt"/>
              <a:cs typeface="Aharoni" panose="02010803020104030203" pitchFamily="2" charset="-79"/>
            </a:endParaRPr>
          </a:p>
        </p:txBody>
      </p:sp>
      <p:sp>
        <p:nvSpPr>
          <p:cNvPr id="14" name="TextBox 13">
            <a:extLst>
              <a:ext uri="{FF2B5EF4-FFF2-40B4-BE49-F238E27FC236}">
                <a16:creationId xmlns:a16="http://schemas.microsoft.com/office/drawing/2014/main" id="{32C2C51A-BA9E-4D45-A18A-8BD32DA6B969}"/>
              </a:ext>
            </a:extLst>
          </p:cNvPr>
          <p:cNvSpPr txBox="1"/>
          <p:nvPr/>
        </p:nvSpPr>
        <p:spPr>
          <a:xfrm>
            <a:off x="523984" y="3052354"/>
            <a:ext cx="8229600" cy="2862322"/>
          </a:xfrm>
          <a:prstGeom prst="rect">
            <a:avLst/>
          </a:prstGeom>
          <a:noFill/>
        </p:spPr>
        <p:txBody>
          <a:bodyPr wrap="square">
            <a:spAutoFit/>
          </a:bodyPr>
          <a:lstStyle/>
          <a:p>
            <a:endParaRPr lang="en-GB" dirty="0">
              <a:latin typeface="Times New Roman" panose="02020603050405020304" pitchFamily="18" charset="0"/>
              <a:ea typeface="MS Mincho" panose="02020609040205080304" pitchFamily="49" charset="-128"/>
            </a:endParaRPr>
          </a:p>
          <a:p>
            <a:pPr marL="468630" indent="-285750">
              <a:buFont typeface="Wingdings" panose="05000000000000000000" pitchFamily="2" charset="2"/>
              <a:buChar char="q"/>
            </a:pPr>
            <a:r>
              <a:rPr lang="en-GB" sz="1800" dirty="0">
                <a:effectLst/>
                <a:latin typeface="Times New Roman" panose="02020603050405020304" pitchFamily="18" charset="0"/>
                <a:ea typeface="MS Mincho" panose="02020609040205080304" pitchFamily="49" charset="-128"/>
              </a:rPr>
              <a:t>(Ghani et al., 2019)</a:t>
            </a:r>
            <a:r>
              <a:rPr lang="en-GB" dirty="0">
                <a:solidFill>
                  <a:srgbClr val="2E2E2E"/>
                </a:solidFill>
                <a:latin typeface="Times New Roman" panose="02020603050405020304" pitchFamily="18" charset="0"/>
                <a:ea typeface="MS Mincho" panose="02020609040205080304" pitchFamily="49" charset="-128"/>
              </a:rPr>
              <a:t> </a:t>
            </a:r>
            <a:r>
              <a:rPr lang="en-GB" sz="1800" dirty="0">
                <a:effectLst/>
                <a:latin typeface="Times New Roman" panose="02020603050405020304" pitchFamily="18" charset="0"/>
                <a:ea typeface="MS Mincho" panose="02020609040205080304" pitchFamily="49" charset="-128"/>
              </a:rPr>
              <a:t>discussed employing </a:t>
            </a:r>
            <a:r>
              <a:rPr lang="en-GB" sz="1800" b="1" dirty="0">
                <a:effectLst/>
                <a:latin typeface="Times New Roman" panose="02020603050405020304" pitchFamily="18" charset="0"/>
                <a:ea typeface="MS Mincho" panose="02020609040205080304" pitchFamily="49" charset="-128"/>
              </a:rPr>
              <a:t>machine learning techniques</a:t>
            </a:r>
            <a:r>
              <a:rPr lang="en-GB" sz="1800" dirty="0">
                <a:effectLst/>
                <a:latin typeface="Times New Roman" panose="02020603050405020304" pitchFamily="18" charset="0"/>
                <a:ea typeface="MS Mincho" panose="02020609040205080304" pitchFamily="49" charset="-128"/>
              </a:rPr>
              <a:t> to analyse social media big data.</a:t>
            </a:r>
            <a:endParaRPr lang="en-GB" sz="1800" dirty="0">
              <a:solidFill>
                <a:srgbClr val="2E2E2E"/>
              </a:solidFill>
              <a:effectLst/>
              <a:latin typeface="Times New Roman" panose="02020603050405020304" pitchFamily="18" charset="0"/>
              <a:ea typeface="MS Mincho" panose="02020609040205080304" pitchFamily="49" charset="-128"/>
            </a:endParaRPr>
          </a:p>
          <a:p>
            <a:pPr marL="468630" indent="-285750">
              <a:buFont typeface="Wingdings" panose="05000000000000000000" pitchFamily="2" charset="2"/>
              <a:buChar char="q"/>
            </a:pPr>
            <a:endParaRPr lang="en-GB" dirty="0">
              <a:solidFill>
                <a:srgbClr val="2E2E2E"/>
              </a:solidFill>
              <a:latin typeface="Times New Roman" panose="02020603050405020304" pitchFamily="18" charset="0"/>
              <a:ea typeface="MS Mincho" panose="02020609040205080304" pitchFamily="49" charset="-128"/>
            </a:endParaRPr>
          </a:p>
          <a:p>
            <a:pPr marL="468630" indent="-285750">
              <a:buFont typeface="Wingdings" panose="05000000000000000000" pitchFamily="2" charset="2"/>
              <a:buChar char="q"/>
            </a:pPr>
            <a:r>
              <a:rPr lang="en-GB" sz="1800" dirty="0">
                <a:effectLst/>
                <a:latin typeface="Times New Roman" panose="02020603050405020304" pitchFamily="18" charset="0"/>
                <a:ea typeface="MS Mincho" panose="02020609040205080304" pitchFamily="49" charset="-128"/>
              </a:rPr>
              <a:t>(Al-</a:t>
            </a:r>
            <a:r>
              <a:rPr lang="en-GB" sz="1800" dirty="0" err="1">
                <a:effectLst/>
                <a:latin typeface="Times New Roman" panose="02020603050405020304" pitchFamily="18" charset="0"/>
                <a:ea typeface="MS Mincho" panose="02020609040205080304" pitchFamily="49" charset="-128"/>
              </a:rPr>
              <a:t>garadi</a:t>
            </a:r>
            <a:r>
              <a:rPr lang="en-GB" sz="1800" dirty="0">
                <a:effectLst/>
                <a:latin typeface="Times New Roman" panose="02020603050405020304" pitchFamily="18" charset="0"/>
                <a:ea typeface="MS Mincho" panose="02020609040205080304" pitchFamily="49" charset="-128"/>
              </a:rPr>
              <a:t> et al., 2018) discussed the </a:t>
            </a:r>
            <a:r>
              <a:rPr lang="en-GB" sz="1800" b="1" dirty="0">
                <a:effectLst/>
                <a:latin typeface="Times New Roman" panose="02020603050405020304" pitchFamily="18" charset="0"/>
                <a:ea typeface="MS Mincho" panose="02020609040205080304" pitchFamily="49" charset="-128"/>
              </a:rPr>
              <a:t>application </a:t>
            </a:r>
            <a:r>
              <a:rPr lang="en-GB" sz="1800" dirty="0">
                <a:effectLst/>
                <a:latin typeface="Times New Roman" panose="02020603050405020304" pitchFamily="18" charset="0"/>
                <a:ea typeface="MS Mincho" panose="02020609040205080304" pitchFamily="49" charset="-128"/>
              </a:rPr>
              <a:t>of big social media data analysis based on </a:t>
            </a:r>
            <a:r>
              <a:rPr lang="en-GB" sz="1800" b="1" dirty="0">
                <a:effectLst/>
                <a:latin typeface="Times New Roman" panose="02020603050405020304" pitchFamily="18" charset="0"/>
                <a:ea typeface="MS Mincho" panose="02020609040205080304" pitchFamily="49" charset="-128"/>
              </a:rPr>
              <a:t>content analysis </a:t>
            </a:r>
            <a:r>
              <a:rPr lang="en-GB" sz="1800" dirty="0">
                <a:effectLst/>
                <a:latin typeface="Times New Roman" panose="02020603050405020304" pitchFamily="18" charset="0"/>
                <a:ea typeface="MS Mincho" panose="02020609040205080304" pitchFamily="49" charset="-128"/>
              </a:rPr>
              <a:t>and</a:t>
            </a:r>
            <a:r>
              <a:rPr lang="en-GB" sz="1800" b="1" dirty="0">
                <a:effectLst/>
                <a:latin typeface="Times New Roman" panose="02020603050405020304" pitchFamily="18" charset="0"/>
                <a:ea typeface="MS Mincho" panose="02020609040205080304" pitchFamily="49" charset="-128"/>
              </a:rPr>
              <a:t> network analysis</a:t>
            </a:r>
            <a:r>
              <a:rPr lang="en-GB" sz="1800" dirty="0">
                <a:effectLst/>
                <a:latin typeface="Times New Roman" panose="02020603050405020304" pitchFamily="18" charset="0"/>
                <a:ea typeface="MS Mincho" panose="02020609040205080304" pitchFamily="49" charset="-128"/>
              </a:rPr>
              <a:t>.</a:t>
            </a:r>
          </a:p>
          <a:p>
            <a:pPr marL="468630" indent="-285750">
              <a:buFont typeface="Wingdings" panose="05000000000000000000" pitchFamily="2" charset="2"/>
              <a:buChar char="q"/>
            </a:pPr>
            <a:endParaRPr lang="en-GB" sz="1800" dirty="0">
              <a:solidFill>
                <a:srgbClr val="2E2E2E"/>
              </a:solidFill>
              <a:effectLst/>
              <a:latin typeface="Times New Roman" panose="02020603050405020304" pitchFamily="18" charset="0"/>
              <a:ea typeface="MS Mincho" panose="02020609040205080304" pitchFamily="49" charset="-128"/>
            </a:endParaRPr>
          </a:p>
          <a:p>
            <a:pPr marL="468630" indent="-285750">
              <a:buFont typeface="Wingdings" panose="05000000000000000000" pitchFamily="2" charset="2"/>
              <a:buChar char="q"/>
            </a:pPr>
            <a:r>
              <a:rPr lang="en-GB" sz="1800" dirty="0">
                <a:effectLst/>
                <a:latin typeface="Times New Roman" panose="02020603050405020304" pitchFamily="18" charset="0"/>
                <a:ea typeface="MS Mincho" panose="02020609040205080304" pitchFamily="49" charset="-128"/>
              </a:rPr>
              <a:t>( </a:t>
            </a:r>
            <a:r>
              <a:rPr lang="en-GB" sz="1800" dirty="0" err="1">
                <a:effectLst/>
                <a:latin typeface="Times New Roman" panose="02020603050405020304" pitchFamily="18" charset="0"/>
                <a:ea typeface="MS Mincho" panose="02020609040205080304" pitchFamily="49" charset="-128"/>
              </a:rPr>
              <a:t>Drus</a:t>
            </a:r>
            <a:r>
              <a:rPr lang="en-GB" sz="1800" dirty="0">
                <a:effectLst/>
                <a:latin typeface="Times New Roman" panose="02020603050405020304" pitchFamily="18" charset="0"/>
                <a:ea typeface="MS Mincho" panose="02020609040205080304" pitchFamily="49" charset="-128"/>
              </a:rPr>
              <a:t> &amp; Khalid, 2019) discussed  the </a:t>
            </a:r>
            <a:r>
              <a:rPr lang="en-GB" sz="1800" b="1" dirty="0">
                <a:effectLst/>
                <a:latin typeface="Times New Roman" panose="02020603050405020304" pitchFamily="18" charset="0"/>
                <a:ea typeface="MS Mincho" panose="02020609040205080304" pitchFamily="49" charset="-128"/>
              </a:rPr>
              <a:t>applications </a:t>
            </a:r>
            <a:r>
              <a:rPr lang="en-GB" dirty="0">
                <a:latin typeface="Times New Roman" panose="02020603050405020304" pitchFamily="18" charset="0"/>
                <a:ea typeface="MS Mincho" panose="02020609040205080304" pitchFamily="49" charset="-128"/>
              </a:rPr>
              <a:t>of</a:t>
            </a:r>
            <a:r>
              <a:rPr lang="en-GB" sz="1800" b="1" dirty="0">
                <a:effectLst/>
                <a:latin typeface="Times New Roman" panose="02020603050405020304" pitchFamily="18" charset="0"/>
                <a:ea typeface="MS Mincho" panose="02020609040205080304" pitchFamily="49" charset="-128"/>
              </a:rPr>
              <a:t> Twitter data sentiment analysis</a:t>
            </a:r>
            <a:r>
              <a:rPr lang="en-GB" sz="1800" dirty="0">
                <a:effectLst/>
                <a:latin typeface="Times New Roman" panose="02020603050405020304" pitchFamily="18" charset="0"/>
                <a:ea typeface="MS Mincho" panose="02020609040205080304" pitchFamily="49" charset="-128"/>
              </a:rPr>
              <a:t>. </a:t>
            </a:r>
          </a:p>
          <a:p>
            <a:pPr marL="468630" indent="-285750">
              <a:buFont typeface="Wingdings" panose="05000000000000000000" pitchFamily="2" charset="2"/>
              <a:buChar char="q"/>
            </a:pPr>
            <a:endParaRPr lang="en-GB" sz="1800" dirty="0">
              <a:effectLst/>
              <a:latin typeface="Times New Roman" panose="02020603050405020304" pitchFamily="18" charset="0"/>
              <a:ea typeface="MS Mincho" panose="02020609040205080304" pitchFamily="49" charset="-128"/>
            </a:endParaRPr>
          </a:p>
        </p:txBody>
      </p:sp>
      <p:grpSp>
        <p:nvGrpSpPr>
          <p:cNvPr id="17" name="Group 16">
            <a:extLst>
              <a:ext uri="{FF2B5EF4-FFF2-40B4-BE49-F238E27FC236}">
                <a16:creationId xmlns:a16="http://schemas.microsoft.com/office/drawing/2014/main" id="{F95A0A51-B62F-431C-B4CB-D2C9C44A21B5}"/>
              </a:ext>
            </a:extLst>
          </p:cNvPr>
          <p:cNvGrpSpPr/>
          <p:nvPr/>
        </p:nvGrpSpPr>
        <p:grpSpPr>
          <a:xfrm>
            <a:off x="359546" y="1094497"/>
            <a:ext cx="7294401" cy="646331"/>
            <a:chOff x="5614554" y="1966987"/>
            <a:chExt cx="7294401" cy="646331"/>
          </a:xfrm>
        </p:grpSpPr>
        <p:grpSp>
          <p:nvGrpSpPr>
            <p:cNvPr id="18" name="Group 17">
              <a:extLst>
                <a:ext uri="{FF2B5EF4-FFF2-40B4-BE49-F238E27FC236}">
                  <a16:creationId xmlns:a16="http://schemas.microsoft.com/office/drawing/2014/main" id="{6CE20875-F114-4EDD-B62B-91E085F84C8C}"/>
                </a:ext>
              </a:extLst>
            </p:cNvPr>
            <p:cNvGrpSpPr/>
            <p:nvPr/>
          </p:nvGrpSpPr>
          <p:grpSpPr>
            <a:xfrm>
              <a:off x="5614554" y="2072848"/>
              <a:ext cx="199272" cy="206152"/>
              <a:chOff x="2411760" y="3708613"/>
              <a:chExt cx="206152" cy="206152"/>
            </a:xfrm>
          </p:grpSpPr>
          <p:sp>
            <p:nvSpPr>
              <p:cNvPr id="22" name="Oval 21">
                <a:extLst>
                  <a:ext uri="{FF2B5EF4-FFF2-40B4-BE49-F238E27FC236}">
                    <a16:creationId xmlns:a16="http://schemas.microsoft.com/office/drawing/2014/main" id="{8B46373E-07D8-4F13-9FFE-C0E8E2C1E91C}"/>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3" name="Chevron 38">
                <a:extLst>
                  <a:ext uri="{FF2B5EF4-FFF2-40B4-BE49-F238E27FC236}">
                    <a16:creationId xmlns:a16="http://schemas.microsoft.com/office/drawing/2014/main" id="{EB8390FE-2052-4E99-9DBC-E0754E71716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1" name="TextBox 20">
              <a:extLst>
                <a:ext uri="{FF2B5EF4-FFF2-40B4-BE49-F238E27FC236}">
                  <a16:creationId xmlns:a16="http://schemas.microsoft.com/office/drawing/2014/main" id="{7650D679-B2B5-48D9-877C-1B424F714BD8}"/>
                </a:ext>
              </a:extLst>
            </p:cNvPr>
            <p:cNvSpPr txBox="1"/>
            <p:nvPr/>
          </p:nvSpPr>
          <p:spPr>
            <a:xfrm>
              <a:off x="5878663" y="1966987"/>
              <a:ext cx="7030292" cy="646331"/>
            </a:xfrm>
            <a:prstGeom prst="rect">
              <a:avLst/>
            </a:prstGeom>
            <a:noFill/>
          </p:spPr>
          <p:txBody>
            <a:bodyPr wrap="square" rtlCol="0">
              <a:spAutoFit/>
            </a:bodyPr>
            <a:lstStyle/>
            <a:p>
              <a:r>
                <a:rPr lang="en-GB" sz="1800" dirty="0">
                  <a:effectLst/>
                  <a:latin typeface="Times New Roman" panose="02020603050405020304" pitchFamily="18" charset="0"/>
                  <a:ea typeface="MS Mincho" panose="02020609040205080304" pitchFamily="49" charset="-128"/>
                </a:rPr>
                <a:t>Social media data can be considered a data source for some </a:t>
              </a:r>
              <a:r>
                <a:rPr lang="en-GB" sz="1800" b="1" dirty="0">
                  <a:effectLst/>
                  <a:latin typeface="Times New Roman" panose="02020603050405020304" pitchFamily="18" charset="0"/>
                  <a:ea typeface="MS Mincho" panose="02020609040205080304" pitchFamily="49" charset="-128"/>
                </a:rPr>
                <a:t>data-driven </a:t>
              </a:r>
              <a:r>
                <a:rPr lang="en-GB" sz="1800" dirty="0">
                  <a:effectLst/>
                  <a:latin typeface="Times New Roman" panose="02020603050405020304" pitchFamily="18" charset="0"/>
                  <a:ea typeface="MS Mincho" panose="02020609040205080304" pitchFamily="49" charset="-128"/>
                </a:rPr>
                <a:t>research.</a:t>
              </a:r>
            </a:p>
          </p:txBody>
        </p:sp>
      </p:grpSp>
      <p:grpSp>
        <p:nvGrpSpPr>
          <p:cNvPr id="24" name="Group 23">
            <a:extLst>
              <a:ext uri="{FF2B5EF4-FFF2-40B4-BE49-F238E27FC236}">
                <a16:creationId xmlns:a16="http://schemas.microsoft.com/office/drawing/2014/main" id="{41F3AA15-A0DA-4F0A-8C36-15FA069FA98B}"/>
              </a:ext>
            </a:extLst>
          </p:cNvPr>
          <p:cNvGrpSpPr/>
          <p:nvPr/>
        </p:nvGrpSpPr>
        <p:grpSpPr>
          <a:xfrm>
            <a:off x="368255" y="1654368"/>
            <a:ext cx="8089945" cy="923330"/>
            <a:chOff x="5614554" y="1966987"/>
            <a:chExt cx="8089945" cy="923330"/>
          </a:xfrm>
        </p:grpSpPr>
        <p:grpSp>
          <p:nvGrpSpPr>
            <p:cNvPr id="25" name="Group 24">
              <a:extLst>
                <a:ext uri="{FF2B5EF4-FFF2-40B4-BE49-F238E27FC236}">
                  <a16:creationId xmlns:a16="http://schemas.microsoft.com/office/drawing/2014/main" id="{F29D8C0B-A872-467E-B0BC-92E18DEA1D0D}"/>
                </a:ext>
              </a:extLst>
            </p:cNvPr>
            <p:cNvGrpSpPr/>
            <p:nvPr/>
          </p:nvGrpSpPr>
          <p:grpSpPr>
            <a:xfrm>
              <a:off x="5614554" y="2072848"/>
              <a:ext cx="199272" cy="206152"/>
              <a:chOff x="2411760" y="3708613"/>
              <a:chExt cx="206152" cy="206152"/>
            </a:xfrm>
          </p:grpSpPr>
          <p:sp>
            <p:nvSpPr>
              <p:cNvPr id="27" name="Oval 26">
                <a:extLst>
                  <a:ext uri="{FF2B5EF4-FFF2-40B4-BE49-F238E27FC236}">
                    <a16:creationId xmlns:a16="http://schemas.microsoft.com/office/drawing/2014/main" id="{62D7BADA-B083-49C2-9957-2CBE8909EA7E}"/>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8" name="Chevron 38">
                <a:extLst>
                  <a:ext uri="{FF2B5EF4-FFF2-40B4-BE49-F238E27FC236}">
                    <a16:creationId xmlns:a16="http://schemas.microsoft.com/office/drawing/2014/main" id="{0AC31525-B496-449A-A6BD-83BD657673F6}"/>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6" name="TextBox 25">
              <a:extLst>
                <a:ext uri="{FF2B5EF4-FFF2-40B4-BE49-F238E27FC236}">
                  <a16:creationId xmlns:a16="http://schemas.microsoft.com/office/drawing/2014/main" id="{EC8198A3-C15F-49E8-9DF6-467F4EE3A43E}"/>
                </a:ext>
              </a:extLst>
            </p:cNvPr>
            <p:cNvSpPr txBox="1"/>
            <p:nvPr/>
          </p:nvSpPr>
          <p:spPr>
            <a:xfrm>
              <a:off x="5878663" y="1966987"/>
              <a:ext cx="7825836" cy="923330"/>
            </a:xfrm>
            <a:prstGeom prst="rect">
              <a:avLst/>
            </a:prstGeom>
            <a:noFill/>
          </p:spPr>
          <p:txBody>
            <a:bodyPr wrap="square" rtlCol="0">
              <a:spAutoFit/>
            </a:bodyPr>
            <a:lstStyle/>
            <a:p>
              <a:r>
                <a:rPr lang="en-US" dirty="0">
                  <a:solidFill>
                    <a:schemeClr val="tx1">
                      <a:lumMod val="75000"/>
                      <a:lumOff val="25000"/>
                    </a:schemeClr>
                  </a:solidFill>
                  <a:latin typeface="Times New Roman" panose="02020603050405020304" pitchFamily="18" charset="0"/>
                  <a:cs typeface="Times New Roman" panose="02020603050405020304" pitchFamily="18" charset="0"/>
                </a:rPr>
                <a:t>“The process of gathering data from social media and analyzing it to assist decision-makers in addressing specific problems”</a:t>
              </a:r>
              <a:r>
                <a:rPr lang="en-GB" sz="1800" dirty="0">
                  <a:effectLst/>
                  <a:latin typeface="Times New Roman" panose="02020603050405020304" pitchFamily="18" charset="0"/>
                  <a:ea typeface="MS Mincho" panose="02020609040205080304" pitchFamily="49" charset="-128"/>
                </a:rPr>
                <a:t> is called </a:t>
              </a:r>
              <a:r>
                <a:rPr lang="en-US" sz="1800" b="1" dirty="0"/>
                <a:t>Social Media Analytics </a:t>
              </a:r>
              <a:r>
                <a:rPr lang="en-US" sz="1800" dirty="0">
                  <a:effectLst/>
                  <a:latin typeface="Times New Roman" panose="02020603050405020304" pitchFamily="18" charset="0"/>
                  <a:ea typeface="MS Mincho" panose="02020609040205080304" pitchFamily="49" charset="-128"/>
                </a:rPr>
                <a:t>(Lee, 2018)</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a:t>
              </a:r>
            </a:p>
          </p:txBody>
        </p:sp>
      </p:grpSp>
      <p:grpSp>
        <p:nvGrpSpPr>
          <p:cNvPr id="29" name="Group 28">
            <a:extLst>
              <a:ext uri="{FF2B5EF4-FFF2-40B4-BE49-F238E27FC236}">
                <a16:creationId xmlns:a16="http://schemas.microsoft.com/office/drawing/2014/main" id="{9F6A1AAE-3DF7-48F1-8ED6-1BDEB38E1E65}"/>
              </a:ext>
            </a:extLst>
          </p:cNvPr>
          <p:cNvGrpSpPr/>
          <p:nvPr/>
        </p:nvGrpSpPr>
        <p:grpSpPr>
          <a:xfrm>
            <a:off x="424383" y="2729290"/>
            <a:ext cx="7625621" cy="369332"/>
            <a:chOff x="5614554" y="1966987"/>
            <a:chExt cx="7625621" cy="369332"/>
          </a:xfrm>
        </p:grpSpPr>
        <p:grpSp>
          <p:nvGrpSpPr>
            <p:cNvPr id="30" name="Group 29">
              <a:extLst>
                <a:ext uri="{FF2B5EF4-FFF2-40B4-BE49-F238E27FC236}">
                  <a16:creationId xmlns:a16="http://schemas.microsoft.com/office/drawing/2014/main" id="{DA635407-BE81-43B2-83A9-BF406A4131BF}"/>
                </a:ext>
              </a:extLst>
            </p:cNvPr>
            <p:cNvGrpSpPr/>
            <p:nvPr/>
          </p:nvGrpSpPr>
          <p:grpSpPr>
            <a:xfrm>
              <a:off x="5614554" y="2072848"/>
              <a:ext cx="199272" cy="206152"/>
              <a:chOff x="2411760" y="3708613"/>
              <a:chExt cx="206152" cy="206152"/>
            </a:xfrm>
          </p:grpSpPr>
          <p:sp>
            <p:nvSpPr>
              <p:cNvPr id="32" name="Oval 31">
                <a:extLst>
                  <a:ext uri="{FF2B5EF4-FFF2-40B4-BE49-F238E27FC236}">
                    <a16:creationId xmlns:a16="http://schemas.microsoft.com/office/drawing/2014/main" id="{0E20B106-CF5D-4FD4-A6B6-656DCD06C67C}"/>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3" name="Chevron 38">
                <a:extLst>
                  <a:ext uri="{FF2B5EF4-FFF2-40B4-BE49-F238E27FC236}">
                    <a16:creationId xmlns:a16="http://schemas.microsoft.com/office/drawing/2014/main" id="{F3FDCB05-FFD8-438D-BDF9-0816477604C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1" name="TextBox 30">
              <a:extLst>
                <a:ext uri="{FF2B5EF4-FFF2-40B4-BE49-F238E27FC236}">
                  <a16:creationId xmlns:a16="http://schemas.microsoft.com/office/drawing/2014/main" id="{9BC224DC-AA78-498A-B8D2-C79A9A3B722D}"/>
                </a:ext>
              </a:extLst>
            </p:cNvPr>
            <p:cNvSpPr txBox="1"/>
            <p:nvPr/>
          </p:nvSpPr>
          <p:spPr>
            <a:xfrm>
              <a:off x="5878662" y="1966987"/>
              <a:ext cx="7361513" cy="369332"/>
            </a:xfrm>
            <a:prstGeom prst="rect">
              <a:avLst/>
            </a:prstGeom>
            <a:noFill/>
          </p:spPr>
          <p:txBody>
            <a:bodyPr wrap="square" rtlCol="0">
              <a:spAutoFit/>
            </a:bodyPr>
            <a:lstStyle/>
            <a:p>
              <a:r>
                <a:rPr lang="en-US" sz="1800" dirty="0">
                  <a:effectLst/>
                  <a:latin typeface="Times New Roman" panose="02020603050405020304" pitchFamily="18" charset="0"/>
                  <a:ea typeface="MS Mincho" panose="02020609040205080304" pitchFamily="49" charset="-128"/>
                </a:rPr>
                <a:t>Some </a:t>
              </a:r>
              <a:r>
                <a:rPr lang="en-GB" sz="1800" dirty="0">
                  <a:effectLst/>
                  <a:latin typeface="Times New Roman" panose="02020603050405020304" pitchFamily="18" charset="0"/>
                  <a:ea typeface="MS Mincho" panose="02020609040205080304" pitchFamily="49" charset="-128"/>
                </a:rPr>
                <a:t>review papers studied social media data analysis from different aspects</a:t>
              </a:r>
              <a:r>
                <a:rPr lang="en-GB" dirty="0">
                  <a:latin typeface="Times New Roman" panose="02020603050405020304" pitchFamily="18" charset="0"/>
                  <a:ea typeface="MS Mincho" panose="02020609040205080304" pitchFamily="49" charset="-128"/>
                </a:rPr>
                <a:t>:</a:t>
              </a:r>
              <a:endParaRPr lang="en-GB" sz="1800" dirty="0">
                <a:effectLst/>
                <a:latin typeface="Times New Roman" panose="02020603050405020304" pitchFamily="18" charset="0"/>
                <a:ea typeface="MS Mincho" panose="02020609040205080304" pitchFamily="49" charset="-128"/>
              </a:endParaRPr>
            </a:p>
          </p:txBody>
        </p:sp>
      </p:grpSp>
    </p:spTree>
    <p:extLst>
      <p:ext uri="{BB962C8B-B14F-4D97-AF65-F5344CB8AC3E}">
        <p14:creationId xmlns:p14="http://schemas.microsoft.com/office/powerpoint/2010/main" val="276223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additive="base">
                                        <p:cTn id="21" dur="500" fill="hold"/>
                                        <p:tgtEl>
                                          <p:spTgt spid="29"/>
                                        </p:tgtEl>
                                        <p:attrNameLst>
                                          <p:attrName>ppt_x</p:attrName>
                                        </p:attrNameLst>
                                      </p:cBhvr>
                                      <p:tavLst>
                                        <p:tav tm="0">
                                          <p:val>
                                            <p:strVal val="#ppt_x"/>
                                          </p:val>
                                        </p:tav>
                                        <p:tav tm="100000">
                                          <p:val>
                                            <p:strVal val="#ppt_x"/>
                                          </p:val>
                                        </p:tav>
                                      </p:tavLst>
                                    </p:anim>
                                    <p:anim calcmode="lin" valueType="num">
                                      <p:cBhvr additive="base">
                                        <p:cTn id="2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8912"/>
            <a:ext cx="8229600" cy="763588"/>
          </a:xfrm>
        </p:spPr>
        <p:txBody>
          <a:bodyPr>
            <a:normAutofit fontScale="90000"/>
          </a:bodyPr>
          <a:lstStyle/>
          <a:p>
            <a:pPr algn="l"/>
            <a:br>
              <a:rPr lang="en-US" sz="4000" dirty="0">
                <a:solidFill>
                  <a:schemeClr val="bg1"/>
                </a:solidFill>
                <a:latin typeface="+mn-lt"/>
                <a:cs typeface="Aharoni" panose="02010803020104030203" pitchFamily="2" charset="-79"/>
              </a:rPr>
            </a:br>
            <a:r>
              <a:rPr lang="en-US" sz="4000" dirty="0">
                <a:solidFill>
                  <a:schemeClr val="bg1"/>
                </a:solidFill>
                <a:latin typeface="+mn-lt"/>
                <a:cs typeface="Aharoni" panose="02010803020104030203" pitchFamily="2" charset="-79"/>
              </a:rPr>
              <a:t>Research Questions</a:t>
            </a:r>
            <a:br>
              <a:rPr lang="en-US" sz="2400" b="0" i="0" dirty="0">
                <a:effectLst/>
                <a:latin typeface="+mn-lt"/>
              </a:rPr>
            </a:br>
            <a:br>
              <a:rPr lang="en-US" sz="1600" b="0" i="0" dirty="0">
                <a:effectLst/>
                <a:latin typeface="+mn-lt"/>
              </a:rPr>
            </a:br>
            <a:endParaRPr lang="en-US" sz="4000" dirty="0">
              <a:solidFill>
                <a:schemeClr val="bg1"/>
              </a:solidFill>
              <a:latin typeface="+mn-lt"/>
              <a:cs typeface="Aharoni" panose="02010803020104030203" pitchFamily="2" charset="-79"/>
            </a:endParaRPr>
          </a:p>
        </p:txBody>
      </p:sp>
      <p:sp>
        <p:nvSpPr>
          <p:cNvPr id="4" name="Content Placeholder 3"/>
          <p:cNvSpPr>
            <a:spLocks noGrp="1"/>
          </p:cNvSpPr>
          <p:nvPr>
            <p:ph idx="1"/>
          </p:nvPr>
        </p:nvSpPr>
        <p:spPr>
          <a:xfrm>
            <a:off x="563983" y="1377572"/>
            <a:ext cx="8229600" cy="2000011"/>
          </a:xfrm>
        </p:spPr>
        <p:txBody>
          <a:bodyPr>
            <a:normAutofit/>
          </a:bodyPr>
          <a:lstStyle/>
          <a:p>
            <a:pPr marL="0" lvl="0" indent="0">
              <a:spcBef>
                <a:spcPts val="0"/>
              </a:spcBef>
              <a:buNone/>
              <a:defRPr/>
            </a:pPr>
            <a:r>
              <a:rPr lang="en-GB" sz="1800" dirty="0">
                <a:latin typeface="Times New Roman" panose="02020603050405020304" pitchFamily="18" charset="0"/>
                <a:ea typeface="MS Mincho" panose="02020609040205080304" pitchFamily="49" charset="-128"/>
                <a:cs typeface="Times New Roman" panose="02020603050405020304" pitchFamily="18" charset="0"/>
              </a:rPr>
              <a:t>This paper contributes by reviewing published papers from </a:t>
            </a:r>
            <a:r>
              <a:rPr lang="en-GB" sz="1800" b="1" dirty="0">
                <a:latin typeface="Times New Roman" panose="02020603050405020304" pitchFamily="18" charset="0"/>
                <a:ea typeface="MS Mincho" panose="02020609040205080304" pitchFamily="49" charset="-128"/>
                <a:cs typeface="Times New Roman" panose="02020603050405020304" pitchFamily="18" charset="0"/>
              </a:rPr>
              <a:t>2011 to 2020 </a:t>
            </a:r>
            <a:r>
              <a:rPr lang="en-GB" sz="1800" dirty="0">
                <a:latin typeface="Times New Roman" panose="02020603050405020304" pitchFamily="18" charset="0"/>
                <a:ea typeface="MS Mincho" panose="02020609040205080304" pitchFamily="49" charset="-128"/>
                <a:cs typeface="Times New Roman" panose="02020603050405020304" pitchFamily="18" charset="0"/>
              </a:rPr>
              <a:t>to look at social media analysis from a different angle. </a:t>
            </a:r>
          </a:p>
          <a:p>
            <a:pPr marL="0" lvl="0" indent="0">
              <a:spcBef>
                <a:spcPts val="0"/>
              </a:spcBef>
              <a:buNone/>
              <a:defRPr/>
            </a:pPr>
            <a:endParaRPr lang="en-GB" sz="1800" dirty="0">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3" name="Slide Number Placeholder 2">
            <a:extLst>
              <a:ext uri="{FF2B5EF4-FFF2-40B4-BE49-F238E27FC236}">
                <a16:creationId xmlns:a16="http://schemas.microsoft.com/office/drawing/2014/main" id="{85C07167-AE70-423B-ACBE-254015BF39F3}"/>
              </a:ext>
            </a:extLst>
          </p:cNvPr>
          <p:cNvSpPr>
            <a:spLocks noGrp="1"/>
          </p:cNvSpPr>
          <p:nvPr>
            <p:ph type="sldNum" sz="quarter" idx="12"/>
          </p:nvPr>
        </p:nvSpPr>
        <p:spPr/>
        <p:txBody>
          <a:bodyPr/>
          <a:lstStyle/>
          <a:p>
            <a:fld id="{85F881A0-7E4F-4F05-8C98-13E0A3A62794}" type="slidenum">
              <a:rPr lang="en-US" smtClean="0"/>
              <a:pPr/>
              <a:t>4</a:t>
            </a:fld>
            <a:endParaRPr lang="en-US"/>
          </a:p>
        </p:txBody>
      </p:sp>
      <p:grpSp>
        <p:nvGrpSpPr>
          <p:cNvPr id="7" name="Group 6">
            <a:extLst>
              <a:ext uri="{FF2B5EF4-FFF2-40B4-BE49-F238E27FC236}">
                <a16:creationId xmlns:a16="http://schemas.microsoft.com/office/drawing/2014/main" id="{EB211629-B4DF-4169-B63F-7DA95FEE7EFC}"/>
              </a:ext>
            </a:extLst>
          </p:cNvPr>
          <p:cNvGrpSpPr/>
          <p:nvPr/>
        </p:nvGrpSpPr>
        <p:grpSpPr>
          <a:xfrm>
            <a:off x="-136383" y="3039929"/>
            <a:ext cx="8823183" cy="1719230"/>
            <a:chOff x="-57047" y="3403659"/>
            <a:chExt cx="8823183" cy="1719230"/>
          </a:xfrm>
        </p:grpSpPr>
        <p:grpSp>
          <p:nvGrpSpPr>
            <p:cNvPr id="6" name="Group 5">
              <a:extLst>
                <a:ext uri="{FF2B5EF4-FFF2-40B4-BE49-F238E27FC236}">
                  <a16:creationId xmlns:a16="http://schemas.microsoft.com/office/drawing/2014/main" id="{62EDC871-2C58-42C8-8F86-C2FC2E658E48}"/>
                </a:ext>
              </a:extLst>
            </p:cNvPr>
            <p:cNvGrpSpPr/>
            <p:nvPr/>
          </p:nvGrpSpPr>
          <p:grpSpPr>
            <a:xfrm>
              <a:off x="-57047" y="4184170"/>
              <a:ext cx="8591447" cy="938719"/>
              <a:chOff x="-57047" y="4184170"/>
              <a:chExt cx="8591447" cy="938719"/>
            </a:xfrm>
          </p:grpSpPr>
          <p:sp>
            <p:nvSpPr>
              <p:cNvPr id="11" name="TextBox 10">
                <a:extLst>
                  <a:ext uri="{FF2B5EF4-FFF2-40B4-BE49-F238E27FC236}">
                    <a16:creationId xmlns:a16="http://schemas.microsoft.com/office/drawing/2014/main" id="{4D901740-C85F-4E1D-864F-808B3EBB153F}"/>
                  </a:ext>
                </a:extLst>
              </p:cNvPr>
              <p:cNvSpPr txBox="1"/>
              <p:nvPr/>
            </p:nvSpPr>
            <p:spPr>
              <a:xfrm>
                <a:off x="536536" y="4184170"/>
                <a:ext cx="7997864" cy="938719"/>
              </a:xfrm>
              <a:prstGeom prst="rect">
                <a:avLst/>
              </a:prstGeom>
              <a:noFill/>
            </p:spPr>
            <p:txBody>
              <a:bodyPr wrap="square" rtlCol="0">
                <a:spAutoFit/>
              </a:bodyPr>
              <a:lstStyle/>
              <a:p>
                <a:pPr marL="457200" marR="0" indent="0">
                  <a:lnSpc>
                    <a:spcPct val="95000"/>
                  </a:lnSpc>
                  <a:spcBef>
                    <a:spcPts val="0"/>
                  </a:spcBef>
                  <a:spcAft>
                    <a:spcPts val="600"/>
                  </a:spcAft>
                  <a:buNone/>
                </a:pPr>
                <a:r>
                  <a:rPr lang="en-US" sz="2000" dirty="0">
                    <a:effectLst/>
                    <a:ea typeface="Calibri" panose="020F0502020204030204" pitchFamily="34" charset="0"/>
                    <a:cs typeface="Arial" panose="020B0604020202020204" pitchFamily="34" charset="0"/>
                  </a:rPr>
                  <a:t>What </a:t>
                </a:r>
                <a:r>
                  <a:rPr lang="en-US" sz="2000" b="1" dirty="0">
                    <a:effectLst/>
                    <a:ea typeface="Calibri" panose="020F0502020204030204" pitchFamily="34" charset="0"/>
                    <a:cs typeface="Arial" panose="020B0604020202020204" pitchFamily="34" charset="0"/>
                  </a:rPr>
                  <a:t>approaches</a:t>
                </a:r>
                <a:r>
                  <a:rPr lang="en-US" sz="2000" dirty="0">
                    <a:effectLst/>
                    <a:ea typeface="Calibri" panose="020F0502020204030204" pitchFamily="34" charset="0"/>
                    <a:cs typeface="Arial" panose="020B0604020202020204" pitchFamily="34" charset="0"/>
                  </a:rPr>
                  <a:t> have been used more often to learn about the public in these areas of application?</a:t>
                </a:r>
                <a:endParaRPr lang="en-US" sz="2000" dirty="0">
                  <a:latin typeface="Times New Roman" panose="02020603050405020304" pitchFamily="18" charset="0"/>
                </a:endParaRPr>
              </a:p>
              <a:p>
                <a:r>
                  <a:rPr lang="en-US" altLang="ko-KR" sz="1200" dirty="0">
                    <a:solidFill>
                      <a:schemeClr val="tx1">
                        <a:lumMod val="75000"/>
                        <a:lumOff val="25000"/>
                      </a:schemeClr>
                    </a:solidFill>
                    <a:cs typeface="Arial" pitchFamily="34" charset="0"/>
                  </a:rPr>
                  <a:t>  </a:t>
                </a:r>
                <a:endParaRPr lang="ko-KR" altLang="en-US" sz="1200" dirty="0">
                  <a:solidFill>
                    <a:schemeClr val="tx1">
                      <a:lumMod val="75000"/>
                      <a:lumOff val="25000"/>
                    </a:schemeClr>
                  </a:solidFill>
                  <a:cs typeface="Arial" pitchFamily="34" charset="0"/>
                </a:endParaRPr>
              </a:p>
            </p:txBody>
          </p:sp>
          <p:sp>
            <p:nvSpPr>
              <p:cNvPr id="17" name="TextBox 16">
                <a:extLst>
                  <a:ext uri="{FF2B5EF4-FFF2-40B4-BE49-F238E27FC236}">
                    <a16:creationId xmlns:a16="http://schemas.microsoft.com/office/drawing/2014/main" id="{220D604D-51D4-40B8-8716-251AEC745715}"/>
                  </a:ext>
                </a:extLst>
              </p:cNvPr>
              <p:cNvSpPr txBox="1"/>
              <p:nvPr/>
            </p:nvSpPr>
            <p:spPr>
              <a:xfrm>
                <a:off x="-57047" y="4297388"/>
                <a:ext cx="1187165" cy="400110"/>
              </a:xfrm>
              <a:prstGeom prst="rect">
                <a:avLst/>
              </a:prstGeom>
              <a:noFill/>
            </p:spPr>
            <p:txBody>
              <a:bodyPr wrap="square" rtlCol="0">
                <a:spAutoFit/>
              </a:bodyPr>
              <a:lstStyle/>
              <a:p>
                <a:pPr algn="ctr"/>
                <a:r>
                  <a:rPr lang="en-US" altLang="ko-KR" sz="2000" b="1" dirty="0">
                    <a:solidFill>
                      <a:schemeClr val="accent2"/>
                    </a:solidFill>
                    <a:latin typeface="Times New Roman" panose="02020603050405020304" pitchFamily="18" charset="0"/>
                    <a:cs typeface="Times New Roman" panose="02020603050405020304" pitchFamily="18" charset="0"/>
                  </a:rPr>
                  <a:t>Q2</a:t>
                </a:r>
                <a:endParaRPr lang="ko-KR" altLang="en-US" sz="2000" b="1" dirty="0">
                  <a:solidFill>
                    <a:schemeClr val="accent2"/>
                  </a:solidFill>
                  <a:latin typeface="Times New Roman" panose="02020603050405020304" pitchFamily="18" charset="0"/>
                  <a:cs typeface="Times New Roman" panose="02020603050405020304" pitchFamily="18" charset="0"/>
                </a:endParaRPr>
              </a:p>
            </p:txBody>
          </p:sp>
        </p:grpSp>
        <p:grpSp>
          <p:nvGrpSpPr>
            <p:cNvPr id="5" name="Group 4">
              <a:extLst>
                <a:ext uri="{FF2B5EF4-FFF2-40B4-BE49-F238E27FC236}">
                  <a16:creationId xmlns:a16="http://schemas.microsoft.com/office/drawing/2014/main" id="{ED15D2A1-3AE6-4008-A3D4-9C6F38677C25}"/>
                </a:ext>
              </a:extLst>
            </p:cNvPr>
            <p:cNvGrpSpPr/>
            <p:nvPr/>
          </p:nvGrpSpPr>
          <p:grpSpPr>
            <a:xfrm>
              <a:off x="-57047" y="3403659"/>
              <a:ext cx="8823183" cy="677108"/>
              <a:chOff x="-57047" y="3403659"/>
              <a:chExt cx="8823183" cy="677108"/>
            </a:xfrm>
          </p:grpSpPr>
          <p:sp>
            <p:nvSpPr>
              <p:cNvPr id="10" name="TextBox 9">
                <a:extLst>
                  <a:ext uri="{FF2B5EF4-FFF2-40B4-BE49-F238E27FC236}">
                    <a16:creationId xmlns:a16="http://schemas.microsoft.com/office/drawing/2014/main" id="{5D593F9B-FE0C-4E9E-9CB4-938963707D9F}"/>
                  </a:ext>
                </a:extLst>
              </p:cNvPr>
              <p:cNvSpPr txBox="1"/>
              <p:nvPr/>
            </p:nvSpPr>
            <p:spPr>
              <a:xfrm>
                <a:off x="-57047" y="3439422"/>
                <a:ext cx="1186442" cy="400110"/>
              </a:xfrm>
              <a:prstGeom prst="rect">
                <a:avLst/>
              </a:prstGeom>
              <a:noFill/>
            </p:spPr>
            <p:txBody>
              <a:bodyPr wrap="square" rtlCol="0">
                <a:spAutoFit/>
              </a:bodyPr>
              <a:lstStyle/>
              <a:p>
                <a:pPr algn="ctr"/>
                <a:r>
                  <a:rPr lang="en-US" altLang="ko-KR" sz="2000" b="1" dirty="0">
                    <a:solidFill>
                      <a:schemeClr val="accent4"/>
                    </a:solidFill>
                    <a:latin typeface="Times New Roman" panose="02020603050405020304" pitchFamily="18" charset="0"/>
                    <a:cs typeface="Times New Roman" panose="02020603050405020304" pitchFamily="18" charset="0"/>
                  </a:rPr>
                  <a:t>Q1</a:t>
                </a:r>
                <a:endParaRPr lang="ko-KR" altLang="en-US" sz="2000" b="1" dirty="0">
                  <a:solidFill>
                    <a:schemeClr val="accent4"/>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1927924-0223-4924-A73D-CB1961EC92F8}"/>
                  </a:ext>
                </a:extLst>
              </p:cNvPr>
              <p:cNvSpPr txBox="1"/>
              <p:nvPr/>
            </p:nvSpPr>
            <p:spPr>
              <a:xfrm>
                <a:off x="536536" y="3403659"/>
                <a:ext cx="8229600" cy="677108"/>
              </a:xfrm>
              <a:prstGeom prst="rect">
                <a:avLst/>
              </a:prstGeom>
              <a:noFill/>
            </p:spPr>
            <p:txBody>
              <a:bodyPr wrap="square" rtlCol="0">
                <a:spAutoFit/>
              </a:bodyPr>
              <a:lstStyle/>
              <a:p>
                <a:pPr marL="457200" marR="0" indent="0">
                  <a:lnSpc>
                    <a:spcPct val="95000"/>
                  </a:lnSpc>
                  <a:spcBef>
                    <a:spcPts val="0"/>
                  </a:spcBef>
                  <a:spcAft>
                    <a:spcPts val="600"/>
                  </a:spcAft>
                  <a:buNone/>
                </a:pPr>
                <a:r>
                  <a:rPr lang="en-US" sz="2000" dirty="0">
                    <a:effectLst/>
                    <a:ea typeface="Calibri" panose="020F0502020204030204" pitchFamily="34" charset="0"/>
                    <a:cs typeface="Arial" panose="020B0604020202020204" pitchFamily="34" charset="0"/>
                  </a:rPr>
                  <a:t>What are </a:t>
                </a:r>
                <a:r>
                  <a:rPr lang="en-US" sz="2000" b="1" dirty="0">
                    <a:effectLst/>
                    <a:ea typeface="Calibri" panose="020F0502020204030204" pitchFamily="34" charset="0"/>
                    <a:cs typeface="Arial" panose="020B0604020202020204" pitchFamily="34" charset="0"/>
                  </a:rPr>
                  <a:t>the application areas </a:t>
                </a:r>
                <a:r>
                  <a:rPr lang="en-US" sz="2000" dirty="0">
                    <a:effectLst/>
                    <a:ea typeface="Calibri" panose="020F0502020204030204" pitchFamily="34" charset="0"/>
                    <a:cs typeface="Arial" panose="020B0604020202020204" pitchFamily="34" charset="0"/>
                  </a:rPr>
                  <a:t>of social media user-generated data in real world?</a:t>
                </a:r>
              </a:p>
            </p:txBody>
          </p:sp>
        </p:grpSp>
      </p:grpSp>
      <p:sp>
        <p:nvSpPr>
          <p:cNvPr id="19" name="Rectangle 18">
            <a:extLst>
              <a:ext uri="{FF2B5EF4-FFF2-40B4-BE49-F238E27FC236}">
                <a16:creationId xmlns:a16="http://schemas.microsoft.com/office/drawing/2014/main" id="{7EEE3BE9-6233-4980-9797-20CC80350F8F}"/>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sp>
        <p:nvSpPr>
          <p:cNvPr id="20" name="Title 1">
            <a:extLst>
              <a:ext uri="{FF2B5EF4-FFF2-40B4-BE49-F238E27FC236}">
                <a16:creationId xmlns:a16="http://schemas.microsoft.com/office/drawing/2014/main" id="{794F65C1-42A6-46B5-ACD3-74FACE15107E}"/>
              </a:ext>
            </a:extLst>
          </p:cNvPr>
          <p:cNvSpPr txBox="1">
            <a:spLocks/>
          </p:cNvSpPr>
          <p:nvPr/>
        </p:nvSpPr>
        <p:spPr>
          <a:xfrm>
            <a:off x="360550" y="123388"/>
            <a:ext cx="4592450" cy="7635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200" dirty="0">
                <a:solidFill>
                  <a:schemeClr val="bg1"/>
                </a:solidFill>
                <a:latin typeface="+mn-lt"/>
                <a:cs typeface="Aharoni" panose="02010803020104030203" pitchFamily="2" charset="-79"/>
              </a:rPr>
            </a:br>
            <a:r>
              <a:rPr lang="en-US" sz="3200" dirty="0">
                <a:solidFill>
                  <a:schemeClr val="bg1"/>
                </a:solidFill>
                <a:latin typeface="+mn-lt"/>
                <a:cs typeface="Aharoni" panose="02010803020104030203" pitchFamily="2" charset="-79"/>
              </a:rPr>
              <a:t>Research Questions</a:t>
            </a:r>
            <a:br>
              <a:rPr lang="en-US" sz="3200" dirty="0">
                <a:latin typeface="+mn-lt"/>
              </a:rPr>
            </a:br>
            <a:endParaRPr lang="en-US" sz="32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141613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8912"/>
            <a:ext cx="8229600" cy="763588"/>
          </a:xfrm>
        </p:spPr>
        <p:txBody>
          <a:bodyPr>
            <a:normAutofit fontScale="90000"/>
          </a:bodyPr>
          <a:lstStyle/>
          <a:p>
            <a:pPr algn="l"/>
            <a:br>
              <a:rPr lang="en-US" sz="4000" dirty="0">
                <a:solidFill>
                  <a:schemeClr val="bg1"/>
                </a:solidFill>
                <a:latin typeface="+mn-lt"/>
                <a:cs typeface="Aharoni" panose="02010803020104030203" pitchFamily="2" charset="-79"/>
              </a:rPr>
            </a:br>
            <a:r>
              <a:rPr lang="en-US" sz="4000" dirty="0">
                <a:solidFill>
                  <a:schemeClr val="bg1"/>
                </a:solidFill>
                <a:latin typeface="+mn-lt"/>
                <a:cs typeface="Aharoni" panose="02010803020104030203" pitchFamily="2" charset="-79"/>
              </a:rPr>
              <a:t>Social Media Analytics</a:t>
            </a:r>
            <a:br>
              <a:rPr lang="en-US" sz="1600" i="0" dirty="0">
                <a:effectLst/>
                <a:latin typeface="+mn-lt"/>
              </a:rPr>
            </a:br>
            <a:endParaRPr lang="en-US" sz="4000" dirty="0">
              <a:solidFill>
                <a:schemeClr val="bg1"/>
              </a:solidFill>
              <a:latin typeface="+mn-lt"/>
              <a:cs typeface="Aharoni" panose="02010803020104030203" pitchFamily="2" charset="-79"/>
            </a:endParaRPr>
          </a:p>
        </p:txBody>
      </p:sp>
      <p:sp>
        <p:nvSpPr>
          <p:cNvPr id="3" name="Slide Number Placeholder 2">
            <a:extLst>
              <a:ext uri="{FF2B5EF4-FFF2-40B4-BE49-F238E27FC236}">
                <a16:creationId xmlns:a16="http://schemas.microsoft.com/office/drawing/2014/main" id="{7014162E-5747-43E3-9619-B5E3CE4B6A2C}"/>
              </a:ext>
            </a:extLst>
          </p:cNvPr>
          <p:cNvSpPr>
            <a:spLocks noGrp="1"/>
          </p:cNvSpPr>
          <p:nvPr>
            <p:ph type="sldNum" sz="quarter" idx="12"/>
          </p:nvPr>
        </p:nvSpPr>
        <p:spPr/>
        <p:txBody>
          <a:bodyPr/>
          <a:lstStyle/>
          <a:p>
            <a:fld id="{85F881A0-7E4F-4F05-8C98-13E0A3A62794}" type="slidenum">
              <a:rPr lang="en-US" smtClean="0"/>
              <a:pPr/>
              <a:t>5</a:t>
            </a:fld>
            <a:endParaRPr lang="en-US"/>
          </a:p>
        </p:txBody>
      </p:sp>
      <p:sp>
        <p:nvSpPr>
          <p:cNvPr id="9" name="Rectangle 8">
            <a:extLst>
              <a:ext uri="{FF2B5EF4-FFF2-40B4-BE49-F238E27FC236}">
                <a16:creationId xmlns:a16="http://schemas.microsoft.com/office/drawing/2014/main" id="{56D47CBA-63D0-447E-B4CB-2FD5FE0A483E}"/>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sp>
        <p:nvSpPr>
          <p:cNvPr id="10" name="Title 1">
            <a:extLst>
              <a:ext uri="{FF2B5EF4-FFF2-40B4-BE49-F238E27FC236}">
                <a16:creationId xmlns:a16="http://schemas.microsoft.com/office/drawing/2014/main" id="{6916AE0D-86F6-493E-9998-782374F5FFD3}"/>
              </a:ext>
            </a:extLst>
          </p:cNvPr>
          <p:cNvSpPr txBox="1">
            <a:spLocks/>
          </p:cNvSpPr>
          <p:nvPr/>
        </p:nvSpPr>
        <p:spPr>
          <a:xfrm>
            <a:off x="0" y="126963"/>
            <a:ext cx="8229600" cy="7635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3200" dirty="0">
              <a:solidFill>
                <a:schemeClr val="bg1"/>
              </a:solidFill>
              <a:latin typeface="+mn-lt"/>
              <a:cs typeface="Aharoni" panose="02010803020104030203" pitchFamily="2" charset="-79"/>
            </a:endParaRPr>
          </a:p>
        </p:txBody>
      </p:sp>
      <p:sp>
        <p:nvSpPr>
          <p:cNvPr id="32" name="Title 1">
            <a:extLst>
              <a:ext uri="{FF2B5EF4-FFF2-40B4-BE49-F238E27FC236}">
                <a16:creationId xmlns:a16="http://schemas.microsoft.com/office/drawing/2014/main" id="{26463584-D79E-4728-8E16-2778D34352DD}"/>
              </a:ext>
            </a:extLst>
          </p:cNvPr>
          <p:cNvSpPr txBox="1">
            <a:spLocks/>
          </p:cNvSpPr>
          <p:nvPr/>
        </p:nvSpPr>
        <p:spPr>
          <a:xfrm>
            <a:off x="228600" y="125422"/>
            <a:ext cx="8229600" cy="7635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200" dirty="0">
                <a:solidFill>
                  <a:schemeClr val="bg1"/>
                </a:solidFill>
                <a:latin typeface="+mn-lt"/>
                <a:cs typeface="Aharoni" panose="02010803020104030203" pitchFamily="2" charset="-79"/>
              </a:rPr>
            </a:br>
            <a:br>
              <a:rPr lang="en-US" sz="3200" dirty="0">
                <a:solidFill>
                  <a:schemeClr val="bg1"/>
                </a:solidFill>
                <a:latin typeface="+mn-lt"/>
                <a:cs typeface="Aharoni" panose="02010803020104030203" pitchFamily="2" charset="-79"/>
              </a:rPr>
            </a:br>
            <a:r>
              <a:rPr lang="en-US" sz="3200" dirty="0">
                <a:solidFill>
                  <a:schemeClr val="bg1"/>
                </a:solidFill>
                <a:latin typeface="+mn-lt"/>
                <a:cs typeface="Aharoni" panose="02010803020104030203" pitchFamily="2" charset="-79"/>
              </a:rPr>
              <a:t>Research Methodology</a:t>
            </a:r>
            <a:br>
              <a:rPr lang="en-US" sz="3200" dirty="0">
                <a:latin typeface="+mn-lt"/>
              </a:rPr>
            </a:br>
            <a:br>
              <a:rPr lang="en-US" sz="3200" dirty="0">
                <a:latin typeface="+mn-lt"/>
              </a:rPr>
            </a:br>
            <a:endParaRPr lang="en-US" sz="3200" dirty="0">
              <a:solidFill>
                <a:schemeClr val="bg1"/>
              </a:solidFill>
              <a:latin typeface="+mn-lt"/>
              <a:cs typeface="Aharoni" panose="02010803020104030203" pitchFamily="2" charset="-79"/>
            </a:endParaRPr>
          </a:p>
        </p:txBody>
      </p:sp>
      <p:sp>
        <p:nvSpPr>
          <p:cNvPr id="29" name="TextBox 28">
            <a:extLst>
              <a:ext uri="{FF2B5EF4-FFF2-40B4-BE49-F238E27FC236}">
                <a16:creationId xmlns:a16="http://schemas.microsoft.com/office/drawing/2014/main" id="{2ED88338-D392-481C-8F16-597B85E297E4}"/>
              </a:ext>
            </a:extLst>
          </p:cNvPr>
          <p:cNvSpPr txBox="1"/>
          <p:nvPr/>
        </p:nvSpPr>
        <p:spPr>
          <a:xfrm>
            <a:off x="228600" y="1266874"/>
            <a:ext cx="4114800" cy="2264081"/>
          </a:xfrm>
          <a:prstGeom prst="rect">
            <a:avLst/>
          </a:prstGeom>
          <a:noFill/>
          <a:ln w="19050">
            <a:solidFill>
              <a:schemeClr val="accent5">
                <a:lumMod val="75000"/>
              </a:schemeClr>
            </a:solidFill>
          </a:ln>
        </p:spPr>
        <p:txBody>
          <a:bodyPr wrap="square" rtlCol="0">
            <a:spAutoFit/>
          </a:bodyPr>
          <a:lstStyle/>
          <a:p>
            <a:pPr>
              <a:lnSpc>
                <a:spcPct val="150000"/>
              </a:lnSpc>
            </a:pPr>
            <a:r>
              <a:rPr lang="en-US" sz="1600" b="1" dirty="0">
                <a:solidFill>
                  <a:schemeClr val="accent6">
                    <a:lumMod val="75000"/>
                  </a:schemeClr>
                </a:solidFill>
                <a:latin typeface="Times New Roman" panose="02020603050405020304" pitchFamily="18" charset="0"/>
                <a:cs typeface="Times New Roman" panose="02020603050405020304" pitchFamily="18" charset="0"/>
              </a:rPr>
              <a:t>First</a:t>
            </a:r>
            <a:r>
              <a:rPr lang="en-US" sz="1600" dirty="0">
                <a:solidFill>
                  <a:schemeClr val="accent6">
                    <a:lumMod val="75000"/>
                  </a:schemeClr>
                </a:solidFill>
                <a:latin typeface="Times New Roman" panose="02020603050405020304" pitchFamily="18" charset="0"/>
                <a:cs typeface="Times New Roman" panose="02020603050405020304" pitchFamily="18" charset="0"/>
              </a:rPr>
              <a:t>: </a:t>
            </a:r>
            <a:r>
              <a:rPr lang="en-GB" sz="1600" dirty="0">
                <a:solidFill>
                  <a:schemeClr val="tx1">
                    <a:lumMod val="75000"/>
                    <a:lumOff val="25000"/>
                  </a:schemeClr>
                </a:solidFill>
                <a:latin typeface="Times New Roman" panose="02020603050405020304" pitchFamily="18" charset="0"/>
                <a:cs typeface="Times New Roman" panose="02020603050405020304" pitchFamily="18" charset="0"/>
              </a:rPr>
              <a:t>We classified papers related to social media data analytics into 4 categories:</a:t>
            </a:r>
          </a:p>
          <a:p>
            <a:pPr marL="457200" indent="-342900">
              <a:lnSpc>
                <a:spcPct val="150000"/>
              </a:lnSpc>
              <a:buFont typeface="+mj-lt"/>
              <a:buAutoNum type="arabicPeriod"/>
            </a:pPr>
            <a:r>
              <a:rPr lang="en-US" sz="1600" dirty="0">
                <a:effectLst/>
                <a:ea typeface="Calibri" panose="020F0502020204030204" pitchFamily="34" charset="0"/>
                <a:cs typeface="Arial" panose="020B0604020202020204" pitchFamily="34" charset="0"/>
              </a:rPr>
              <a:t>Task-oriented research</a:t>
            </a:r>
          </a:p>
          <a:p>
            <a:pPr marL="457200" indent="-342900">
              <a:lnSpc>
                <a:spcPct val="150000"/>
              </a:lnSpc>
              <a:buFont typeface="+mj-lt"/>
              <a:buAutoNum type="arabicPeriod"/>
            </a:pPr>
            <a:r>
              <a:rPr lang="en-US" sz="1600" dirty="0">
                <a:effectLst/>
                <a:ea typeface="Calibri" panose="020F0502020204030204" pitchFamily="34" charset="0"/>
                <a:cs typeface="Arial" panose="020B0604020202020204" pitchFamily="34" charset="0"/>
              </a:rPr>
              <a:t>Approach-oriented research</a:t>
            </a:r>
          </a:p>
          <a:p>
            <a:pPr marL="457200" indent="-342900">
              <a:lnSpc>
                <a:spcPct val="150000"/>
              </a:lnSpc>
              <a:buFont typeface="+mj-lt"/>
              <a:buAutoNum type="arabicPeriod"/>
            </a:pPr>
            <a:r>
              <a:rPr lang="en-US" sz="1600" dirty="0">
                <a:effectLst/>
                <a:ea typeface="Calibri" panose="020F0502020204030204" pitchFamily="34" charset="0"/>
                <a:cs typeface="Arial" panose="020B0604020202020204" pitchFamily="34" charset="0"/>
              </a:rPr>
              <a:t>Technique- oriented research</a:t>
            </a:r>
          </a:p>
          <a:p>
            <a:pPr marL="457200" indent="-342900">
              <a:lnSpc>
                <a:spcPct val="150000"/>
              </a:lnSpc>
              <a:buFont typeface="+mj-lt"/>
              <a:buAutoNum type="arabicPeriod"/>
            </a:pPr>
            <a:r>
              <a:rPr lang="en-US" sz="1600" dirty="0">
                <a:effectLst/>
                <a:ea typeface="Calibri" panose="020F0502020204030204" pitchFamily="34" charset="0"/>
                <a:cs typeface="Arial" panose="020B0604020202020204" pitchFamily="34" charset="0"/>
              </a:rPr>
              <a:t>Application-oriented research</a:t>
            </a:r>
          </a:p>
        </p:txBody>
      </p:sp>
      <p:sp>
        <p:nvSpPr>
          <p:cNvPr id="35" name="TextBox 34">
            <a:extLst>
              <a:ext uri="{FF2B5EF4-FFF2-40B4-BE49-F238E27FC236}">
                <a16:creationId xmlns:a16="http://schemas.microsoft.com/office/drawing/2014/main" id="{D9CF5DEF-5168-479A-80EF-ED4798906E8F}"/>
              </a:ext>
            </a:extLst>
          </p:cNvPr>
          <p:cNvSpPr txBox="1"/>
          <p:nvPr/>
        </p:nvSpPr>
        <p:spPr>
          <a:xfrm>
            <a:off x="228600" y="3860756"/>
            <a:ext cx="4114800" cy="2633413"/>
          </a:xfrm>
          <a:prstGeom prst="rect">
            <a:avLst/>
          </a:prstGeom>
          <a:noFill/>
          <a:ln w="19050">
            <a:solidFill>
              <a:schemeClr val="accent5">
                <a:lumMod val="75000"/>
              </a:schemeClr>
            </a:solidFill>
          </a:ln>
        </p:spPr>
        <p:txBody>
          <a:bodyPr wrap="square" rtlCol="0">
            <a:spAutoFit/>
          </a:bodyPr>
          <a:lstStyle>
            <a:defPPr>
              <a:defRPr lang="en-US"/>
            </a:defPPr>
            <a:lvl1pPr>
              <a:lnSpc>
                <a:spcPct val="150000"/>
              </a:lnSpc>
              <a:defRPr sz="1600" b="1">
                <a:solidFill>
                  <a:schemeClr val="accent2">
                    <a:lumMod val="75000"/>
                  </a:schemeClr>
                </a:solidFill>
                <a:latin typeface="Times New Roman" panose="02020603050405020304" pitchFamily="18" charset="0"/>
                <a:cs typeface="Times New Roman" panose="02020603050405020304" pitchFamily="18" charset="0"/>
              </a:defRPr>
            </a:lvl1pPr>
          </a:lstStyle>
          <a:p>
            <a:r>
              <a:rPr lang="en-US" dirty="0">
                <a:solidFill>
                  <a:srgbClr val="0070C0"/>
                </a:solidFill>
              </a:rPr>
              <a:t>Second: </a:t>
            </a:r>
            <a:r>
              <a:rPr lang="en-US" b="0" dirty="0">
                <a:solidFill>
                  <a:schemeClr val="tx1">
                    <a:lumMod val="75000"/>
                    <a:lumOff val="25000"/>
                  </a:schemeClr>
                </a:solidFill>
              </a:rPr>
              <a:t>We used the </a:t>
            </a:r>
            <a:r>
              <a:rPr lang="en-GB" b="0" dirty="0">
                <a:solidFill>
                  <a:schemeClr val="tx1">
                    <a:lumMod val="75000"/>
                    <a:lumOff val="25000"/>
                  </a:schemeClr>
                </a:solidFill>
              </a:rPr>
              <a:t>following query strings</a:t>
            </a:r>
            <a:r>
              <a:rPr lang="en-US" b="0" dirty="0">
                <a:solidFill>
                  <a:schemeClr val="tx1">
                    <a:lumMod val="75000"/>
                    <a:lumOff val="25000"/>
                  </a:schemeClr>
                </a:solidFill>
              </a:rPr>
              <a:t> </a:t>
            </a:r>
            <a:r>
              <a:rPr lang="en-GB" b="0" dirty="0">
                <a:solidFill>
                  <a:schemeClr val="tx1">
                    <a:lumMod val="75000"/>
                    <a:lumOff val="25000"/>
                  </a:schemeClr>
                </a:solidFill>
              </a:rPr>
              <a:t>to answer the </a:t>
            </a:r>
            <a:r>
              <a:rPr lang="en-GB" dirty="0">
                <a:solidFill>
                  <a:schemeClr val="tx1">
                    <a:lumMod val="75000"/>
                    <a:lumOff val="25000"/>
                  </a:schemeClr>
                </a:solidFill>
              </a:rPr>
              <a:t>Q1:</a:t>
            </a:r>
          </a:p>
          <a:p>
            <a:r>
              <a:rPr lang="en-GB" b="0" i="1" dirty="0">
                <a:solidFill>
                  <a:schemeClr val="tx1">
                    <a:lumMod val="75000"/>
                    <a:lumOff val="25000"/>
                  </a:schemeClr>
                </a:solidFill>
              </a:rPr>
              <a:t>“social media”, “social media analysis” and “social media analytics”</a:t>
            </a:r>
          </a:p>
          <a:p>
            <a:r>
              <a:rPr lang="en-GB" b="0" dirty="0">
                <a:solidFill>
                  <a:schemeClr val="tx1">
                    <a:lumMod val="75000"/>
                    <a:lumOff val="25000"/>
                  </a:schemeClr>
                </a:solidFill>
              </a:rPr>
              <a:t>We sampled studies from </a:t>
            </a:r>
            <a:r>
              <a:rPr lang="en-GB" dirty="0">
                <a:solidFill>
                  <a:schemeClr val="tx1">
                    <a:lumMod val="75000"/>
                    <a:lumOff val="25000"/>
                  </a:schemeClr>
                </a:solidFill>
              </a:rPr>
              <a:t>the Application-oriented group</a:t>
            </a:r>
            <a:r>
              <a:rPr lang="en-GB" b="0" dirty="0">
                <a:solidFill>
                  <a:schemeClr val="tx1">
                    <a:lumMod val="75000"/>
                    <a:lumOff val="25000"/>
                  </a:schemeClr>
                </a:solidFill>
              </a:rPr>
              <a:t> related to the </a:t>
            </a:r>
            <a:r>
              <a:rPr lang="en-GB" dirty="0">
                <a:solidFill>
                  <a:schemeClr val="tx1">
                    <a:lumMod val="75000"/>
                    <a:lumOff val="25000"/>
                  </a:schemeClr>
                </a:solidFill>
              </a:rPr>
              <a:t>real-world investigations.</a:t>
            </a:r>
            <a:endParaRPr lang="en-US" dirty="0">
              <a:solidFill>
                <a:schemeClr val="tx1">
                  <a:lumMod val="75000"/>
                  <a:lumOff val="25000"/>
                </a:schemeClr>
              </a:solidFill>
            </a:endParaRPr>
          </a:p>
        </p:txBody>
      </p:sp>
      <p:sp>
        <p:nvSpPr>
          <p:cNvPr id="37" name="TextBox 36">
            <a:extLst>
              <a:ext uri="{FF2B5EF4-FFF2-40B4-BE49-F238E27FC236}">
                <a16:creationId xmlns:a16="http://schemas.microsoft.com/office/drawing/2014/main" id="{8E346255-4708-4161-9F1F-EED068C8663C}"/>
              </a:ext>
            </a:extLst>
          </p:cNvPr>
          <p:cNvSpPr txBox="1"/>
          <p:nvPr/>
        </p:nvSpPr>
        <p:spPr>
          <a:xfrm>
            <a:off x="4606834" y="1269981"/>
            <a:ext cx="4308566" cy="2633413"/>
          </a:xfrm>
          <a:prstGeom prst="rect">
            <a:avLst/>
          </a:prstGeom>
          <a:noFill/>
          <a:ln w="19050">
            <a:solidFill>
              <a:schemeClr val="accent5">
                <a:lumMod val="75000"/>
              </a:schemeClr>
            </a:solidFill>
          </a:ln>
        </p:spPr>
        <p:txBody>
          <a:bodyPr wrap="square" rtlCol="0">
            <a:spAutoFit/>
          </a:bodyPr>
          <a:lstStyle>
            <a:defPPr>
              <a:defRPr lang="en-US"/>
            </a:defPPr>
            <a:lvl1pPr>
              <a:lnSpc>
                <a:spcPct val="150000"/>
              </a:lnSpc>
              <a:defRPr sz="1600" b="1">
                <a:solidFill>
                  <a:schemeClr val="accent2">
                    <a:lumMod val="75000"/>
                  </a:schemeClr>
                </a:solidFill>
                <a:latin typeface="Times New Roman" panose="02020603050405020304" pitchFamily="18" charset="0"/>
                <a:cs typeface="Times New Roman" panose="02020603050405020304" pitchFamily="18" charset="0"/>
              </a:defRPr>
            </a:lvl1pPr>
          </a:lstStyle>
          <a:p>
            <a:r>
              <a:rPr lang="en-US" dirty="0">
                <a:solidFill>
                  <a:schemeClr val="accent4"/>
                </a:solidFill>
              </a:rPr>
              <a:t>Third: </a:t>
            </a:r>
            <a:r>
              <a:rPr lang="en-US" b="0" dirty="0">
                <a:solidFill>
                  <a:schemeClr val="tx1">
                    <a:lumMod val="75000"/>
                    <a:lumOff val="25000"/>
                  </a:schemeClr>
                </a:solidFill>
              </a:rPr>
              <a:t>we constructed new queries by combining each of the Q1 results with the previous queries to answer </a:t>
            </a:r>
            <a:r>
              <a:rPr lang="en-US" dirty="0">
                <a:solidFill>
                  <a:schemeClr val="tx1">
                    <a:lumMod val="75000"/>
                    <a:lumOff val="25000"/>
                  </a:schemeClr>
                </a:solidFill>
              </a:rPr>
              <a:t>Q2:</a:t>
            </a:r>
          </a:p>
          <a:p>
            <a:r>
              <a:rPr lang="en-US" b="0" i="1" dirty="0">
                <a:solidFill>
                  <a:schemeClr val="tx1">
                    <a:lumMod val="75000"/>
                    <a:lumOff val="25000"/>
                  </a:schemeClr>
                </a:solidFill>
              </a:rPr>
              <a:t> “social media analysis” AND </a:t>
            </a:r>
            <a:r>
              <a:rPr lang="en-US" b="0" i="1" dirty="0">
                <a:solidFill>
                  <a:schemeClr val="accent1"/>
                </a:solidFill>
              </a:rPr>
              <a:t>“public health” </a:t>
            </a:r>
            <a:r>
              <a:rPr lang="en-US" b="0" i="1" dirty="0">
                <a:solidFill>
                  <a:schemeClr val="tx1">
                    <a:lumMod val="75000"/>
                    <a:lumOff val="25000"/>
                  </a:schemeClr>
                </a:solidFill>
              </a:rPr>
              <a:t>(Boolean AND).</a:t>
            </a:r>
          </a:p>
          <a:p>
            <a:r>
              <a:rPr lang="en-GB" b="0" dirty="0">
                <a:solidFill>
                  <a:schemeClr val="tx1">
                    <a:lumMod val="75000"/>
                    <a:lumOff val="25000"/>
                  </a:schemeClr>
                </a:solidFill>
              </a:rPr>
              <a:t>We sampled studies from the </a:t>
            </a:r>
            <a:r>
              <a:rPr lang="en-GB" dirty="0">
                <a:solidFill>
                  <a:schemeClr val="tx1">
                    <a:lumMod val="75000"/>
                    <a:lumOff val="25000"/>
                  </a:schemeClr>
                </a:solidFill>
              </a:rPr>
              <a:t>Approach-oriented group.</a:t>
            </a:r>
          </a:p>
        </p:txBody>
      </p:sp>
      <p:sp>
        <p:nvSpPr>
          <p:cNvPr id="40" name="TextBox 39">
            <a:extLst>
              <a:ext uri="{FF2B5EF4-FFF2-40B4-BE49-F238E27FC236}">
                <a16:creationId xmlns:a16="http://schemas.microsoft.com/office/drawing/2014/main" id="{FBAA1C79-4E56-4F96-9E58-3F663EBA752B}"/>
              </a:ext>
            </a:extLst>
          </p:cNvPr>
          <p:cNvSpPr txBox="1"/>
          <p:nvPr/>
        </p:nvSpPr>
        <p:spPr>
          <a:xfrm>
            <a:off x="4597036" y="4252598"/>
            <a:ext cx="4318363" cy="1745093"/>
          </a:xfrm>
          <a:prstGeom prst="rect">
            <a:avLst/>
          </a:prstGeom>
          <a:noFill/>
          <a:ln w="19050">
            <a:solidFill>
              <a:schemeClr val="accent5">
                <a:lumMod val="75000"/>
              </a:schemeClr>
            </a:solidFill>
          </a:ln>
        </p:spPr>
        <p:txBody>
          <a:bodyPr wrap="square" rtlCol="0">
            <a:spAutoFit/>
          </a:bodyPr>
          <a:lstStyle>
            <a:defPPr>
              <a:defRPr lang="en-US"/>
            </a:defPPr>
            <a:lvl1pPr>
              <a:lnSpc>
                <a:spcPct val="150000"/>
              </a:lnSpc>
              <a:defRPr sz="1600" b="1">
                <a:solidFill>
                  <a:schemeClr val="accent2">
                    <a:lumMod val="75000"/>
                  </a:schemeClr>
                </a:solidFill>
                <a:latin typeface="Times New Roman" panose="02020603050405020304" pitchFamily="18" charset="0"/>
                <a:cs typeface="Times New Roman" panose="02020603050405020304" pitchFamily="18" charset="0"/>
              </a:defRPr>
            </a:lvl1pPr>
          </a:lstStyle>
          <a:p>
            <a:pPr algn="just">
              <a:spcAft>
                <a:spcPts val="600"/>
              </a:spcAft>
            </a:pPr>
            <a:r>
              <a:rPr lang="en-US" dirty="0">
                <a:solidFill>
                  <a:schemeClr val="accent2"/>
                </a:solidFill>
              </a:rPr>
              <a:t>Finally</a:t>
            </a:r>
            <a:r>
              <a:rPr lang="en-US" dirty="0">
                <a:solidFill>
                  <a:schemeClr val="accent4"/>
                </a:solidFill>
              </a:rPr>
              <a:t>: </a:t>
            </a:r>
            <a:r>
              <a:rPr lang="en-GB" b="0" dirty="0">
                <a:solidFill>
                  <a:schemeClr val="tx1">
                    <a:lumMod val="75000"/>
                    <a:lumOff val="25000"/>
                  </a:schemeClr>
                </a:solidFill>
              </a:rPr>
              <a:t>we also created queries by combining the approaches and first queries to find the distribution of  most used approaches</a:t>
            </a:r>
          </a:p>
          <a:p>
            <a:pPr algn="just">
              <a:lnSpc>
                <a:spcPct val="95000"/>
              </a:lnSpc>
              <a:spcAft>
                <a:spcPts val="600"/>
              </a:spcAft>
            </a:pPr>
            <a:r>
              <a:rPr lang="en-GB" b="0" i="1" dirty="0">
                <a:solidFill>
                  <a:schemeClr val="tx1">
                    <a:lumMod val="75000"/>
                    <a:lumOff val="25000"/>
                  </a:schemeClr>
                </a:solidFill>
              </a:rPr>
              <a:t>“social media analysis” AND </a:t>
            </a:r>
            <a:r>
              <a:rPr lang="en-GB" b="0" i="1" dirty="0">
                <a:solidFill>
                  <a:schemeClr val="accent4"/>
                </a:solidFill>
              </a:rPr>
              <a:t>“sentiment analysis”</a:t>
            </a:r>
            <a:r>
              <a:rPr lang="en-GB" b="0" i="1" dirty="0">
                <a:solidFill>
                  <a:schemeClr val="tx1">
                    <a:lumMod val="75000"/>
                    <a:lumOff val="25000"/>
                  </a:schemeClr>
                </a:solidFill>
              </a:rPr>
              <a:t>.</a:t>
            </a:r>
          </a:p>
        </p:txBody>
      </p:sp>
    </p:spTree>
    <p:extLst>
      <p:ext uri="{BB962C8B-B14F-4D97-AF65-F5344CB8AC3E}">
        <p14:creationId xmlns:p14="http://schemas.microsoft.com/office/powerpoint/2010/main" val="148413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barn(inVertic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arn(inVertical)">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arn(inVertical)">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37" grpId="0" animBg="1"/>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1398587"/>
            <a:ext cx="8382000" cy="4858522"/>
          </a:xfrm>
        </p:spPr>
        <p:txBody>
          <a:bodyPr>
            <a:normAutofit/>
          </a:bodyPr>
          <a:lstStyle/>
          <a:p>
            <a:pPr marL="457200" lvl="1" indent="0">
              <a:buNone/>
            </a:pPr>
            <a:endParaRPr lang="en-US" b="1" dirty="0">
              <a:latin typeface="Candara" panose="020E0502030303020204" pitchFamily="34" charset="0"/>
            </a:endParaRPr>
          </a:p>
          <a:p>
            <a:pPr marL="457200" lvl="1" indent="0">
              <a:buNone/>
            </a:pPr>
            <a:endParaRPr lang="en-US" b="1" dirty="0">
              <a:latin typeface="Candara" panose="020E0502030303020204" pitchFamily="34" charset="0"/>
            </a:endParaRPr>
          </a:p>
        </p:txBody>
      </p:sp>
      <p:sp>
        <p:nvSpPr>
          <p:cNvPr id="3" name="Slide Number Placeholder 2">
            <a:extLst>
              <a:ext uri="{FF2B5EF4-FFF2-40B4-BE49-F238E27FC236}">
                <a16:creationId xmlns:a16="http://schemas.microsoft.com/office/drawing/2014/main" id="{ACE14572-BA0A-4399-A2C2-08D48CAF4EE1}"/>
              </a:ext>
            </a:extLst>
          </p:cNvPr>
          <p:cNvSpPr>
            <a:spLocks noGrp="1"/>
          </p:cNvSpPr>
          <p:nvPr>
            <p:ph type="sldNum" sz="quarter" idx="12"/>
          </p:nvPr>
        </p:nvSpPr>
        <p:spPr/>
        <p:txBody>
          <a:bodyPr/>
          <a:lstStyle/>
          <a:p>
            <a:fld id="{85F881A0-7E4F-4F05-8C98-13E0A3A62794}" type="slidenum">
              <a:rPr lang="en-US" smtClean="0"/>
              <a:pPr/>
              <a:t>6</a:t>
            </a:fld>
            <a:endParaRPr lang="en-US"/>
          </a:p>
        </p:txBody>
      </p:sp>
      <p:graphicFrame>
        <p:nvGraphicFramePr>
          <p:cNvPr id="10" name="Content Placeholder 9">
            <a:extLst>
              <a:ext uri="{FF2B5EF4-FFF2-40B4-BE49-F238E27FC236}">
                <a16:creationId xmlns:a16="http://schemas.microsoft.com/office/drawing/2014/main" id="{3BF42608-05E5-4D4D-A8DE-43FA5B2B7001}"/>
              </a:ext>
            </a:extLst>
          </p:cNvPr>
          <p:cNvGraphicFramePr>
            <a:graphicFrameLocks/>
          </p:cNvGraphicFramePr>
          <p:nvPr>
            <p:extLst>
              <p:ext uri="{D42A27DB-BD31-4B8C-83A1-F6EECF244321}">
                <p14:modId xmlns:p14="http://schemas.microsoft.com/office/powerpoint/2010/main" val="582091995"/>
              </p:ext>
            </p:extLst>
          </p:nvPr>
        </p:nvGraphicFramePr>
        <p:xfrm>
          <a:off x="3810000" y="1590803"/>
          <a:ext cx="4991100" cy="3952875"/>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a:extLst>
              <a:ext uri="{FF2B5EF4-FFF2-40B4-BE49-F238E27FC236}">
                <a16:creationId xmlns:a16="http://schemas.microsoft.com/office/drawing/2014/main" id="{FA04F920-F412-421C-A227-2221ACC942DC}"/>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9" name="Group 8">
            <a:extLst>
              <a:ext uri="{FF2B5EF4-FFF2-40B4-BE49-F238E27FC236}">
                <a16:creationId xmlns:a16="http://schemas.microsoft.com/office/drawing/2014/main" id="{1E785517-5DDF-457F-AEF2-D8EE31A059C1}"/>
              </a:ext>
            </a:extLst>
          </p:cNvPr>
          <p:cNvGrpSpPr/>
          <p:nvPr/>
        </p:nvGrpSpPr>
        <p:grpSpPr>
          <a:xfrm>
            <a:off x="457200" y="1405960"/>
            <a:ext cx="3125777" cy="3024946"/>
            <a:chOff x="457200" y="1405960"/>
            <a:chExt cx="3125777" cy="3024946"/>
          </a:xfrm>
        </p:grpSpPr>
        <p:grpSp>
          <p:nvGrpSpPr>
            <p:cNvPr id="7" name="Group 6">
              <a:extLst>
                <a:ext uri="{FF2B5EF4-FFF2-40B4-BE49-F238E27FC236}">
                  <a16:creationId xmlns:a16="http://schemas.microsoft.com/office/drawing/2014/main" id="{188BEB61-C5DE-4A5B-9520-8A9D24429AEA}"/>
                </a:ext>
              </a:extLst>
            </p:cNvPr>
            <p:cNvGrpSpPr/>
            <p:nvPr/>
          </p:nvGrpSpPr>
          <p:grpSpPr>
            <a:xfrm>
              <a:off x="457200" y="1405960"/>
              <a:ext cx="2428615" cy="400110"/>
              <a:chOff x="847985" y="3927633"/>
              <a:chExt cx="2428615" cy="400110"/>
            </a:xfrm>
          </p:grpSpPr>
          <p:grpSp>
            <p:nvGrpSpPr>
              <p:cNvPr id="19" name="Group 18">
                <a:extLst>
                  <a:ext uri="{FF2B5EF4-FFF2-40B4-BE49-F238E27FC236}">
                    <a16:creationId xmlns:a16="http://schemas.microsoft.com/office/drawing/2014/main" id="{E2B57F35-178C-452C-8269-31DE61EC9868}"/>
                  </a:ext>
                </a:extLst>
              </p:cNvPr>
              <p:cNvGrpSpPr/>
              <p:nvPr/>
            </p:nvGrpSpPr>
            <p:grpSpPr>
              <a:xfrm>
                <a:off x="847985" y="4038600"/>
                <a:ext cx="199272" cy="206152"/>
                <a:chOff x="2411760" y="3708613"/>
                <a:chExt cx="206152" cy="206152"/>
              </a:xfrm>
            </p:grpSpPr>
            <p:sp>
              <p:nvSpPr>
                <p:cNvPr id="23" name="Oval 22">
                  <a:extLst>
                    <a:ext uri="{FF2B5EF4-FFF2-40B4-BE49-F238E27FC236}">
                      <a16:creationId xmlns:a16="http://schemas.microsoft.com/office/drawing/2014/main" id="{A547D54F-43B5-4829-97C3-E0582FCADF7A}"/>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4" name="Chevron 45">
                  <a:extLst>
                    <a:ext uri="{FF2B5EF4-FFF2-40B4-BE49-F238E27FC236}">
                      <a16:creationId xmlns:a16="http://schemas.microsoft.com/office/drawing/2014/main" id="{AB7AB7FF-5BF5-4CA8-9760-68222A4E7FF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1" name="TextBox 20">
                <a:extLst>
                  <a:ext uri="{FF2B5EF4-FFF2-40B4-BE49-F238E27FC236}">
                    <a16:creationId xmlns:a16="http://schemas.microsoft.com/office/drawing/2014/main" id="{1AA8F26C-1EEA-43DC-8708-3D05332B4FD0}"/>
                  </a:ext>
                </a:extLst>
              </p:cNvPr>
              <p:cNvSpPr txBox="1"/>
              <p:nvPr/>
            </p:nvSpPr>
            <p:spPr>
              <a:xfrm>
                <a:off x="1098666" y="3927633"/>
                <a:ext cx="2177934" cy="400110"/>
              </a:xfrm>
              <a:prstGeom prst="rect">
                <a:avLst/>
              </a:prstGeom>
              <a:noFill/>
            </p:spPr>
            <p:txBody>
              <a:bodyPr wrap="square" rtlCol="0" anchor="ctr">
                <a:spAutoFit/>
              </a:bodyPr>
              <a:lstStyle/>
              <a:p>
                <a:pPr marL="0" lvl="1"/>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Disaster studies</a:t>
                </a:r>
              </a:p>
            </p:txBody>
          </p:sp>
        </p:grpSp>
        <p:grpSp>
          <p:nvGrpSpPr>
            <p:cNvPr id="8" name="Group 7">
              <a:extLst>
                <a:ext uri="{FF2B5EF4-FFF2-40B4-BE49-F238E27FC236}">
                  <a16:creationId xmlns:a16="http://schemas.microsoft.com/office/drawing/2014/main" id="{95D8874F-D496-4657-8027-8EC4AAEABA98}"/>
                </a:ext>
              </a:extLst>
            </p:cNvPr>
            <p:cNvGrpSpPr/>
            <p:nvPr/>
          </p:nvGrpSpPr>
          <p:grpSpPr>
            <a:xfrm>
              <a:off x="457200" y="1971513"/>
              <a:ext cx="3125777" cy="400110"/>
              <a:chOff x="847985" y="4400490"/>
              <a:chExt cx="3125777" cy="400110"/>
            </a:xfrm>
          </p:grpSpPr>
          <p:grpSp>
            <p:nvGrpSpPr>
              <p:cNvPr id="26" name="Group 25">
                <a:extLst>
                  <a:ext uri="{FF2B5EF4-FFF2-40B4-BE49-F238E27FC236}">
                    <a16:creationId xmlns:a16="http://schemas.microsoft.com/office/drawing/2014/main" id="{574321A5-2D36-4550-9224-107E9D75D494}"/>
                  </a:ext>
                </a:extLst>
              </p:cNvPr>
              <p:cNvGrpSpPr/>
              <p:nvPr/>
            </p:nvGrpSpPr>
            <p:grpSpPr>
              <a:xfrm>
                <a:off x="847985" y="4508119"/>
                <a:ext cx="199272" cy="206152"/>
                <a:chOff x="2411760" y="3708613"/>
                <a:chExt cx="206152" cy="206152"/>
              </a:xfrm>
            </p:grpSpPr>
            <p:sp>
              <p:nvSpPr>
                <p:cNvPr id="28" name="Oval 27">
                  <a:extLst>
                    <a:ext uri="{FF2B5EF4-FFF2-40B4-BE49-F238E27FC236}">
                      <a16:creationId xmlns:a16="http://schemas.microsoft.com/office/drawing/2014/main" id="{511FD80E-8C12-44AD-818F-55EA5367D8C9}"/>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9" name="Chevron 45">
                  <a:extLst>
                    <a:ext uri="{FF2B5EF4-FFF2-40B4-BE49-F238E27FC236}">
                      <a16:creationId xmlns:a16="http://schemas.microsoft.com/office/drawing/2014/main" id="{3BCA47D9-6002-46CE-8323-61D33203717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7" name="TextBox 26">
                <a:extLst>
                  <a:ext uri="{FF2B5EF4-FFF2-40B4-BE49-F238E27FC236}">
                    <a16:creationId xmlns:a16="http://schemas.microsoft.com/office/drawing/2014/main" id="{95A5DB0F-6366-4229-AEAC-35112087274B}"/>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Urban planning studies</a:t>
                </a:r>
              </a:p>
            </p:txBody>
          </p:sp>
        </p:grpSp>
        <p:grpSp>
          <p:nvGrpSpPr>
            <p:cNvPr id="30" name="Group 29">
              <a:extLst>
                <a:ext uri="{FF2B5EF4-FFF2-40B4-BE49-F238E27FC236}">
                  <a16:creationId xmlns:a16="http://schemas.microsoft.com/office/drawing/2014/main" id="{20892220-179C-436C-B9B3-3A4C02DFE895}"/>
                </a:ext>
              </a:extLst>
            </p:cNvPr>
            <p:cNvGrpSpPr/>
            <p:nvPr/>
          </p:nvGrpSpPr>
          <p:grpSpPr>
            <a:xfrm>
              <a:off x="457200" y="2493572"/>
              <a:ext cx="3125777" cy="400110"/>
              <a:chOff x="847985" y="4400490"/>
              <a:chExt cx="3125777" cy="400110"/>
            </a:xfrm>
          </p:grpSpPr>
          <p:grpSp>
            <p:nvGrpSpPr>
              <p:cNvPr id="31" name="Group 30">
                <a:extLst>
                  <a:ext uri="{FF2B5EF4-FFF2-40B4-BE49-F238E27FC236}">
                    <a16:creationId xmlns:a16="http://schemas.microsoft.com/office/drawing/2014/main" id="{B7A885D4-2E70-471D-9D15-BC5683BCEAB5}"/>
                  </a:ext>
                </a:extLst>
              </p:cNvPr>
              <p:cNvGrpSpPr/>
              <p:nvPr/>
            </p:nvGrpSpPr>
            <p:grpSpPr>
              <a:xfrm>
                <a:off x="847985" y="4508119"/>
                <a:ext cx="199272" cy="206152"/>
                <a:chOff x="2411760" y="3708613"/>
                <a:chExt cx="206152" cy="206152"/>
              </a:xfrm>
            </p:grpSpPr>
            <p:sp>
              <p:nvSpPr>
                <p:cNvPr id="33" name="Oval 32">
                  <a:extLst>
                    <a:ext uri="{FF2B5EF4-FFF2-40B4-BE49-F238E27FC236}">
                      <a16:creationId xmlns:a16="http://schemas.microsoft.com/office/drawing/2014/main" id="{171FD354-4B6F-44BE-B1FD-62D8766FB980}"/>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4" name="Chevron 45">
                  <a:extLst>
                    <a:ext uri="{FF2B5EF4-FFF2-40B4-BE49-F238E27FC236}">
                      <a16:creationId xmlns:a16="http://schemas.microsoft.com/office/drawing/2014/main" id="{66126481-614B-40AD-B2DF-6CF1BEE66210}"/>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2" name="TextBox 31">
                <a:extLst>
                  <a:ext uri="{FF2B5EF4-FFF2-40B4-BE49-F238E27FC236}">
                    <a16:creationId xmlns:a16="http://schemas.microsoft.com/office/drawing/2014/main" id="{4025DE27-937D-4D66-9CBD-70C192A57B4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Public health studies</a:t>
                </a:r>
              </a:p>
            </p:txBody>
          </p:sp>
        </p:grpSp>
        <p:grpSp>
          <p:nvGrpSpPr>
            <p:cNvPr id="35" name="Group 34">
              <a:extLst>
                <a:ext uri="{FF2B5EF4-FFF2-40B4-BE49-F238E27FC236}">
                  <a16:creationId xmlns:a16="http://schemas.microsoft.com/office/drawing/2014/main" id="{EDCB7C2F-49D7-43CA-9958-FB3E408D816E}"/>
                </a:ext>
              </a:extLst>
            </p:cNvPr>
            <p:cNvGrpSpPr/>
            <p:nvPr/>
          </p:nvGrpSpPr>
          <p:grpSpPr>
            <a:xfrm>
              <a:off x="457200" y="2977436"/>
              <a:ext cx="3125777" cy="400110"/>
              <a:chOff x="847985" y="4400490"/>
              <a:chExt cx="3125777" cy="400110"/>
            </a:xfrm>
          </p:grpSpPr>
          <p:grpSp>
            <p:nvGrpSpPr>
              <p:cNvPr id="36" name="Group 35">
                <a:extLst>
                  <a:ext uri="{FF2B5EF4-FFF2-40B4-BE49-F238E27FC236}">
                    <a16:creationId xmlns:a16="http://schemas.microsoft.com/office/drawing/2014/main" id="{9988B5EF-E104-4B19-922A-A21E86E0E207}"/>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CF8F6087-05BC-4784-BF68-320041942F73}"/>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87193AD5-452A-40AD-9818-A090BEC2E2A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FA94462A-8EAF-4C2E-9697-D29E2DBDE935}"/>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Political studies</a:t>
                </a:r>
              </a:p>
            </p:txBody>
          </p:sp>
        </p:grpSp>
        <p:grpSp>
          <p:nvGrpSpPr>
            <p:cNvPr id="40" name="Group 39">
              <a:extLst>
                <a:ext uri="{FF2B5EF4-FFF2-40B4-BE49-F238E27FC236}">
                  <a16:creationId xmlns:a16="http://schemas.microsoft.com/office/drawing/2014/main" id="{0FB21B10-5EA5-4636-B536-0F9255A412A1}"/>
                </a:ext>
              </a:extLst>
            </p:cNvPr>
            <p:cNvGrpSpPr/>
            <p:nvPr/>
          </p:nvGrpSpPr>
          <p:grpSpPr>
            <a:xfrm>
              <a:off x="457200" y="4030796"/>
              <a:ext cx="3125777" cy="400110"/>
              <a:chOff x="847985" y="4400490"/>
              <a:chExt cx="3125777" cy="400110"/>
            </a:xfrm>
          </p:grpSpPr>
          <p:grpSp>
            <p:nvGrpSpPr>
              <p:cNvPr id="41" name="Group 40">
                <a:extLst>
                  <a:ext uri="{FF2B5EF4-FFF2-40B4-BE49-F238E27FC236}">
                    <a16:creationId xmlns:a16="http://schemas.microsoft.com/office/drawing/2014/main" id="{94DFCF5F-32A7-48B7-8DA0-49D7B676E881}"/>
                  </a:ext>
                </a:extLst>
              </p:cNvPr>
              <p:cNvGrpSpPr/>
              <p:nvPr/>
            </p:nvGrpSpPr>
            <p:grpSpPr>
              <a:xfrm>
                <a:off x="847985" y="4508119"/>
                <a:ext cx="199272" cy="206152"/>
                <a:chOff x="2411760" y="3708613"/>
                <a:chExt cx="206152" cy="206152"/>
              </a:xfrm>
            </p:grpSpPr>
            <p:sp>
              <p:nvSpPr>
                <p:cNvPr id="43" name="Oval 42">
                  <a:extLst>
                    <a:ext uri="{FF2B5EF4-FFF2-40B4-BE49-F238E27FC236}">
                      <a16:creationId xmlns:a16="http://schemas.microsoft.com/office/drawing/2014/main" id="{7293D00F-0046-412F-983B-EB06899335C7}"/>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4" name="Chevron 45">
                  <a:extLst>
                    <a:ext uri="{FF2B5EF4-FFF2-40B4-BE49-F238E27FC236}">
                      <a16:creationId xmlns:a16="http://schemas.microsoft.com/office/drawing/2014/main" id="{5F5AD8CA-80EC-4724-B790-EB75AB65A82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2" name="TextBox 41">
                <a:extLst>
                  <a:ext uri="{FF2B5EF4-FFF2-40B4-BE49-F238E27FC236}">
                    <a16:creationId xmlns:a16="http://schemas.microsoft.com/office/drawing/2014/main" id="{70FE9F53-C084-4434-A704-9D382765428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Marketing studies</a:t>
                </a:r>
              </a:p>
            </p:txBody>
          </p:sp>
        </p:grpSp>
        <p:grpSp>
          <p:nvGrpSpPr>
            <p:cNvPr id="45" name="Group 44">
              <a:extLst>
                <a:ext uri="{FF2B5EF4-FFF2-40B4-BE49-F238E27FC236}">
                  <a16:creationId xmlns:a16="http://schemas.microsoft.com/office/drawing/2014/main" id="{589CBD94-ABAC-4E1F-8D28-DB1DC07654F4}"/>
                </a:ext>
              </a:extLst>
            </p:cNvPr>
            <p:cNvGrpSpPr/>
            <p:nvPr/>
          </p:nvGrpSpPr>
          <p:grpSpPr>
            <a:xfrm>
              <a:off x="457200" y="3502017"/>
              <a:ext cx="3125777" cy="400110"/>
              <a:chOff x="847985" y="4400490"/>
              <a:chExt cx="3125777" cy="400110"/>
            </a:xfrm>
          </p:grpSpPr>
          <p:grpSp>
            <p:nvGrpSpPr>
              <p:cNvPr id="46" name="Group 45">
                <a:extLst>
                  <a:ext uri="{FF2B5EF4-FFF2-40B4-BE49-F238E27FC236}">
                    <a16:creationId xmlns:a16="http://schemas.microsoft.com/office/drawing/2014/main" id="{F8D13068-30A7-4981-AFAC-237C630CD943}"/>
                  </a:ext>
                </a:extLst>
              </p:cNvPr>
              <p:cNvGrpSpPr/>
              <p:nvPr/>
            </p:nvGrpSpPr>
            <p:grpSpPr>
              <a:xfrm>
                <a:off x="847985" y="4508119"/>
                <a:ext cx="199272" cy="206152"/>
                <a:chOff x="2411760" y="3708613"/>
                <a:chExt cx="206152" cy="206152"/>
              </a:xfrm>
            </p:grpSpPr>
            <p:sp>
              <p:nvSpPr>
                <p:cNvPr id="48" name="Oval 47">
                  <a:extLst>
                    <a:ext uri="{FF2B5EF4-FFF2-40B4-BE49-F238E27FC236}">
                      <a16:creationId xmlns:a16="http://schemas.microsoft.com/office/drawing/2014/main" id="{BD2FEE3D-94EF-46A8-89F5-9B84FE7ABCDD}"/>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9" name="Chevron 45">
                  <a:extLst>
                    <a:ext uri="{FF2B5EF4-FFF2-40B4-BE49-F238E27FC236}">
                      <a16:creationId xmlns:a16="http://schemas.microsoft.com/office/drawing/2014/main" id="{EF99947B-55ED-4ECE-8C25-AB0C3A5974D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7" name="TextBox 46">
                <a:extLst>
                  <a:ext uri="{FF2B5EF4-FFF2-40B4-BE49-F238E27FC236}">
                    <a16:creationId xmlns:a16="http://schemas.microsoft.com/office/drawing/2014/main" id="{FF46D6F2-F044-4D5C-98B6-A907C87FAC7E}"/>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Business studies</a:t>
                </a:r>
              </a:p>
            </p:txBody>
          </p:sp>
        </p:grpSp>
      </p:grpSp>
      <p:sp>
        <p:nvSpPr>
          <p:cNvPr id="50" name="Title 1">
            <a:extLst>
              <a:ext uri="{FF2B5EF4-FFF2-40B4-BE49-F238E27FC236}">
                <a16:creationId xmlns:a16="http://schemas.microsoft.com/office/drawing/2014/main" id="{F7FD2337-8550-4D17-8BF7-082C5089C34B}"/>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US" sz="3200" dirty="0">
                <a:solidFill>
                  <a:schemeClr val="bg1"/>
                </a:solidFill>
                <a:latin typeface="+mn-lt"/>
                <a:cs typeface="Aharoni" panose="02010803020104030203" pitchFamily="2" charset="-79"/>
              </a:rPr>
              <a:t>Results: </a:t>
            </a: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Areas of Applications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311722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3062E9-06FB-4716-A941-D0ED9DD758A4}"/>
              </a:ext>
            </a:extLst>
          </p:cNvPr>
          <p:cNvSpPr>
            <a:spLocks noGrp="1"/>
          </p:cNvSpPr>
          <p:nvPr>
            <p:ph type="sldNum" sz="quarter" idx="12"/>
          </p:nvPr>
        </p:nvSpPr>
        <p:spPr/>
        <p:txBody>
          <a:bodyPr/>
          <a:lstStyle/>
          <a:p>
            <a:fld id="{85F881A0-7E4F-4F05-8C98-13E0A3A62794}" type="slidenum">
              <a:rPr lang="en-US" smtClean="0"/>
              <a:pPr/>
              <a:t>7</a:t>
            </a:fld>
            <a:endParaRPr lang="en-US"/>
          </a:p>
        </p:txBody>
      </p:sp>
      <p:graphicFrame>
        <p:nvGraphicFramePr>
          <p:cNvPr id="10" name="Content Placeholder 10">
            <a:extLst>
              <a:ext uri="{FF2B5EF4-FFF2-40B4-BE49-F238E27FC236}">
                <a16:creationId xmlns:a16="http://schemas.microsoft.com/office/drawing/2014/main" id="{B13E7887-DE73-4289-A2D7-F3260DDD815A}"/>
              </a:ext>
            </a:extLst>
          </p:cNvPr>
          <p:cNvGraphicFramePr>
            <a:graphicFrameLocks/>
          </p:cNvGraphicFramePr>
          <p:nvPr>
            <p:extLst>
              <p:ext uri="{D42A27DB-BD31-4B8C-83A1-F6EECF244321}">
                <p14:modId xmlns:p14="http://schemas.microsoft.com/office/powerpoint/2010/main" val="1996993658"/>
              </p:ext>
            </p:extLst>
          </p:nvPr>
        </p:nvGraphicFramePr>
        <p:xfrm>
          <a:off x="3886200" y="1602622"/>
          <a:ext cx="5048250" cy="4112378"/>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84610BD5-86DF-4707-A889-F69ACE06FDC7}"/>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17" name="Group 16">
            <a:extLst>
              <a:ext uri="{FF2B5EF4-FFF2-40B4-BE49-F238E27FC236}">
                <a16:creationId xmlns:a16="http://schemas.microsoft.com/office/drawing/2014/main" id="{A85401BD-9F75-46FB-A4C2-5D000A66BD6E}"/>
              </a:ext>
            </a:extLst>
          </p:cNvPr>
          <p:cNvGrpSpPr/>
          <p:nvPr/>
        </p:nvGrpSpPr>
        <p:grpSpPr>
          <a:xfrm>
            <a:off x="262587" y="1481344"/>
            <a:ext cx="3732225" cy="2887732"/>
            <a:chOff x="457200" y="1405960"/>
            <a:chExt cx="3732225" cy="2887732"/>
          </a:xfrm>
        </p:grpSpPr>
        <p:grpSp>
          <p:nvGrpSpPr>
            <p:cNvPr id="18" name="Group 17">
              <a:extLst>
                <a:ext uri="{FF2B5EF4-FFF2-40B4-BE49-F238E27FC236}">
                  <a16:creationId xmlns:a16="http://schemas.microsoft.com/office/drawing/2014/main" id="{29FCC21D-8980-41FC-A145-11F7C14EE223}"/>
                </a:ext>
              </a:extLst>
            </p:cNvPr>
            <p:cNvGrpSpPr/>
            <p:nvPr/>
          </p:nvGrpSpPr>
          <p:grpSpPr>
            <a:xfrm>
              <a:off x="457200" y="1405960"/>
              <a:ext cx="2428615" cy="400110"/>
              <a:chOff x="847985" y="3927633"/>
              <a:chExt cx="2428615" cy="400110"/>
            </a:xfrm>
          </p:grpSpPr>
          <p:grpSp>
            <p:nvGrpSpPr>
              <p:cNvPr id="44" name="Group 43">
                <a:extLst>
                  <a:ext uri="{FF2B5EF4-FFF2-40B4-BE49-F238E27FC236}">
                    <a16:creationId xmlns:a16="http://schemas.microsoft.com/office/drawing/2014/main" id="{FBA380E1-3B63-466C-952B-38A8817CC217}"/>
                  </a:ext>
                </a:extLst>
              </p:cNvPr>
              <p:cNvGrpSpPr/>
              <p:nvPr/>
            </p:nvGrpSpPr>
            <p:grpSpPr>
              <a:xfrm>
                <a:off x="847985" y="4038600"/>
                <a:ext cx="199272" cy="206152"/>
                <a:chOff x="2411760" y="3708613"/>
                <a:chExt cx="206152" cy="206152"/>
              </a:xfrm>
            </p:grpSpPr>
            <p:sp>
              <p:nvSpPr>
                <p:cNvPr id="46" name="Oval 45">
                  <a:extLst>
                    <a:ext uri="{FF2B5EF4-FFF2-40B4-BE49-F238E27FC236}">
                      <a16:creationId xmlns:a16="http://schemas.microsoft.com/office/drawing/2014/main" id="{DF9A9EB3-9753-4B74-AB6A-13746877AB6F}"/>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7" name="Chevron 45">
                  <a:extLst>
                    <a:ext uri="{FF2B5EF4-FFF2-40B4-BE49-F238E27FC236}">
                      <a16:creationId xmlns:a16="http://schemas.microsoft.com/office/drawing/2014/main" id="{3E899860-B670-4736-AFC6-E0D616B057C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5" name="TextBox 44">
                <a:extLst>
                  <a:ext uri="{FF2B5EF4-FFF2-40B4-BE49-F238E27FC236}">
                    <a16:creationId xmlns:a16="http://schemas.microsoft.com/office/drawing/2014/main" id="{A9A804D9-D9EA-4A31-B74F-8271410E89B0}"/>
                  </a:ext>
                </a:extLst>
              </p:cNvPr>
              <p:cNvSpPr txBox="1"/>
              <p:nvPr/>
            </p:nvSpPr>
            <p:spPr>
              <a:xfrm>
                <a:off x="1098666" y="3927633"/>
                <a:ext cx="217793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Topic modeling</a:t>
                </a:r>
              </a:p>
            </p:txBody>
          </p:sp>
        </p:grpSp>
        <p:grpSp>
          <p:nvGrpSpPr>
            <p:cNvPr id="19" name="Group 18">
              <a:extLst>
                <a:ext uri="{FF2B5EF4-FFF2-40B4-BE49-F238E27FC236}">
                  <a16:creationId xmlns:a16="http://schemas.microsoft.com/office/drawing/2014/main" id="{F6EA9B8C-2705-4A04-AFD8-27F78586719F}"/>
                </a:ext>
              </a:extLst>
            </p:cNvPr>
            <p:cNvGrpSpPr/>
            <p:nvPr/>
          </p:nvGrpSpPr>
          <p:grpSpPr>
            <a:xfrm>
              <a:off x="457200" y="1971513"/>
              <a:ext cx="3125777" cy="400110"/>
              <a:chOff x="847985" y="4400490"/>
              <a:chExt cx="3125777" cy="400110"/>
            </a:xfrm>
          </p:grpSpPr>
          <p:grpSp>
            <p:nvGrpSpPr>
              <p:cNvPr id="40" name="Group 39">
                <a:extLst>
                  <a:ext uri="{FF2B5EF4-FFF2-40B4-BE49-F238E27FC236}">
                    <a16:creationId xmlns:a16="http://schemas.microsoft.com/office/drawing/2014/main" id="{94B4FC43-91BD-46B7-9577-4DD0F2D68F11}"/>
                  </a:ext>
                </a:extLst>
              </p:cNvPr>
              <p:cNvGrpSpPr/>
              <p:nvPr/>
            </p:nvGrpSpPr>
            <p:grpSpPr>
              <a:xfrm>
                <a:off x="847985" y="4508119"/>
                <a:ext cx="199272" cy="206152"/>
                <a:chOff x="2411760" y="3708613"/>
                <a:chExt cx="206152" cy="206152"/>
              </a:xfrm>
            </p:grpSpPr>
            <p:sp>
              <p:nvSpPr>
                <p:cNvPr id="42" name="Oval 41">
                  <a:extLst>
                    <a:ext uri="{FF2B5EF4-FFF2-40B4-BE49-F238E27FC236}">
                      <a16:creationId xmlns:a16="http://schemas.microsoft.com/office/drawing/2014/main" id="{71DF93D6-124E-434D-9FFD-E85A82C4D6B9}"/>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3" name="Chevron 45">
                  <a:extLst>
                    <a:ext uri="{FF2B5EF4-FFF2-40B4-BE49-F238E27FC236}">
                      <a16:creationId xmlns:a16="http://schemas.microsoft.com/office/drawing/2014/main" id="{49559024-F6C7-45A2-8508-CA4A0B22ECC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1" name="TextBox 40">
                <a:extLst>
                  <a:ext uri="{FF2B5EF4-FFF2-40B4-BE49-F238E27FC236}">
                    <a16:creationId xmlns:a16="http://schemas.microsoft.com/office/drawing/2014/main" id="{C6537569-F76D-45F5-B9D6-0D2276DD88CB}"/>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a:t>
                </a:r>
              </a:p>
            </p:txBody>
          </p:sp>
        </p:grpSp>
        <p:grpSp>
          <p:nvGrpSpPr>
            <p:cNvPr id="20" name="Group 19">
              <a:extLst>
                <a:ext uri="{FF2B5EF4-FFF2-40B4-BE49-F238E27FC236}">
                  <a16:creationId xmlns:a16="http://schemas.microsoft.com/office/drawing/2014/main" id="{6CC0FDBC-FEC4-479A-BACC-3A5276A0D758}"/>
                </a:ext>
              </a:extLst>
            </p:cNvPr>
            <p:cNvGrpSpPr/>
            <p:nvPr/>
          </p:nvGrpSpPr>
          <p:grpSpPr>
            <a:xfrm>
              <a:off x="457200" y="2493572"/>
              <a:ext cx="3125777" cy="400110"/>
              <a:chOff x="847985" y="4400490"/>
              <a:chExt cx="3125777" cy="400110"/>
            </a:xfrm>
          </p:grpSpPr>
          <p:grpSp>
            <p:nvGrpSpPr>
              <p:cNvPr id="36" name="Group 35">
                <a:extLst>
                  <a:ext uri="{FF2B5EF4-FFF2-40B4-BE49-F238E27FC236}">
                    <a16:creationId xmlns:a16="http://schemas.microsoft.com/office/drawing/2014/main" id="{0EC5C894-DE69-491D-95F9-F325083F66B1}"/>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1687F39B-F091-4F10-B31F-8666FD8FEB5C}"/>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907026D9-D9E6-4612-BFB1-DB50CF48E44A}"/>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E2FA97C8-8321-4F80-9A55-6DD6E493942C}"/>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Social Network Analysis</a:t>
                </a:r>
              </a:p>
            </p:txBody>
          </p:sp>
        </p:grpSp>
        <p:grpSp>
          <p:nvGrpSpPr>
            <p:cNvPr id="21" name="Group 20">
              <a:extLst>
                <a:ext uri="{FF2B5EF4-FFF2-40B4-BE49-F238E27FC236}">
                  <a16:creationId xmlns:a16="http://schemas.microsoft.com/office/drawing/2014/main" id="{052E569D-F146-472B-9824-5E107BDB1910}"/>
                </a:ext>
              </a:extLst>
            </p:cNvPr>
            <p:cNvGrpSpPr/>
            <p:nvPr/>
          </p:nvGrpSpPr>
          <p:grpSpPr>
            <a:xfrm>
              <a:off x="457200" y="2972616"/>
              <a:ext cx="3732225" cy="400110"/>
              <a:chOff x="847985" y="4395670"/>
              <a:chExt cx="3732225" cy="400110"/>
            </a:xfrm>
          </p:grpSpPr>
          <p:grpSp>
            <p:nvGrpSpPr>
              <p:cNvPr id="32" name="Group 31">
                <a:extLst>
                  <a:ext uri="{FF2B5EF4-FFF2-40B4-BE49-F238E27FC236}">
                    <a16:creationId xmlns:a16="http://schemas.microsoft.com/office/drawing/2014/main" id="{4492130E-EB6E-4B63-925C-49A1E90139CE}"/>
                  </a:ext>
                </a:extLst>
              </p:cNvPr>
              <p:cNvGrpSpPr/>
              <p:nvPr/>
            </p:nvGrpSpPr>
            <p:grpSpPr>
              <a:xfrm>
                <a:off x="847985" y="4508119"/>
                <a:ext cx="199272" cy="206152"/>
                <a:chOff x="2411760" y="3708613"/>
                <a:chExt cx="206152" cy="206152"/>
              </a:xfrm>
            </p:grpSpPr>
            <p:sp>
              <p:nvSpPr>
                <p:cNvPr id="34" name="Oval 33">
                  <a:extLst>
                    <a:ext uri="{FF2B5EF4-FFF2-40B4-BE49-F238E27FC236}">
                      <a16:creationId xmlns:a16="http://schemas.microsoft.com/office/drawing/2014/main" id="{353A2171-3F59-4774-A34C-88B8F7079013}"/>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5" name="Chevron 45">
                  <a:extLst>
                    <a:ext uri="{FF2B5EF4-FFF2-40B4-BE49-F238E27FC236}">
                      <a16:creationId xmlns:a16="http://schemas.microsoft.com/office/drawing/2014/main" id="{B85433E8-643F-4DA1-A998-2DDCAAD308E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3" name="TextBox 32">
                <a:extLst>
                  <a:ext uri="{FF2B5EF4-FFF2-40B4-BE49-F238E27FC236}">
                    <a16:creationId xmlns:a16="http://schemas.microsoft.com/office/drawing/2014/main" id="{86C8A7E2-B35A-4440-B17F-3141F438F4DF}"/>
                  </a:ext>
                </a:extLst>
              </p:cNvPr>
              <p:cNvSpPr txBox="1"/>
              <p:nvPr/>
            </p:nvSpPr>
            <p:spPr>
              <a:xfrm>
                <a:off x="1098666" y="4395670"/>
                <a:ext cx="348154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Spatial and Temporal analysis</a:t>
                </a:r>
              </a:p>
            </p:txBody>
          </p:sp>
        </p:grpSp>
        <p:sp>
          <p:nvSpPr>
            <p:cNvPr id="31" name="Chevron 45">
              <a:extLst>
                <a:ext uri="{FF2B5EF4-FFF2-40B4-BE49-F238E27FC236}">
                  <a16:creationId xmlns:a16="http://schemas.microsoft.com/office/drawing/2014/main" id="{89E50280-3DCB-4539-8A36-9997E3D36289}"/>
                </a:ext>
              </a:extLst>
            </p:cNvPr>
            <p:cNvSpPr/>
            <p:nvPr/>
          </p:nvSpPr>
          <p:spPr>
            <a:xfrm>
              <a:off x="522037" y="4185692"/>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7" name="Chevron 45">
              <a:extLst>
                <a:ext uri="{FF2B5EF4-FFF2-40B4-BE49-F238E27FC236}">
                  <a16:creationId xmlns:a16="http://schemas.microsoft.com/office/drawing/2014/main" id="{D92A1028-8416-45DD-94FB-9BA73B7CC5FE}"/>
                </a:ext>
              </a:extLst>
            </p:cNvPr>
            <p:cNvSpPr/>
            <p:nvPr/>
          </p:nvSpPr>
          <p:spPr>
            <a:xfrm>
              <a:off x="522037" y="3656913"/>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8" name="Title 1">
            <a:extLst>
              <a:ext uri="{FF2B5EF4-FFF2-40B4-BE49-F238E27FC236}">
                <a16:creationId xmlns:a16="http://schemas.microsoft.com/office/drawing/2014/main" id="{FDE7618E-EB92-4050-8863-3DF537D45B0F}"/>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US" sz="3200" dirty="0">
                <a:solidFill>
                  <a:schemeClr val="bg1"/>
                </a:solidFill>
                <a:latin typeface="+mn-lt"/>
                <a:cs typeface="Aharoni" panose="02010803020104030203" pitchFamily="2" charset="-79"/>
              </a:rPr>
              <a:t>Results: </a:t>
            </a:r>
            <a:r>
              <a:rPr lang="en-GB" sz="2800" dirty="0">
                <a:solidFill>
                  <a:schemeClr val="bg1"/>
                </a:solidFill>
                <a:latin typeface="+mn-lt"/>
                <a:cs typeface="Aharoni" panose="02010803020104030203" pitchFamily="2" charset="-79"/>
              </a:rPr>
              <a:t>Social Media Data Analysis Areas of </a:t>
            </a:r>
            <a:r>
              <a:rPr lang="en-GB" sz="2800" b="1" dirty="0">
                <a:solidFill>
                  <a:schemeClr val="bg1"/>
                </a:solidFill>
                <a:latin typeface="+mn-lt"/>
                <a:cs typeface="Aharoni" panose="02010803020104030203" pitchFamily="2" charset="-79"/>
              </a:rPr>
              <a:t>Approaches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282126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1398587"/>
            <a:ext cx="8382000" cy="4858522"/>
          </a:xfrm>
        </p:spPr>
        <p:txBody>
          <a:bodyPr>
            <a:normAutofit/>
          </a:bodyPr>
          <a:lstStyle/>
          <a:p>
            <a:pPr marL="457200" lvl="1" indent="0">
              <a:buNone/>
            </a:pPr>
            <a:endParaRPr lang="en-US" b="1" dirty="0">
              <a:latin typeface="Candara" panose="020E0502030303020204" pitchFamily="34" charset="0"/>
            </a:endParaRPr>
          </a:p>
          <a:p>
            <a:pPr marL="457200" lvl="1" indent="0">
              <a:buNone/>
            </a:pPr>
            <a:endParaRPr lang="en-US" b="1" dirty="0">
              <a:latin typeface="Candara" panose="020E0502030303020204" pitchFamily="34" charset="0"/>
            </a:endParaRPr>
          </a:p>
        </p:txBody>
      </p:sp>
      <p:sp>
        <p:nvSpPr>
          <p:cNvPr id="3" name="Slide Number Placeholder 2">
            <a:extLst>
              <a:ext uri="{FF2B5EF4-FFF2-40B4-BE49-F238E27FC236}">
                <a16:creationId xmlns:a16="http://schemas.microsoft.com/office/drawing/2014/main" id="{ACE14572-BA0A-4399-A2C2-08D48CAF4EE1}"/>
              </a:ext>
            </a:extLst>
          </p:cNvPr>
          <p:cNvSpPr>
            <a:spLocks noGrp="1"/>
          </p:cNvSpPr>
          <p:nvPr>
            <p:ph type="sldNum" sz="quarter" idx="12"/>
          </p:nvPr>
        </p:nvSpPr>
        <p:spPr/>
        <p:txBody>
          <a:bodyPr/>
          <a:lstStyle/>
          <a:p>
            <a:fld id="{85F881A0-7E4F-4F05-8C98-13E0A3A62794}" type="slidenum">
              <a:rPr lang="en-US" smtClean="0"/>
              <a:pPr/>
              <a:t>8</a:t>
            </a:fld>
            <a:endParaRPr lang="en-US"/>
          </a:p>
        </p:txBody>
      </p:sp>
      <p:sp>
        <p:nvSpPr>
          <p:cNvPr id="17" name="Rectangle 16">
            <a:extLst>
              <a:ext uri="{FF2B5EF4-FFF2-40B4-BE49-F238E27FC236}">
                <a16:creationId xmlns:a16="http://schemas.microsoft.com/office/drawing/2014/main" id="{FA04F920-F412-421C-A227-2221ACC942DC}"/>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9" name="Group 8">
            <a:extLst>
              <a:ext uri="{FF2B5EF4-FFF2-40B4-BE49-F238E27FC236}">
                <a16:creationId xmlns:a16="http://schemas.microsoft.com/office/drawing/2014/main" id="{1E785517-5DDF-457F-AEF2-D8EE31A059C1}"/>
              </a:ext>
            </a:extLst>
          </p:cNvPr>
          <p:cNvGrpSpPr/>
          <p:nvPr/>
        </p:nvGrpSpPr>
        <p:grpSpPr>
          <a:xfrm>
            <a:off x="333103" y="1450451"/>
            <a:ext cx="3125777" cy="3024946"/>
            <a:chOff x="457200" y="1405960"/>
            <a:chExt cx="3125777" cy="3024946"/>
          </a:xfrm>
        </p:grpSpPr>
        <p:grpSp>
          <p:nvGrpSpPr>
            <p:cNvPr id="7" name="Group 6">
              <a:extLst>
                <a:ext uri="{FF2B5EF4-FFF2-40B4-BE49-F238E27FC236}">
                  <a16:creationId xmlns:a16="http://schemas.microsoft.com/office/drawing/2014/main" id="{188BEB61-C5DE-4A5B-9520-8A9D24429AEA}"/>
                </a:ext>
              </a:extLst>
            </p:cNvPr>
            <p:cNvGrpSpPr/>
            <p:nvPr/>
          </p:nvGrpSpPr>
          <p:grpSpPr>
            <a:xfrm>
              <a:off x="457200" y="1405960"/>
              <a:ext cx="2428615" cy="400110"/>
              <a:chOff x="847985" y="3927633"/>
              <a:chExt cx="2428615" cy="400110"/>
            </a:xfrm>
          </p:grpSpPr>
          <p:grpSp>
            <p:nvGrpSpPr>
              <p:cNvPr id="19" name="Group 18">
                <a:extLst>
                  <a:ext uri="{FF2B5EF4-FFF2-40B4-BE49-F238E27FC236}">
                    <a16:creationId xmlns:a16="http://schemas.microsoft.com/office/drawing/2014/main" id="{E2B57F35-178C-452C-8269-31DE61EC9868}"/>
                  </a:ext>
                </a:extLst>
              </p:cNvPr>
              <p:cNvGrpSpPr/>
              <p:nvPr/>
            </p:nvGrpSpPr>
            <p:grpSpPr>
              <a:xfrm>
                <a:off x="847985" y="4038600"/>
                <a:ext cx="199272" cy="206152"/>
                <a:chOff x="2411760" y="3708613"/>
                <a:chExt cx="206152" cy="206152"/>
              </a:xfrm>
            </p:grpSpPr>
            <p:sp>
              <p:nvSpPr>
                <p:cNvPr id="23" name="Oval 22">
                  <a:extLst>
                    <a:ext uri="{FF2B5EF4-FFF2-40B4-BE49-F238E27FC236}">
                      <a16:creationId xmlns:a16="http://schemas.microsoft.com/office/drawing/2014/main" id="{A547D54F-43B5-4829-97C3-E0582FCADF7A}"/>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4" name="Chevron 45">
                  <a:extLst>
                    <a:ext uri="{FF2B5EF4-FFF2-40B4-BE49-F238E27FC236}">
                      <a16:creationId xmlns:a16="http://schemas.microsoft.com/office/drawing/2014/main" id="{AB7AB7FF-5BF5-4CA8-9760-68222A4E7FF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1" name="TextBox 20">
                <a:extLst>
                  <a:ext uri="{FF2B5EF4-FFF2-40B4-BE49-F238E27FC236}">
                    <a16:creationId xmlns:a16="http://schemas.microsoft.com/office/drawing/2014/main" id="{1AA8F26C-1EEA-43DC-8708-3D05332B4FD0}"/>
                  </a:ext>
                </a:extLst>
              </p:cNvPr>
              <p:cNvSpPr txBox="1"/>
              <p:nvPr/>
            </p:nvSpPr>
            <p:spPr>
              <a:xfrm>
                <a:off x="1098666" y="3927633"/>
                <a:ext cx="2177934" cy="400110"/>
              </a:xfrm>
              <a:prstGeom prst="rect">
                <a:avLst/>
              </a:prstGeom>
              <a:noFill/>
            </p:spPr>
            <p:txBody>
              <a:bodyPr wrap="square" rtlCol="0" anchor="ctr">
                <a:spAutoFit/>
              </a:bodyPr>
              <a:lstStyle/>
              <a:p>
                <a:pPr marL="0" lvl="1"/>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Disaster studies</a:t>
                </a:r>
              </a:p>
            </p:txBody>
          </p:sp>
        </p:grpSp>
        <p:grpSp>
          <p:nvGrpSpPr>
            <p:cNvPr id="8" name="Group 7">
              <a:extLst>
                <a:ext uri="{FF2B5EF4-FFF2-40B4-BE49-F238E27FC236}">
                  <a16:creationId xmlns:a16="http://schemas.microsoft.com/office/drawing/2014/main" id="{95D8874F-D496-4657-8027-8EC4AAEABA98}"/>
                </a:ext>
              </a:extLst>
            </p:cNvPr>
            <p:cNvGrpSpPr/>
            <p:nvPr/>
          </p:nvGrpSpPr>
          <p:grpSpPr>
            <a:xfrm>
              <a:off x="457200" y="1971513"/>
              <a:ext cx="3125777" cy="400110"/>
              <a:chOff x="847985" y="4400490"/>
              <a:chExt cx="3125777" cy="400110"/>
            </a:xfrm>
          </p:grpSpPr>
          <p:grpSp>
            <p:nvGrpSpPr>
              <p:cNvPr id="26" name="Group 25">
                <a:extLst>
                  <a:ext uri="{FF2B5EF4-FFF2-40B4-BE49-F238E27FC236}">
                    <a16:creationId xmlns:a16="http://schemas.microsoft.com/office/drawing/2014/main" id="{574321A5-2D36-4550-9224-107E9D75D494}"/>
                  </a:ext>
                </a:extLst>
              </p:cNvPr>
              <p:cNvGrpSpPr/>
              <p:nvPr/>
            </p:nvGrpSpPr>
            <p:grpSpPr>
              <a:xfrm>
                <a:off x="847985" y="4508119"/>
                <a:ext cx="199272" cy="206152"/>
                <a:chOff x="2411760" y="3708613"/>
                <a:chExt cx="206152" cy="206152"/>
              </a:xfrm>
            </p:grpSpPr>
            <p:sp>
              <p:nvSpPr>
                <p:cNvPr id="28" name="Oval 27">
                  <a:extLst>
                    <a:ext uri="{FF2B5EF4-FFF2-40B4-BE49-F238E27FC236}">
                      <a16:creationId xmlns:a16="http://schemas.microsoft.com/office/drawing/2014/main" id="{511FD80E-8C12-44AD-818F-55EA5367D8C9}"/>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9" name="Chevron 45">
                  <a:extLst>
                    <a:ext uri="{FF2B5EF4-FFF2-40B4-BE49-F238E27FC236}">
                      <a16:creationId xmlns:a16="http://schemas.microsoft.com/office/drawing/2014/main" id="{3BCA47D9-6002-46CE-8323-61D33203717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7" name="TextBox 26">
                <a:extLst>
                  <a:ext uri="{FF2B5EF4-FFF2-40B4-BE49-F238E27FC236}">
                    <a16:creationId xmlns:a16="http://schemas.microsoft.com/office/drawing/2014/main" id="{95A5DB0F-6366-4229-AEAC-35112087274B}"/>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Urban planning studies</a:t>
                </a:r>
              </a:p>
            </p:txBody>
          </p:sp>
        </p:grpSp>
        <p:grpSp>
          <p:nvGrpSpPr>
            <p:cNvPr id="30" name="Group 29">
              <a:extLst>
                <a:ext uri="{FF2B5EF4-FFF2-40B4-BE49-F238E27FC236}">
                  <a16:creationId xmlns:a16="http://schemas.microsoft.com/office/drawing/2014/main" id="{20892220-179C-436C-B9B3-3A4C02DFE895}"/>
                </a:ext>
              </a:extLst>
            </p:cNvPr>
            <p:cNvGrpSpPr/>
            <p:nvPr/>
          </p:nvGrpSpPr>
          <p:grpSpPr>
            <a:xfrm>
              <a:off x="457200" y="2493572"/>
              <a:ext cx="3125777" cy="400110"/>
              <a:chOff x="847985" y="4400490"/>
              <a:chExt cx="3125777" cy="400110"/>
            </a:xfrm>
          </p:grpSpPr>
          <p:grpSp>
            <p:nvGrpSpPr>
              <p:cNvPr id="31" name="Group 30">
                <a:extLst>
                  <a:ext uri="{FF2B5EF4-FFF2-40B4-BE49-F238E27FC236}">
                    <a16:creationId xmlns:a16="http://schemas.microsoft.com/office/drawing/2014/main" id="{B7A885D4-2E70-471D-9D15-BC5683BCEAB5}"/>
                  </a:ext>
                </a:extLst>
              </p:cNvPr>
              <p:cNvGrpSpPr/>
              <p:nvPr/>
            </p:nvGrpSpPr>
            <p:grpSpPr>
              <a:xfrm>
                <a:off x="847985" y="4508119"/>
                <a:ext cx="199272" cy="206152"/>
                <a:chOff x="2411760" y="3708613"/>
                <a:chExt cx="206152" cy="206152"/>
              </a:xfrm>
            </p:grpSpPr>
            <p:sp>
              <p:nvSpPr>
                <p:cNvPr id="33" name="Oval 32">
                  <a:extLst>
                    <a:ext uri="{FF2B5EF4-FFF2-40B4-BE49-F238E27FC236}">
                      <a16:creationId xmlns:a16="http://schemas.microsoft.com/office/drawing/2014/main" id="{171FD354-4B6F-44BE-B1FD-62D8766FB980}"/>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4" name="Chevron 45">
                  <a:extLst>
                    <a:ext uri="{FF2B5EF4-FFF2-40B4-BE49-F238E27FC236}">
                      <a16:creationId xmlns:a16="http://schemas.microsoft.com/office/drawing/2014/main" id="{66126481-614B-40AD-B2DF-6CF1BEE66210}"/>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2" name="TextBox 31">
                <a:extLst>
                  <a:ext uri="{FF2B5EF4-FFF2-40B4-BE49-F238E27FC236}">
                    <a16:creationId xmlns:a16="http://schemas.microsoft.com/office/drawing/2014/main" id="{4025DE27-937D-4D66-9CBD-70C192A57B4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Public health studies</a:t>
                </a:r>
              </a:p>
            </p:txBody>
          </p:sp>
        </p:grpSp>
        <p:grpSp>
          <p:nvGrpSpPr>
            <p:cNvPr id="35" name="Group 34">
              <a:extLst>
                <a:ext uri="{FF2B5EF4-FFF2-40B4-BE49-F238E27FC236}">
                  <a16:creationId xmlns:a16="http://schemas.microsoft.com/office/drawing/2014/main" id="{EDCB7C2F-49D7-43CA-9958-FB3E408D816E}"/>
                </a:ext>
              </a:extLst>
            </p:cNvPr>
            <p:cNvGrpSpPr/>
            <p:nvPr/>
          </p:nvGrpSpPr>
          <p:grpSpPr>
            <a:xfrm>
              <a:off x="457200" y="2977436"/>
              <a:ext cx="3125777" cy="400110"/>
              <a:chOff x="847985" y="4400490"/>
              <a:chExt cx="3125777" cy="400110"/>
            </a:xfrm>
          </p:grpSpPr>
          <p:grpSp>
            <p:nvGrpSpPr>
              <p:cNvPr id="36" name="Group 35">
                <a:extLst>
                  <a:ext uri="{FF2B5EF4-FFF2-40B4-BE49-F238E27FC236}">
                    <a16:creationId xmlns:a16="http://schemas.microsoft.com/office/drawing/2014/main" id="{9988B5EF-E104-4B19-922A-A21E86E0E207}"/>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CF8F6087-05BC-4784-BF68-320041942F73}"/>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87193AD5-452A-40AD-9818-A090BEC2E2A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FA94462A-8EAF-4C2E-9697-D29E2DBDE935}"/>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Political studies</a:t>
                </a:r>
              </a:p>
            </p:txBody>
          </p:sp>
        </p:grpSp>
        <p:grpSp>
          <p:nvGrpSpPr>
            <p:cNvPr id="40" name="Group 39">
              <a:extLst>
                <a:ext uri="{FF2B5EF4-FFF2-40B4-BE49-F238E27FC236}">
                  <a16:creationId xmlns:a16="http://schemas.microsoft.com/office/drawing/2014/main" id="{0FB21B10-5EA5-4636-B536-0F9255A412A1}"/>
                </a:ext>
              </a:extLst>
            </p:cNvPr>
            <p:cNvGrpSpPr/>
            <p:nvPr/>
          </p:nvGrpSpPr>
          <p:grpSpPr>
            <a:xfrm>
              <a:off x="457200" y="4030796"/>
              <a:ext cx="3125777" cy="400110"/>
              <a:chOff x="847985" y="4400490"/>
              <a:chExt cx="3125777" cy="400110"/>
            </a:xfrm>
          </p:grpSpPr>
          <p:grpSp>
            <p:nvGrpSpPr>
              <p:cNvPr id="41" name="Group 40">
                <a:extLst>
                  <a:ext uri="{FF2B5EF4-FFF2-40B4-BE49-F238E27FC236}">
                    <a16:creationId xmlns:a16="http://schemas.microsoft.com/office/drawing/2014/main" id="{94DFCF5F-32A7-48B7-8DA0-49D7B676E881}"/>
                  </a:ext>
                </a:extLst>
              </p:cNvPr>
              <p:cNvGrpSpPr/>
              <p:nvPr/>
            </p:nvGrpSpPr>
            <p:grpSpPr>
              <a:xfrm>
                <a:off x="847985" y="4508119"/>
                <a:ext cx="199272" cy="206152"/>
                <a:chOff x="2411760" y="3708613"/>
                <a:chExt cx="206152" cy="206152"/>
              </a:xfrm>
            </p:grpSpPr>
            <p:sp>
              <p:nvSpPr>
                <p:cNvPr id="43" name="Oval 42">
                  <a:extLst>
                    <a:ext uri="{FF2B5EF4-FFF2-40B4-BE49-F238E27FC236}">
                      <a16:creationId xmlns:a16="http://schemas.microsoft.com/office/drawing/2014/main" id="{7293D00F-0046-412F-983B-EB06899335C7}"/>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4" name="Chevron 45">
                  <a:extLst>
                    <a:ext uri="{FF2B5EF4-FFF2-40B4-BE49-F238E27FC236}">
                      <a16:creationId xmlns:a16="http://schemas.microsoft.com/office/drawing/2014/main" id="{5F5AD8CA-80EC-4724-B790-EB75AB65A82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2" name="TextBox 41">
                <a:extLst>
                  <a:ext uri="{FF2B5EF4-FFF2-40B4-BE49-F238E27FC236}">
                    <a16:creationId xmlns:a16="http://schemas.microsoft.com/office/drawing/2014/main" id="{70FE9F53-C084-4434-A704-9D382765428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Marketing studies</a:t>
                </a:r>
              </a:p>
            </p:txBody>
          </p:sp>
        </p:grpSp>
        <p:grpSp>
          <p:nvGrpSpPr>
            <p:cNvPr id="45" name="Group 44">
              <a:extLst>
                <a:ext uri="{FF2B5EF4-FFF2-40B4-BE49-F238E27FC236}">
                  <a16:creationId xmlns:a16="http://schemas.microsoft.com/office/drawing/2014/main" id="{589CBD94-ABAC-4E1F-8D28-DB1DC07654F4}"/>
                </a:ext>
              </a:extLst>
            </p:cNvPr>
            <p:cNvGrpSpPr/>
            <p:nvPr/>
          </p:nvGrpSpPr>
          <p:grpSpPr>
            <a:xfrm>
              <a:off x="457200" y="3502017"/>
              <a:ext cx="3125777" cy="400110"/>
              <a:chOff x="847985" y="4400490"/>
              <a:chExt cx="3125777" cy="400110"/>
            </a:xfrm>
          </p:grpSpPr>
          <p:grpSp>
            <p:nvGrpSpPr>
              <p:cNvPr id="46" name="Group 45">
                <a:extLst>
                  <a:ext uri="{FF2B5EF4-FFF2-40B4-BE49-F238E27FC236}">
                    <a16:creationId xmlns:a16="http://schemas.microsoft.com/office/drawing/2014/main" id="{F8D13068-30A7-4981-AFAC-237C630CD943}"/>
                  </a:ext>
                </a:extLst>
              </p:cNvPr>
              <p:cNvGrpSpPr/>
              <p:nvPr/>
            </p:nvGrpSpPr>
            <p:grpSpPr>
              <a:xfrm>
                <a:off x="847985" y="4508119"/>
                <a:ext cx="199272" cy="206152"/>
                <a:chOff x="2411760" y="3708613"/>
                <a:chExt cx="206152" cy="206152"/>
              </a:xfrm>
            </p:grpSpPr>
            <p:sp>
              <p:nvSpPr>
                <p:cNvPr id="48" name="Oval 47">
                  <a:extLst>
                    <a:ext uri="{FF2B5EF4-FFF2-40B4-BE49-F238E27FC236}">
                      <a16:creationId xmlns:a16="http://schemas.microsoft.com/office/drawing/2014/main" id="{BD2FEE3D-94EF-46A8-89F5-9B84FE7ABCDD}"/>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9" name="Chevron 45">
                  <a:extLst>
                    <a:ext uri="{FF2B5EF4-FFF2-40B4-BE49-F238E27FC236}">
                      <a16:creationId xmlns:a16="http://schemas.microsoft.com/office/drawing/2014/main" id="{EF99947B-55ED-4ECE-8C25-AB0C3A5974D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7" name="TextBox 46">
                <a:extLst>
                  <a:ext uri="{FF2B5EF4-FFF2-40B4-BE49-F238E27FC236}">
                    <a16:creationId xmlns:a16="http://schemas.microsoft.com/office/drawing/2014/main" id="{FF46D6F2-F044-4D5C-98B6-A907C87FAC7E}"/>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Business studies</a:t>
                </a:r>
              </a:p>
            </p:txBody>
          </p:sp>
        </p:grpSp>
      </p:grpSp>
      <p:sp>
        <p:nvSpPr>
          <p:cNvPr id="50" name="Rectangle: Rounded Corners 49">
            <a:extLst>
              <a:ext uri="{FF2B5EF4-FFF2-40B4-BE49-F238E27FC236}">
                <a16:creationId xmlns:a16="http://schemas.microsoft.com/office/drawing/2014/main" id="{464A5A65-C675-41E3-A5E6-68A76FEEBBD4}"/>
              </a:ext>
            </a:extLst>
          </p:cNvPr>
          <p:cNvSpPr/>
          <p:nvPr/>
        </p:nvSpPr>
        <p:spPr>
          <a:xfrm>
            <a:off x="3276600" y="1184341"/>
            <a:ext cx="5562600" cy="543557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indent="-285750">
              <a:lnSpc>
                <a:spcPct val="95000"/>
              </a:lnSpc>
              <a:spcBef>
                <a:spcPts val="0"/>
              </a:spcBef>
              <a:spcAft>
                <a:spcPts val="600"/>
              </a:spcAft>
              <a:buFont typeface="Wingdings" panose="05000000000000000000" pitchFamily="2" charset="2"/>
              <a:buChar char="ü"/>
            </a:pPr>
            <a:r>
              <a:rPr lang="en-US" sz="20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Detecting human emotions toward disaster</a:t>
            </a:r>
          </a:p>
          <a:p>
            <a:pPr marL="285750" marR="0" indent="-285750">
              <a:lnSpc>
                <a:spcPct val="95000"/>
              </a:lnSpc>
              <a:spcBef>
                <a:spcPts val="0"/>
              </a:spcBef>
              <a:spcAft>
                <a:spcPts val="600"/>
              </a:spcAft>
              <a:buFont typeface="Wingdings" panose="05000000000000000000" pitchFamily="2" charset="2"/>
              <a:buChar char="ü"/>
            </a:pPr>
            <a:r>
              <a:rPr lang="en-US" sz="20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Tracking human emotions and behavior over disaster times</a:t>
            </a:r>
            <a:endParaRPr lang="en-US" sz="20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95000"/>
              </a:lnSpc>
              <a:spcBef>
                <a:spcPts val="0"/>
              </a:spcBef>
              <a:spcAft>
                <a:spcPts val="600"/>
              </a:spcAft>
              <a:buFont typeface="Wingdings" panose="05000000000000000000" pitchFamily="2" charset="2"/>
              <a:buChar char="ü"/>
            </a:pPr>
            <a:r>
              <a:rPr lang="en-US" sz="20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Understanding group behavior during disaster</a:t>
            </a:r>
          </a:p>
          <a:p>
            <a:pPr marL="285750" marR="0" indent="-285750">
              <a:lnSpc>
                <a:spcPct val="95000"/>
              </a:lnSpc>
              <a:spcBef>
                <a:spcPts val="0"/>
              </a:spcBef>
              <a:spcAft>
                <a:spcPts val="600"/>
              </a:spcAft>
              <a:buFont typeface="Wingdings" panose="05000000000000000000" pitchFamily="2" charset="2"/>
              <a:buChar char="ü"/>
            </a:pPr>
            <a:endParaRPr lang="en-US" sz="20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95000"/>
              </a:lnSpc>
              <a:spcBef>
                <a:spcPts val="0"/>
              </a:spcBef>
              <a:spcAft>
                <a:spcPts val="600"/>
              </a:spcAft>
              <a:buFont typeface="Wingdings" panose="05000000000000000000" pitchFamily="2" charset="2"/>
              <a:buChar char="ü"/>
            </a:pPr>
            <a:r>
              <a:rPr lang="en-US" sz="20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Determining disaster severity changes over time </a:t>
            </a:r>
            <a:endParaRPr lang="en-US" sz="20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95000"/>
              </a:lnSpc>
              <a:spcBef>
                <a:spcPts val="0"/>
              </a:spcBef>
              <a:spcAft>
                <a:spcPts val="600"/>
              </a:spcAft>
              <a:buFont typeface="Wingdings" panose="05000000000000000000" pitchFamily="2" charset="2"/>
              <a:buChar char="ü"/>
            </a:pPr>
            <a:r>
              <a:rPr lang="en-US" sz="20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Identifying the zones affected by the disaster</a:t>
            </a:r>
          </a:p>
          <a:p>
            <a:pPr marL="285750" marR="0" indent="-285750">
              <a:lnSpc>
                <a:spcPct val="95000"/>
              </a:lnSpc>
              <a:spcBef>
                <a:spcPts val="0"/>
              </a:spcBef>
              <a:spcAft>
                <a:spcPts val="600"/>
              </a:spcAft>
              <a:buFont typeface="Wingdings" panose="05000000000000000000" pitchFamily="2" charset="2"/>
              <a:buChar char="ü"/>
            </a:pPr>
            <a:endParaRPr lang="en-US" sz="20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p>
            <a:pPr marL="285750" indent="-285750">
              <a:lnSpc>
                <a:spcPct val="95000"/>
              </a:lnSpc>
              <a:spcAft>
                <a:spcPts val="600"/>
              </a:spcAft>
              <a:buFont typeface="Wingdings" panose="05000000000000000000" pitchFamily="2" charset="2"/>
              <a:buChar char="ü"/>
            </a:pPr>
            <a:r>
              <a:rPr lang="en-US" sz="2000" dirty="0">
                <a:solidFill>
                  <a:schemeClr val="tx1"/>
                </a:solidFill>
                <a:latin typeface="Times New Roman" panose="02020603050405020304" pitchFamily="18" charset="0"/>
                <a:ea typeface="Calibri" panose="020F0502020204030204" pitchFamily="34" charset="0"/>
                <a:cs typeface="Arial" panose="020B0604020202020204" pitchFamily="34" charset="0"/>
              </a:rPr>
              <a:t>Tracking trends during a disaster</a:t>
            </a:r>
            <a:endParaRPr lang="en-US" sz="20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p>
            <a:pPr marL="285750" indent="-285750">
              <a:lnSpc>
                <a:spcPct val="95000"/>
              </a:lnSpc>
              <a:spcAft>
                <a:spcPts val="600"/>
              </a:spcAft>
              <a:buFont typeface="Wingdings" panose="05000000000000000000" pitchFamily="2" charset="2"/>
              <a:buChar char="ü"/>
            </a:pPr>
            <a:r>
              <a:rPr lang="en-US" sz="2000" dirty="0">
                <a:solidFill>
                  <a:schemeClr val="tx1"/>
                </a:solidFill>
                <a:latin typeface="Times New Roman" panose="02020603050405020304" pitchFamily="18" charset="0"/>
                <a:ea typeface="Calibri" panose="020F0502020204030204" pitchFamily="34" charset="0"/>
              </a:rPr>
              <a:t>Discovering people’s need during disasters</a:t>
            </a:r>
            <a:endParaRPr lang="en-US" sz="2000" dirty="0">
              <a:solidFill>
                <a:schemeClr val="tx1"/>
              </a:solidFill>
              <a:latin typeface="Calibri" panose="020F0502020204030204" pitchFamily="34" charset="0"/>
              <a:ea typeface="Calibri" panose="020F0502020204030204" pitchFamily="34" charset="0"/>
              <a:cs typeface="Arial" panose="020B0604020202020204" pitchFamily="34" charset="0"/>
            </a:endParaRPr>
          </a:p>
        </p:txBody>
      </p:sp>
      <p:sp>
        <p:nvSpPr>
          <p:cNvPr id="51" name="Rectangle: Rounded Corners 50">
            <a:extLst>
              <a:ext uri="{FF2B5EF4-FFF2-40B4-BE49-F238E27FC236}">
                <a16:creationId xmlns:a16="http://schemas.microsoft.com/office/drawing/2014/main" id="{4DBADA2E-E2AB-4624-A33B-003A58F87623}"/>
              </a:ext>
            </a:extLst>
          </p:cNvPr>
          <p:cNvSpPr/>
          <p:nvPr/>
        </p:nvSpPr>
        <p:spPr>
          <a:xfrm>
            <a:off x="203575" y="1426859"/>
            <a:ext cx="2682240" cy="4001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344F15B9-7F62-4435-BC50-56060FEF067D}"/>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Areas of Applications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387985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barn(inVertical)">
                                      <p:cBhvr>
                                        <p:cTn id="12" dur="500"/>
                                        <p:tgtEl>
                                          <p:spTgt spid="50"/>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barn(inVertical)">
                                      <p:cBhvr>
                                        <p:cTn id="1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1398587"/>
            <a:ext cx="8382000" cy="4858522"/>
          </a:xfrm>
        </p:spPr>
        <p:txBody>
          <a:bodyPr>
            <a:normAutofit/>
          </a:bodyPr>
          <a:lstStyle/>
          <a:p>
            <a:pPr marL="457200" lvl="1" indent="0">
              <a:buNone/>
            </a:pPr>
            <a:endParaRPr lang="en-US" b="1" dirty="0">
              <a:latin typeface="Candara" panose="020E0502030303020204" pitchFamily="34" charset="0"/>
            </a:endParaRPr>
          </a:p>
          <a:p>
            <a:pPr marL="457200" lvl="1" indent="0">
              <a:buNone/>
            </a:pPr>
            <a:endParaRPr lang="en-US" b="1" dirty="0">
              <a:latin typeface="Candara" panose="020E0502030303020204" pitchFamily="34" charset="0"/>
            </a:endParaRPr>
          </a:p>
        </p:txBody>
      </p:sp>
      <p:sp>
        <p:nvSpPr>
          <p:cNvPr id="3" name="Slide Number Placeholder 2">
            <a:extLst>
              <a:ext uri="{FF2B5EF4-FFF2-40B4-BE49-F238E27FC236}">
                <a16:creationId xmlns:a16="http://schemas.microsoft.com/office/drawing/2014/main" id="{ACE14572-BA0A-4399-A2C2-08D48CAF4EE1}"/>
              </a:ext>
            </a:extLst>
          </p:cNvPr>
          <p:cNvSpPr>
            <a:spLocks noGrp="1"/>
          </p:cNvSpPr>
          <p:nvPr>
            <p:ph type="sldNum" sz="quarter" idx="12"/>
          </p:nvPr>
        </p:nvSpPr>
        <p:spPr/>
        <p:txBody>
          <a:bodyPr/>
          <a:lstStyle/>
          <a:p>
            <a:fld id="{85F881A0-7E4F-4F05-8C98-13E0A3A62794}" type="slidenum">
              <a:rPr lang="en-US" smtClean="0"/>
              <a:pPr/>
              <a:t>9</a:t>
            </a:fld>
            <a:endParaRPr lang="en-US"/>
          </a:p>
        </p:txBody>
      </p:sp>
      <p:sp>
        <p:nvSpPr>
          <p:cNvPr id="17" name="Rectangle 16">
            <a:extLst>
              <a:ext uri="{FF2B5EF4-FFF2-40B4-BE49-F238E27FC236}">
                <a16:creationId xmlns:a16="http://schemas.microsoft.com/office/drawing/2014/main" id="{FA04F920-F412-421C-A227-2221ACC942DC}"/>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9" name="Group 8">
            <a:extLst>
              <a:ext uri="{FF2B5EF4-FFF2-40B4-BE49-F238E27FC236}">
                <a16:creationId xmlns:a16="http://schemas.microsoft.com/office/drawing/2014/main" id="{1E785517-5DDF-457F-AEF2-D8EE31A059C1}"/>
              </a:ext>
            </a:extLst>
          </p:cNvPr>
          <p:cNvGrpSpPr/>
          <p:nvPr/>
        </p:nvGrpSpPr>
        <p:grpSpPr>
          <a:xfrm>
            <a:off x="457200" y="1405960"/>
            <a:ext cx="3125777" cy="3024946"/>
            <a:chOff x="457200" y="1405960"/>
            <a:chExt cx="3125777" cy="3024946"/>
          </a:xfrm>
        </p:grpSpPr>
        <p:grpSp>
          <p:nvGrpSpPr>
            <p:cNvPr id="7" name="Group 6">
              <a:extLst>
                <a:ext uri="{FF2B5EF4-FFF2-40B4-BE49-F238E27FC236}">
                  <a16:creationId xmlns:a16="http://schemas.microsoft.com/office/drawing/2014/main" id="{188BEB61-C5DE-4A5B-9520-8A9D24429AEA}"/>
                </a:ext>
              </a:extLst>
            </p:cNvPr>
            <p:cNvGrpSpPr/>
            <p:nvPr/>
          </p:nvGrpSpPr>
          <p:grpSpPr>
            <a:xfrm>
              <a:off x="457200" y="1405960"/>
              <a:ext cx="2428615" cy="400110"/>
              <a:chOff x="847985" y="3927633"/>
              <a:chExt cx="2428615" cy="400110"/>
            </a:xfrm>
          </p:grpSpPr>
          <p:grpSp>
            <p:nvGrpSpPr>
              <p:cNvPr id="19" name="Group 18">
                <a:extLst>
                  <a:ext uri="{FF2B5EF4-FFF2-40B4-BE49-F238E27FC236}">
                    <a16:creationId xmlns:a16="http://schemas.microsoft.com/office/drawing/2014/main" id="{E2B57F35-178C-452C-8269-31DE61EC9868}"/>
                  </a:ext>
                </a:extLst>
              </p:cNvPr>
              <p:cNvGrpSpPr/>
              <p:nvPr/>
            </p:nvGrpSpPr>
            <p:grpSpPr>
              <a:xfrm>
                <a:off x="847985" y="4038600"/>
                <a:ext cx="199272" cy="206152"/>
                <a:chOff x="2411760" y="3708613"/>
                <a:chExt cx="206152" cy="206152"/>
              </a:xfrm>
            </p:grpSpPr>
            <p:sp>
              <p:nvSpPr>
                <p:cNvPr id="23" name="Oval 22">
                  <a:extLst>
                    <a:ext uri="{FF2B5EF4-FFF2-40B4-BE49-F238E27FC236}">
                      <a16:creationId xmlns:a16="http://schemas.microsoft.com/office/drawing/2014/main" id="{A547D54F-43B5-4829-97C3-E0582FCADF7A}"/>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4" name="Chevron 45">
                  <a:extLst>
                    <a:ext uri="{FF2B5EF4-FFF2-40B4-BE49-F238E27FC236}">
                      <a16:creationId xmlns:a16="http://schemas.microsoft.com/office/drawing/2014/main" id="{AB7AB7FF-5BF5-4CA8-9760-68222A4E7FF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1" name="TextBox 20">
                <a:extLst>
                  <a:ext uri="{FF2B5EF4-FFF2-40B4-BE49-F238E27FC236}">
                    <a16:creationId xmlns:a16="http://schemas.microsoft.com/office/drawing/2014/main" id="{1AA8F26C-1EEA-43DC-8708-3D05332B4FD0}"/>
                  </a:ext>
                </a:extLst>
              </p:cNvPr>
              <p:cNvSpPr txBox="1"/>
              <p:nvPr/>
            </p:nvSpPr>
            <p:spPr>
              <a:xfrm>
                <a:off x="1098666" y="3927633"/>
                <a:ext cx="2177934" cy="400110"/>
              </a:xfrm>
              <a:prstGeom prst="rect">
                <a:avLst/>
              </a:prstGeom>
              <a:noFill/>
            </p:spPr>
            <p:txBody>
              <a:bodyPr wrap="square" rtlCol="0" anchor="ctr">
                <a:spAutoFit/>
              </a:bodyPr>
              <a:lstStyle/>
              <a:p>
                <a:pPr marL="0" lvl="1"/>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Disaster studies</a:t>
                </a:r>
              </a:p>
            </p:txBody>
          </p:sp>
        </p:grpSp>
        <p:grpSp>
          <p:nvGrpSpPr>
            <p:cNvPr id="8" name="Group 7">
              <a:extLst>
                <a:ext uri="{FF2B5EF4-FFF2-40B4-BE49-F238E27FC236}">
                  <a16:creationId xmlns:a16="http://schemas.microsoft.com/office/drawing/2014/main" id="{95D8874F-D496-4657-8027-8EC4AAEABA98}"/>
                </a:ext>
              </a:extLst>
            </p:cNvPr>
            <p:cNvGrpSpPr/>
            <p:nvPr/>
          </p:nvGrpSpPr>
          <p:grpSpPr>
            <a:xfrm>
              <a:off x="457200" y="1971513"/>
              <a:ext cx="3125777" cy="400110"/>
              <a:chOff x="847985" y="4400490"/>
              <a:chExt cx="3125777" cy="400110"/>
            </a:xfrm>
          </p:grpSpPr>
          <p:grpSp>
            <p:nvGrpSpPr>
              <p:cNvPr id="26" name="Group 25">
                <a:extLst>
                  <a:ext uri="{FF2B5EF4-FFF2-40B4-BE49-F238E27FC236}">
                    <a16:creationId xmlns:a16="http://schemas.microsoft.com/office/drawing/2014/main" id="{574321A5-2D36-4550-9224-107E9D75D494}"/>
                  </a:ext>
                </a:extLst>
              </p:cNvPr>
              <p:cNvGrpSpPr/>
              <p:nvPr/>
            </p:nvGrpSpPr>
            <p:grpSpPr>
              <a:xfrm>
                <a:off x="847985" y="4508119"/>
                <a:ext cx="199272" cy="206152"/>
                <a:chOff x="2411760" y="3708613"/>
                <a:chExt cx="206152" cy="206152"/>
              </a:xfrm>
            </p:grpSpPr>
            <p:sp>
              <p:nvSpPr>
                <p:cNvPr id="28" name="Oval 27">
                  <a:extLst>
                    <a:ext uri="{FF2B5EF4-FFF2-40B4-BE49-F238E27FC236}">
                      <a16:creationId xmlns:a16="http://schemas.microsoft.com/office/drawing/2014/main" id="{511FD80E-8C12-44AD-818F-55EA5367D8C9}"/>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9" name="Chevron 45">
                  <a:extLst>
                    <a:ext uri="{FF2B5EF4-FFF2-40B4-BE49-F238E27FC236}">
                      <a16:creationId xmlns:a16="http://schemas.microsoft.com/office/drawing/2014/main" id="{3BCA47D9-6002-46CE-8323-61D33203717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7" name="TextBox 26">
                <a:extLst>
                  <a:ext uri="{FF2B5EF4-FFF2-40B4-BE49-F238E27FC236}">
                    <a16:creationId xmlns:a16="http://schemas.microsoft.com/office/drawing/2014/main" id="{95A5DB0F-6366-4229-AEAC-35112087274B}"/>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Urban planning studies</a:t>
                </a:r>
              </a:p>
            </p:txBody>
          </p:sp>
        </p:grpSp>
        <p:grpSp>
          <p:nvGrpSpPr>
            <p:cNvPr id="30" name="Group 29">
              <a:extLst>
                <a:ext uri="{FF2B5EF4-FFF2-40B4-BE49-F238E27FC236}">
                  <a16:creationId xmlns:a16="http://schemas.microsoft.com/office/drawing/2014/main" id="{20892220-179C-436C-B9B3-3A4C02DFE895}"/>
                </a:ext>
              </a:extLst>
            </p:cNvPr>
            <p:cNvGrpSpPr/>
            <p:nvPr/>
          </p:nvGrpSpPr>
          <p:grpSpPr>
            <a:xfrm>
              <a:off x="457200" y="2493572"/>
              <a:ext cx="3125777" cy="400110"/>
              <a:chOff x="847985" y="4400490"/>
              <a:chExt cx="3125777" cy="400110"/>
            </a:xfrm>
          </p:grpSpPr>
          <p:grpSp>
            <p:nvGrpSpPr>
              <p:cNvPr id="31" name="Group 30">
                <a:extLst>
                  <a:ext uri="{FF2B5EF4-FFF2-40B4-BE49-F238E27FC236}">
                    <a16:creationId xmlns:a16="http://schemas.microsoft.com/office/drawing/2014/main" id="{B7A885D4-2E70-471D-9D15-BC5683BCEAB5}"/>
                  </a:ext>
                </a:extLst>
              </p:cNvPr>
              <p:cNvGrpSpPr/>
              <p:nvPr/>
            </p:nvGrpSpPr>
            <p:grpSpPr>
              <a:xfrm>
                <a:off x="847985" y="4508119"/>
                <a:ext cx="199272" cy="206152"/>
                <a:chOff x="2411760" y="3708613"/>
                <a:chExt cx="206152" cy="206152"/>
              </a:xfrm>
            </p:grpSpPr>
            <p:sp>
              <p:nvSpPr>
                <p:cNvPr id="33" name="Oval 32">
                  <a:extLst>
                    <a:ext uri="{FF2B5EF4-FFF2-40B4-BE49-F238E27FC236}">
                      <a16:creationId xmlns:a16="http://schemas.microsoft.com/office/drawing/2014/main" id="{171FD354-4B6F-44BE-B1FD-62D8766FB980}"/>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4" name="Chevron 45">
                  <a:extLst>
                    <a:ext uri="{FF2B5EF4-FFF2-40B4-BE49-F238E27FC236}">
                      <a16:creationId xmlns:a16="http://schemas.microsoft.com/office/drawing/2014/main" id="{66126481-614B-40AD-B2DF-6CF1BEE66210}"/>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2" name="TextBox 31">
                <a:extLst>
                  <a:ext uri="{FF2B5EF4-FFF2-40B4-BE49-F238E27FC236}">
                    <a16:creationId xmlns:a16="http://schemas.microsoft.com/office/drawing/2014/main" id="{4025DE27-937D-4D66-9CBD-70C192A57B4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Public health studies</a:t>
                </a:r>
              </a:p>
            </p:txBody>
          </p:sp>
        </p:grpSp>
        <p:grpSp>
          <p:nvGrpSpPr>
            <p:cNvPr id="35" name="Group 34">
              <a:extLst>
                <a:ext uri="{FF2B5EF4-FFF2-40B4-BE49-F238E27FC236}">
                  <a16:creationId xmlns:a16="http://schemas.microsoft.com/office/drawing/2014/main" id="{EDCB7C2F-49D7-43CA-9958-FB3E408D816E}"/>
                </a:ext>
              </a:extLst>
            </p:cNvPr>
            <p:cNvGrpSpPr/>
            <p:nvPr/>
          </p:nvGrpSpPr>
          <p:grpSpPr>
            <a:xfrm>
              <a:off x="457200" y="2977436"/>
              <a:ext cx="3125777" cy="400110"/>
              <a:chOff x="847985" y="4400490"/>
              <a:chExt cx="3125777" cy="400110"/>
            </a:xfrm>
          </p:grpSpPr>
          <p:grpSp>
            <p:nvGrpSpPr>
              <p:cNvPr id="36" name="Group 35">
                <a:extLst>
                  <a:ext uri="{FF2B5EF4-FFF2-40B4-BE49-F238E27FC236}">
                    <a16:creationId xmlns:a16="http://schemas.microsoft.com/office/drawing/2014/main" id="{9988B5EF-E104-4B19-922A-A21E86E0E207}"/>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CF8F6087-05BC-4784-BF68-320041942F73}"/>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87193AD5-452A-40AD-9818-A090BEC2E2A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FA94462A-8EAF-4C2E-9697-D29E2DBDE935}"/>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Political studies</a:t>
                </a:r>
              </a:p>
            </p:txBody>
          </p:sp>
        </p:grpSp>
        <p:grpSp>
          <p:nvGrpSpPr>
            <p:cNvPr id="40" name="Group 39">
              <a:extLst>
                <a:ext uri="{FF2B5EF4-FFF2-40B4-BE49-F238E27FC236}">
                  <a16:creationId xmlns:a16="http://schemas.microsoft.com/office/drawing/2014/main" id="{0FB21B10-5EA5-4636-B536-0F9255A412A1}"/>
                </a:ext>
              </a:extLst>
            </p:cNvPr>
            <p:cNvGrpSpPr/>
            <p:nvPr/>
          </p:nvGrpSpPr>
          <p:grpSpPr>
            <a:xfrm>
              <a:off x="457200" y="4030796"/>
              <a:ext cx="3125777" cy="400110"/>
              <a:chOff x="847985" y="4400490"/>
              <a:chExt cx="3125777" cy="400110"/>
            </a:xfrm>
          </p:grpSpPr>
          <p:grpSp>
            <p:nvGrpSpPr>
              <p:cNvPr id="41" name="Group 40">
                <a:extLst>
                  <a:ext uri="{FF2B5EF4-FFF2-40B4-BE49-F238E27FC236}">
                    <a16:creationId xmlns:a16="http://schemas.microsoft.com/office/drawing/2014/main" id="{94DFCF5F-32A7-48B7-8DA0-49D7B676E881}"/>
                  </a:ext>
                </a:extLst>
              </p:cNvPr>
              <p:cNvGrpSpPr/>
              <p:nvPr/>
            </p:nvGrpSpPr>
            <p:grpSpPr>
              <a:xfrm>
                <a:off x="847985" y="4508119"/>
                <a:ext cx="199272" cy="206152"/>
                <a:chOff x="2411760" y="3708613"/>
                <a:chExt cx="206152" cy="206152"/>
              </a:xfrm>
            </p:grpSpPr>
            <p:sp>
              <p:nvSpPr>
                <p:cNvPr id="43" name="Oval 42">
                  <a:extLst>
                    <a:ext uri="{FF2B5EF4-FFF2-40B4-BE49-F238E27FC236}">
                      <a16:creationId xmlns:a16="http://schemas.microsoft.com/office/drawing/2014/main" id="{7293D00F-0046-412F-983B-EB06899335C7}"/>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4" name="Chevron 45">
                  <a:extLst>
                    <a:ext uri="{FF2B5EF4-FFF2-40B4-BE49-F238E27FC236}">
                      <a16:creationId xmlns:a16="http://schemas.microsoft.com/office/drawing/2014/main" id="{5F5AD8CA-80EC-4724-B790-EB75AB65A82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2" name="TextBox 41">
                <a:extLst>
                  <a:ext uri="{FF2B5EF4-FFF2-40B4-BE49-F238E27FC236}">
                    <a16:creationId xmlns:a16="http://schemas.microsoft.com/office/drawing/2014/main" id="{70FE9F53-C084-4434-A704-9D382765428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Marketing studies</a:t>
                </a:r>
              </a:p>
            </p:txBody>
          </p:sp>
        </p:grpSp>
        <p:grpSp>
          <p:nvGrpSpPr>
            <p:cNvPr id="45" name="Group 44">
              <a:extLst>
                <a:ext uri="{FF2B5EF4-FFF2-40B4-BE49-F238E27FC236}">
                  <a16:creationId xmlns:a16="http://schemas.microsoft.com/office/drawing/2014/main" id="{589CBD94-ABAC-4E1F-8D28-DB1DC07654F4}"/>
                </a:ext>
              </a:extLst>
            </p:cNvPr>
            <p:cNvGrpSpPr/>
            <p:nvPr/>
          </p:nvGrpSpPr>
          <p:grpSpPr>
            <a:xfrm>
              <a:off x="457200" y="3502017"/>
              <a:ext cx="3125777" cy="400110"/>
              <a:chOff x="847985" y="4400490"/>
              <a:chExt cx="3125777" cy="400110"/>
            </a:xfrm>
          </p:grpSpPr>
          <p:grpSp>
            <p:nvGrpSpPr>
              <p:cNvPr id="46" name="Group 45">
                <a:extLst>
                  <a:ext uri="{FF2B5EF4-FFF2-40B4-BE49-F238E27FC236}">
                    <a16:creationId xmlns:a16="http://schemas.microsoft.com/office/drawing/2014/main" id="{F8D13068-30A7-4981-AFAC-237C630CD943}"/>
                  </a:ext>
                </a:extLst>
              </p:cNvPr>
              <p:cNvGrpSpPr/>
              <p:nvPr/>
            </p:nvGrpSpPr>
            <p:grpSpPr>
              <a:xfrm>
                <a:off x="847985" y="4508119"/>
                <a:ext cx="199272" cy="206152"/>
                <a:chOff x="2411760" y="3708613"/>
                <a:chExt cx="206152" cy="206152"/>
              </a:xfrm>
            </p:grpSpPr>
            <p:sp>
              <p:nvSpPr>
                <p:cNvPr id="48" name="Oval 47">
                  <a:extLst>
                    <a:ext uri="{FF2B5EF4-FFF2-40B4-BE49-F238E27FC236}">
                      <a16:creationId xmlns:a16="http://schemas.microsoft.com/office/drawing/2014/main" id="{BD2FEE3D-94EF-46A8-89F5-9B84FE7ABCDD}"/>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9" name="Chevron 45">
                  <a:extLst>
                    <a:ext uri="{FF2B5EF4-FFF2-40B4-BE49-F238E27FC236}">
                      <a16:creationId xmlns:a16="http://schemas.microsoft.com/office/drawing/2014/main" id="{EF99947B-55ED-4ECE-8C25-AB0C3A5974D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7" name="TextBox 46">
                <a:extLst>
                  <a:ext uri="{FF2B5EF4-FFF2-40B4-BE49-F238E27FC236}">
                    <a16:creationId xmlns:a16="http://schemas.microsoft.com/office/drawing/2014/main" id="{FF46D6F2-F044-4D5C-98B6-A907C87FAC7E}"/>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Business studies</a:t>
                </a:r>
              </a:p>
            </p:txBody>
          </p:sp>
        </p:grpSp>
      </p:grpSp>
      <p:sp>
        <p:nvSpPr>
          <p:cNvPr id="51" name="Rectangle: Rounded Corners 50">
            <a:extLst>
              <a:ext uri="{FF2B5EF4-FFF2-40B4-BE49-F238E27FC236}">
                <a16:creationId xmlns:a16="http://schemas.microsoft.com/office/drawing/2014/main" id="{4DBADA2E-E2AB-4624-A33B-003A58F87623}"/>
              </a:ext>
            </a:extLst>
          </p:cNvPr>
          <p:cNvSpPr/>
          <p:nvPr/>
        </p:nvSpPr>
        <p:spPr>
          <a:xfrm>
            <a:off x="304800" y="1949906"/>
            <a:ext cx="2971800" cy="4290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CF929B8E-2887-4A3F-B2CA-A4D7F8F4FD2D}"/>
              </a:ext>
            </a:extLst>
          </p:cNvPr>
          <p:cNvSpPr/>
          <p:nvPr/>
        </p:nvSpPr>
        <p:spPr>
          <a:xfrm>
            <a:off x="4419600" y="1546880"/>
            <a:ext cx="3973068" cy="338690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en-US" sz="2000" dirty="0">
                <a:solidFill>
                  <a:schemeClr val="tx1"/>
                </a:solidFill>
              </a:rPr>
              <a:t>Tracking human activities</a:t>
            </a:r>
          </a:p>
          <a:p>
            <a:pPr marL="285750" indent="-285750">
              <a:buFont typeface="Wingdings" panose="05000000000000000000" pitchFamily="2" charset="2"/>
              <a:buChar char="ü"/>
            </a:pPr>
            <a:r>
              <a:rPr lang="en-US" sz="2000" dirty="0">
                <a:solidFill>
                  <a:schemeClr val="tx1"/>
                </a:solidFill>
              </a:rPr>
              <a:t>Finding the distribution of human's dynamic</a:t>
            </a:r>
          </a:p>
          <a:p>
            <a:pPr marL="285750" indent="-285750">
              <a:buFont typeface="Wingdings" panose="05000000000000000000" pitchFamily="2" charset="2"/>
              <a:buChar char="ü"/>
            </a:pPr>
            <a:r>
              <a:rPr lang="en-US" sz="2000" dirty="0">
                <a:solidFill>
                  <a:schemeClr val="tx1"/>
                </a:solidFill>
              </a:rPr>
              <a:t>Investigating transportation behavior</a:t>
            </a:r>
          </a:p>
          <a:p>
            <a:pPr marL="285750" indent="-285750">
              <a:buFont typeface="Wingdings" panose="05000000000000000000" pitchFamily="2" charset="2"/>
              <a:buChar char="ü"/>
            </a:pPr>
            <a:r>
              <a:rPr lang="en-US" sz="2000" dirty="0">
                <a:solidFill>
                  <a:schemeClr val="tx1"/>
                </a:solidFill>
              </a:rPr>
              <a:t>Finding urban land use and landscape</a:t>
            </a:r>
          </a:p>
          <a:p>
            <a:pPr marL="285750" indent="-285750">
              <a:buFont typeface="Wingdings" panose="05000000000000000000" pitchFamily="2" charset="2"/>
              <a:buChar char="ü"/>
            </a:pPr>
            <a:r>
              <a:rPr lang="en-US" sz="2000" dirty="0">
                <a:solidFill>
                  <a:schemeClr val="tx1"/>
                </a:solidFill>
              </a:rPr>
              <a:t>Urban analyzing and modeling</a:t>
            </a:r>
          </a:p>
        </p:txBody>
      </p:sp>
      <p:sp>
        <p:nvSpPr>
          <p:cNvPr id="50" name="Title 1">
            <a:extLst>
              <a:ext uri="{FF2B5EF4-FFF2-40B4-BE49-F238E27FC236}">
                <a16:creationId xmlns:a16="http://schemas.microsoft.com/office/drawing/2014/main" id="{97F050AA-098C-418A-AB0F-82B550111E69}"/>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Areas of Applications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70879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barn(inVertical)">
                                      <p:cBhvr>
                                        <p:cTn id="1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1398587"/>
            <a:ext cx="8382000" cy="4858522"/>
          </a:xfrm>
        </p:spPr>
        <p:txBody>
          <a:bodyPr>
            <a:normAutofit/>
          </a:bodyPr>
          <a:lstStyle/>
          <a:p>
            <a:pPr marL="457200" lvl="1" indent="0">
              <a:buNone/>
            </a:pPr>
            <a:endParaRPr lang="en-US" b="1" dirty="0">
              <a:latin typeface="Candara" panose="020E0502030303020204" pitchFamily="34" charset="0"/>
            </a:endParaRPr>
          </a:p>
          <a:p>
            <a:pPr marL="457200" lvl="1" indent="0">
              <a:buNone/>
            </a:pPr>
            <a:endParaRPr lang="en-US" b="1" dirty="0">
              <a:latin typeface="Candara" panose="020E0502030303020204" pitchFamily="34" charset="0"/>
            </a:endParaRPr>
          </a:p>
        </p:txBody>
      </p:sp>
      <p:sp>
        <p:nvSpPr>
          <p:cNvPr id="3" name="Slide Number Placeholder 2">
            <a:extLst>
              <a:ext uri="{FF2B5EF4-FFF2-40B4-BE49-F238E27FC236}">
                <a16:creationId xmlns:a16="http://schemas.microsoft.com/office/drawing/2014/main" id="{ACE14572-BA0A-4399-A2C2-08D48CAF4EE1}"/>
              </a:ext>
            </a:extLst>
          </p:cNvPr>
          <p:cNvSpPr>
            <a:spLocks noGrp="1"/>
          </p:cNvSpPr>
          <p:nvPr>
            <p:ph type="sldNum" sz="quarter" idx="12"/>
          </p:nvPr>
        </p:nvSpPr>
        <p:spPr/>
        <p:txBody>
          <a:bodyPr/>
          <a:lstStyle/>
          <a:p>
            <a:fld id="{85F881A0-7E4F-4F05-8C98-13E0A3A62794}" type="slidenum">
              <a:rPr lang="en-US" smtClean="0"/>
              <a:pPr/>
              <a:t>10</a:t>
            </a:fld>
            <a:endParaRPr lang="en-US"/>
          </a:p>
        </p:txBody>
      </p:sp>
      <p:sp>
        <p:nvSpPr>
          <p:cNvPr id="17" name="Rectangle 16">
            <a:extLst>
              <a:ext uri="{FF2B5EF4-FFF2-40B4-BE49-F238E27FC236}">
                <a16:creationId xmlns:a16="http://schemas.microsoft.com/office/drawing/2014/main" id="{FA04F920-F412-421C-A227-2221ACC942DC}"/>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9" name="Group 8">
            <a:extLst>
              <a:ext uri="{FF2B5EF4-FFF2-40B4-BE49-F238E27FC236}">
                <a16:creationId xmlns:a16="http://schemas.microsoft.com/office/drawing/2014/main" id="{1E785517-5DDF-457F-AEF2-D8EE31A059C1}"/>
              </a:ext>
            </a:extLst>
          </p:cNvPr>
          <p:cNvGrpSpPr/>
          <p:nvPr/>
        </p:nvGrpSpPr>
        <p:grpSpPr>
          <a:xfrm>
            <a:off x="457200" y="1405960"/>
            <a:ext cx="3125777" cy="3024946"/>
            <a:chOff x="457200" y="1405960"/>
            <a:chExt cx="3125777" cy="3024946"/>
          </a:xfrm>
        </p:grpSpPr>
        <p:grpSp>
          <p:nvGrpSpPr>
            <p:cNvPr id="7" name="Group 6">
              <a:extLst>
                <a:ext uri="{FF2B5EF4-FFF2-40B4-BE49-F238E27FC236}">
                  <a16:creationId xmlns:a16="http://schemas.microsoft.com/office/drawing/2014/main" id="{188BEB61-C5DE-4A5B-9520-8A9D24429AEA}"/>
                </a:ext>
              </a:extLst>
            </p:cNvPr>
            <p:cNvGrpSpPr/>
            <p:nvPr/>
          </p:nvGrpSpPr>
          <p:grpSpPr>
            <a:xfrm>
              <a:off x="457200" y="1405960"/>
              <a:ext cx="2428615" cy="400110"/>
              <a:chOff x="847985" y="3927633"/>
              <a:chExt cx="2428615" cy="400110"/>
            </a:xfrm>
          </p:grpSpPr>
          <p:grpSp>
            <p:nvGrpSpPr>
              <p:cNvPr id="19" name="Group 18">
                <a:extLst>
                  <a:ext uri="{FF2B5EF4-FFF2-40B4-BE49-F238E27FC236}">
                    <a16:creationId xmlns:a16="http://schemas.microsoft.com/office/drawing/2014/main" id="{E2B57F35-178C-452C-8269-31DE61EC9868}"/>
                  </a:ext>
                </a:extLst>
              </p:cNvPr>
              <p:cNvGrpSpPr/>
              <p:nvPr/>
            </p:nvGrpSpPr>
            <p:grpSpPr>
              <a:xfrm>
                <a:off x="847985" y="4038600"/>
                <a:ext cx="199272" cy="206152"/>
                <a:chOff x="2411760" y="3708613"/>
                <a:chExt cx="206152" cy="206152"/>
              </a:xfrm>
            </p:grpSpPr>
            <p:sp>
              <p:nvSpPr>
                <p:cNvPr id="23" name="Oval 22">
                  <a:extLst>
                    <a:ext uri="{FF2B5EF4-FFF2-40B4-BE49-F238E27FC236}">
                      <a16:creationId xmlns:a16="http://schemas.microsoft.com/office/drawing/2014/main" id="{A547D54F-43B5-4829-97C3-E0582FCADF7A}"/>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4" name="Chevron 45">
                  <a:extLst>
                    <a:ext uri="{FF2B5EF4-FFF2-40B4-BE49-F238E27FC236}">
                      <a16:creationId xmlns:a16="http://schemas.microsoft.com/office/drawing/2014/main" id="{AB7AB7FF-5BF5-4CA8-9760-68222A4E7FF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1" name="TextBox 20">
                <a:extLst>
                  <a:ext uri="{FF2B5EF4-FFF2-40B4-BE49-F238E27FC236}">
                    <a16:creationId xmlns:a16="http://schemas.microsoft.com/office/drawing/2014/main" id="{1AA8F26C-1EEA-43DC-8708-3D05332B4FD0}"/>
                  </a:ext>
                </a:extLst>
              </p:cNvPr>
              <p:cNvSpPr txBox="1"/>
              <p:nvPr/>
            </p:nvSpPr>
            <p:spPr>
              <a:xfrm>
                <a:off x="1098666" y="3927633"/>
                <a:ext cx="2177934" cy="400110"/>
              </a:xfrm>
              <a:prstGeom prst="rect">
                <a:avLst/>
              </a:prstGeom>
              <a:noFill/>
            </p:spPr>
            <p:txBody>
              <a:bodyPr wrap="square" rtlCol="0" anchor="ctr">
                <a:spAutoFit/>
              </a:bodyPr>
              <a:lstStyle/>
              <a:p>
                <a:pPr marL="0" lvl="1"/>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Disaster studies</a:t>
                </a:r>
              </a:p>
            </p:txBody>
          </p:sp>
        </p:grpSp>
        <p:grpSp>
          <p:nvGrpSpPr>
            <p:cNvPr id="8" name="Group 7">
              <a:extLst>
                <a:ext uri="{FF2B5EF4-FFF2-40B4-BE49-F238E27FC236}">
                  <a16:creationId xmlns:a16="http://schemas.microsoft.com/office/drawing/2014/main" id="{95D8874F-D496-4657-8027-8EC4AAEABA98}"/>
                </a:ext>
              </a:extLst>
            </p:cNvPr>
            <p:cNvGrpSpPr/>
            <p:nvPr/>
          </p:nvGrpSpPr>
          <p:grpSpPr>
            <a:xfrm>
              <a:off x="457200" y="1971513"/>
              <a:ext cx="3125777" cy="400110"/>
              <a:chOff x="847985" y="4400490"/>
              <a:chExt cx="3125777" cy="400110"/>
            </a:xfrm>
          </p:grpSpPr>
          <p:grpSp>
            <p:nvGrpSpPr>
              <p:cNvPr id="26" name="Group 25">
                <a:extLst>
                  <a:ext uri="{FF2B5EF4-FFF2-40B4-BE49-F238E27FC236}">
                    <a16:creationId xmlns:a16="http://schemas.microsoft.com/office/drawing/2014/main" id="{574321A5-2D36-4550-9224-107E9D75D494}"/>
                  </a:ext>
                </a:extLst>
              </p:cNvPr>
              <p:cNvGrpSpPr/>
              <p:nvPr/>
            </p:nvGrpSpPr>
            <p:grpSpPr>
              <a:xfrm>
                <a:off x="847985" y="4508119"/>
                <a:ext cx="199272" cy="206152"/>
                <a:chOff x="2411760" y="3708613"/>
                <a:chExt cx="206152" cy="206152"/>
              </a:xfrm>
            </p:grpSpPr>
            <p:sp>
              <p:nvSpPr>
                <p:cNvPr id="28" name="Oval 27">
                  <a:extLst>
                    <a:ext uri="{FF2B5EF4-FFF2-40B4-BE49-F238E27FC236}">
                      <a16:creationId xmlns:a16="http://schemas.microsoft.com/office/drawing/2014/main" id="{511FD80E-8C12-44AD-818F-55EA5367D8C9}"/>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9" name="Chevron 45">
                  <a:extLst>
                    <a:ext uri="{FF2B5EF4-FFF2-40B4-BE49-F238E27FC236}">
                      <a16:creationId xmlns:a16="http://schemas.microsoft.com/office/drawing/2014/main" id="{3BCA47D9-6002-46CE-8323-61D33203717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7" name="TextBox 26">
                <a:extLst>
                  <a:ext uri="{FF2B5EF4-FFF2-40B4-BE49-F238E27FC236}">
                    <a16:creationId xmlns:a16="http://schemas.microsoft.com/office/drawing/2014/main" id="{95A5DB0F-6366-4229-AEAC-35112087274B}"/>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Urban planning studies</a:t>
                </a:r>
              </a:p>
            </p:txBody>
          </p:sp>
        </p:grpSp>
        <p:grpSp>
          <p:nvGrpSpPr>
            <p:cNvPr id="30" name="Group 29">
              <a:extLst>
                <a:ext uri="{FF2B5EF4-FFF2-40B4-BE49-F238E27FC236}">
                  <a16:creationId xmlns:a16="http://schemas.microsoft.com/office/drawing/2014/main" id="{20892220-179C-436C-B9B3-3A4C02DFE895}"/>
                </a:ext>
              </a:extLst>
            </p:cNvPr>
            <p:cNvGrpSpPr/>
            <p:nvPr/>
          </p:nvGrpSpPr>
          <p:grpSpPr>
            <a:xfrm>
              <a:off x="457200" y="2493572"/>
              <a:ext cx="3125777" cy="400110"/>
              <a:chOff x="847985" y="4400490"/>
              <a:chExt cx="3125777" cy="400110"/>
            </a:xfrm>
          </p:grpSpPr>
          <p:grpSp>
            <p:nvGrpSpPr>
              <p:cNvPr id="31" name="Group 30">
                <a:extLst>
                  <a:ext uri="{FF2B5EF4-FFF2-40B4-BE49-F238E27FC236}">
                    <a16:creationId xmlns:a16="http://schemas.microsoft.com/office/drawing/2014/main" id="{B7A885D4-2E70-471D-9D15-BC5683BCEAB5}"/>
                  </a:ext>
                </a:extLst>
              </p:cNvPr>
              <p:cNvGrpSpPr/>
              <p:nvPr/>
            </p:nvGrpSpPr>
            <p:grpSpPr>
              <a:xfrm>
                <a:off x="847985" y="4508119"/>
                <a:ext cx="199272" cy="206152"/>
                <a:chOff x="2411760" y="3708613"/>
                <a:chExt cx="206152" cy="206152"/>
              </a:xfrm>
            </p:grpSpPr>
            <p:sp>
              <p:nvSpPr>
                <p:cNvPr id="33" name="Oval 32">
                  <a:extLst>
                    <a:ext uri="{FF2B5EF4-FFF2-40B4-BE49-F238E27FC236}">
                      <a16:creationId xmlns:a16="http://schemas.microsoft.com/office/drawing/2014/main" id="{171FD354-4B6F-44BE-B1FD-62D8766FB980}"/>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4" name="Chevron 45">
                  <a:extLst>
                    <a:ext uri="{FF2B5EF4-FFF2-40B4-BE49-F238E27FC236}">
                      <a16:creationId xmlns:a16="http://schemas.microsoft.com/office/drawing/2014/main" id="{66126481-614B-40AD-B2DF-6CF1BEE66210}"/>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2" name="TextBox 31">
                <a:extLst>
                  <a:ext uri="{FF2B5EF4-FFF2-40B4-BE49-F238E27FC236}">
                    <a16:creationId xmlns:a16="http://schemas.microsoft.com/office/drawing/2014/main" id="{4025DE27-937D-4D66-9CBD-70C192A57B4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Public health studies</a:t>
                </a:r>
              </a:p>
            </p:txBody>
          </p:sp>
        </p:grpSp>
        <p:grpSp>
          <p:nvGrpSpPr>
            <p:cNvPr id="35" name="Group 34">
              <a:extLst>
                <a:ext uri="{FF2B5EF4-FFF2-40B4-BE49-F238E27FC236}">
                  <a16:creationId xmlns:a16="http://schemas.microsoft.com/office/drawing/2014/main" id="{EDCB7C2F-49D7-43CA-9958-FB3E408D816E}"/>
                </a:ext>
              </a:extLst>
            </p:cNvPr>
            <p:cNvGrpSpPr/>
            <p:nvPr/>
          </p:nvGrpSpPr>
          <p:grpSpPr>
            <a:xfrm>
              <a:off x="457200" y="2977436"/>
              <a:ext cx="3125777" cy="400110"/>
              <a:chOff x="847985" y="4400490"/>
              <a:chExt cx="3125777" cy="400110"/>
            </a:xfrm>
          </p:grpSpPr>
          <p:grpSp>
            <p:nvGrpSpPr>
              <p:cNvPr id="36" name="Group 35">
                <a:extLst>
                  <a:ext uri="{FF2B5EF4-FFF2-40B4-BE49-F238E27FC236}">
                    <a16:creationId xmlns:a16="http://schemas.microsoft.com/office/drawing/2014/main" id="{9988B5EF-E104-4B19-922A-A21E86E0E207}"/>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CF8F6087-05BC-4784-BF68-320041942F73}"/>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87193AD5-452A-40AD-9818-A090BEC2E2A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FA94462A-8EAF-4C2E-9697-D29E2DBDE935}"/>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Political studies</a:t>
                </a:r>
              </a:p>
            </p:txBody>
          </p:sp>
        </p:grpSp>
        <p:grpSp>
          <p:nvGrpSpPr>
            <p:cNvPr id="40" name="Group 39">
              <a:extLst>
                <a:ext uri="{FF2B5EF4-FFF2-40B4-BE49-F238E27FC236}">
                  <a16:creationId xmlns:a16="http://schemas.microsoft.com/office/drawing/2014/main" id="{0FB21B10-5EA5-4636-B536-0F9255A412A1}"/>
                </a:ext>
              </a:extLst>
            </p:cNvPr>
            <p:cNvGrpSpPr/>
            <p:nvPr/>
          </p:nvGrpSpPr>
          <p:grpSpPr>
            <a:xfrm>
              <a:off x="457200" y="4030796"/>
              <a:ext cx="3125777" cy="400110"/>
              <a:chOff x="847985" y="4400490"/>
              <a:chExt cx="3125777" cy="400110"/>
            </a:xfrm>
          </p:grpSpPr>
          <p:grpSp>
            <p:nvGrpSpPr>
              <p:cNvPr id="41" name="Group 40">
                <a:extLst>
                  <a:ext uri="{FF2B5EF4-FFF2-40B4-BE49-F238E27FC236}">
                    <a16:creationId xmlns:a16="http://schemas.microsoft.com/office/drawing/2014/main" id="{94DFCF5F-32A7-48B7-8DA0-49D7B676E881}"/>
                  </a:ext>
                </a:extLst>
              </p:cNvPr>
              <p:cNvGrpSpPr/>
              <p:nvPr/>
            </p:nvGrpSpPr>
            <p:grpSpPr>
              <a:xfrm>
                <a:off x="847985" y="4508119"/>
                <a:ext cx="199272" cy="206152"/>
                <a:chOff x="2411760" y="3708613"/>
                <a:chExt cx="206152" cy="206152"/>
              </a:xfrm>
            </p:grpSpPr>
            <p:sp>
              <p:nvSpPr>
                <p:cNvPr id="43" name="Oval 42">
                  <a:extLst>
                    <a:ext uri="{FF2B5EF4-FFF2-40B4-BE49-F238E27FC236}">
                      <a16:creationId xmlns:a16="http://schemas.microsoft.com/office/drawing/2014/main" id="{7293D00F-0046-412F-983B-EB06899335C7}"/>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4" name="Chevron 45">
                  <a:extLst>
                    <a:ext uri="{FF2B5EF4-FFF2-40B4-BE49-F238E27FC236}">
                      <a16:creationId xmlns:a16="http://schemas.microsoft.com/office/drawing/2014/main" id="{5F5AD8CA-80EC-4724-B790-EB75AB65A82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2" name="TextBox 41">
                <a:extLst>
                  <a:ext uri="{FF2B5EF4-FFF2-40B4-BE49-F238E27FC236}">
                    <a16:creationId xmlns:a16="http://schemas.microsoft.com/office/drawing/2014/main" id="{70FE9F53-C084-4434-A704-9D382765428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Marketing studies</a:t>
                </a:r>
              </a:p>
            </p:txBody>
          </p:sp>
        </p:grpSp>
        <p:grpSp>
          <p:nvGrpSpPr>
            <p:cNvPr id="45" name="Group 44">
              <a:extLst>
                <a:ext uri="{FF2B5EF4-FFF2-40B4-BE49-F238E27FC236}">
                  <a16:creationId xmlns:a16="http://schemas.microsoft.com/office/drawing/2014/main" id="{589CBD94-ABAC-4E1F-8D28-DB1DC07654F4}"/>
                </a:ext>
              </a:extLst>
            </p:cNvPr>
            <p:cNvGrpSpPr/>
            <p:nvPr/>
          </p:nvGrpSpPr>
          <p:grpSpPr>
            <a:xfrm>
              <a:off x="457200" y="3502017"/>
              <a:ext cx="3125777" cy="400110"/>
              <a:chOff x="847985" y="4400490"/>
              <a:chExt cx="3125777" cy="400110"/>
            </a:xfrm>
          </p:grpSpPr>
          <p:grpSp>
            <p:nvGrpSpPr>
              <p:cNvPr id="46" name="Group 45">
                <a:extLst>
                  <a:ext uri="{FF2B5EF4-FFF2-40B4-BE49-F238E27FC236}">
                    <a16:creationId xmlns:a16="http://schemas.microsoft.com/office/drawing/2014/main" id="{F8D13068-30A7-4981-AFAC-237C630CD943}"/>
                  </a:ext>
                </a:extLst>
              </p:cNvPr>
              <p:cNvGrpSpPr/>
              <p:nvPr/>
            </p:nvGrpSpPr>
            <p:grpSpPr>
              <a:xfrm>
                <a:off x="847985" y="4508119"/>
                <a:ext cx="199272" cy="206152"/>
                <a:chOff x="2411760" y="3708613"/>
                <a:chExt cx="206152" cy="206152"/>
              </a:xfrm>
            </p:grpSpPr>
            <p:sp>
              <p:nvSpPr>
                <p:cNvPr id="48" name="Oval 47">
                  <a:extLst>
                    <a:ext uri="{FF2B5EF4-FFF2-40B4-BE49-F238E27FC236}">
                      <a16:creationId xmlns:a16="http://schemas.microsoft.com/office/drawing/2014/main" id="{BD2FEE3D-94EF-46A8-89F5-9B84FE7ABCDD}"/>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9" name="Chevron 45">
                  <a:extLst>
                    <a:ext uri="{FF2B5EF4-FFF2-40B4-BE49-F238E27FC236}">
                      <a16:creationId xmlns:a16="http://schemas.microsoft.com/office/drawing/2014/main" id="{EF99947B-55ED-4ECE-8C25-AB0C3A5974D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7" name="TextBox 46">
                <a:extLst>
                  <a:ext uri="{FF2B5EF4-FFF2-40B4-BE49-F238E27FC236}">
                    <a16:creationId xmlns:a16="http://schemas.microsoft.com/office/drawing/2014/main" id="{FF46D6F2-F044-4D5C-98B6-A907C87FAC7E}"/>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Business studies</a:t>
                </a:r>
              </a:p>
            </p:txBody>
          </p:sp>
        </p:grpSp>
      </p:grpSp>
      <p:sp>
        <p:nvSpPr>
          <p:cNvPr id="51" name="Rectangle: Rounded Corners 50">
            <a:extLst>
              <a:ext uri="{FF2B5EF4-FFF2-40B4-BE49-F238E27FC236}">
                <a16:creationId xmlns:a16="http://schemas.microsoft.com/office/drawing/2014/main" id="{4DBADA2E-E2AB-4624-A33B-003A58F87623}"/>
              </a:ext>
            </a:extLst>
          </p:cNvPr>
          <p:cNvSpPr/>
          <p:nvPr/>
        </p:nvSpPr>
        <p:spPr>
          <a:xfrm>
            <a:off x="310948" y="2484049"/>
            <a:ext cx="2971800" cy="4290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30946D1D-5CF9-4BC9-9784-07709F49EF47}"/>
              </a:ext>
            </a:extLst>
          </p:cNvPr>
          <p:cNvSpPr/>
          <p:nvPr/>
        </p:nvSpPr>
        <p:spPr>
          <a:xfrm>
            <a:off x="4191000" y="1672194"/>
            <a:ext cx="4430963" cy="404280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en-US" sz="2000" dirty="0">
                <a:solidFill>
                  <a:schemeClr val="tx1"/>
                </a:solidFill>
              </a:rPr>
              <a:t>Tracking and monitoring pandemics</a:t>
            </a:r>
          </a:p>
          <a:p>
            <a:pPr marL="285750" indent="-285750">
              <a:buFont typeface="Wingdings" panose="05000000000000000000" pitchFamily="2" charset="2"/>
              <a:buChar char="ü"/>
            </a:pPr>
            <a:r>
              <a:rPr lang="en-US" sz="2000" dirty="0">
                <a:solidFill>
                  <a:schemeClr val="tx1"/>
                </a:solidFill>
              </a:rPr>
              <a:t>Tracking and detecting infectious disease and disease outbreaks </a:t>
            </a:r>
          </a:p>
          <a:p>
            <a:pPr marL="285750" indent="-285750">
              <a:buFont typeface="Wingdings" panose="05000000000000000000" pitchFamily="2" charset="2"/>
              <a:buChar char="ü"/>
            </a:pPr>
            <a:endParaRPr lang="en-US" sz="2000" dirty="0">
              <a:solidFill>
                <a:schemeClr val="tx1"/>
              </a:solidFill>
            </a:endParaRPr>
          </a:p>
          <a:p>
            <a:pPr marL="285750" indent="-285750">
              <a:buFont typeface="Wingdings" panose="05000000000000000000" pitchFamily="2" charset="2"/>
              <a:buChar char="ü"/>
            </a:pPr>
            <a:r>
              <a:rPr lang="en-US" sz="2000" dirty="0">
                <a:solidFill>
                  <a:schemeClr val="tx1"/>
                </a:solidFill>
              </a:rPr>
              <a:t>Identifying and tracking adverse drug reactions</a:t>
            </a:r>
          </a:p>
          <a:p>
            <a:endParaRPr lang="en-US" sz="2000" dirty="0">
              <a:solidFill>
                <a:schemeClr val="tx1"/>
              </a:solidFill>
            </a:endParaRPr>
          </a:p>
          <a:p>
            <a:pPr marL="285750" indent="-285750">
              <a:buFont typeface="Wingdings" panose="05000000000000000000" pitchFamily="2" charset="2"/>
              <a:buChar char="ü"/>
            </a:pPr>
            <a:r>
              <a:rPr lang="en-US" sz="2000" dirty="0">
                <a:solidFill>
                  <a:schemeClr val="tx1"/>
                </a:solidFill>
              </a:rPr>
              <a:t>Investigating  mental health of people</a:t>
            </a:r>
          </a:p>
        </p:txBody>
      </p:sp>
      <p:sp>
        <p:nvSpPr>
          <p:cNvPr id="50" name="Title 1">
            <a:extLst>
              <a:ext uri="{FF2B5EF4-FFF2-40B4-BE49-F238E27FC236}">
                <a16:creationId xmlns:a16="http://schemas.microsoft.com/office/drawing/2014/main" id="{279C57B0-099D-4B1C-9CFB-49244B32FB23}"/>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Areas of Applications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97869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arn(inVertical)">
                                      <p:cBhvr>
                                        <p:cTn id="7" dur="500"/>
                                        <p:tgtEl>
                                          <p:spTgt spid="5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arn(inVertical)">
                                      <p:cBhvr>
                                        <p:cTn id="1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1398587"/>
            <a:ext cx="8382000" cy="4858522"/>
          </a:xfrm>
        </p:spPr>
        <p:txBody>
          <a:bodyPr>
            <a:normAutofit/>
          </a:bodyPr>
          <a:lstStyle/>
          <a:p>
            <a:pPr marL="457200" lvl="1" indent="0">
              <a:buNone/>
            </a:pPr>
            <a:endParaRPr lang="en-US" b="1" dirty="0">
              <a:latin typeface="Candara" panose="020E0502030303020204" pitchFamily="34" charset="0"/>
            </a:endParaRPr>
          </a:p>
          <a:p>
            <a:pPr marL="457200" lvl="1" indent="0">
              <a:buNone/>
            </a:pPr>
            <a:endParaRPr lang="en-US" b="1" dirty="0">
              <a:latin typeface="Candara" panose="020E0502030303020204" pitchFamily="34" charset="0"/>
            </a:endParaRPr>
          </a:p>
        </p:txBody>
      </p:sp>
      <p:sp>
        <p:nvSpPr>
          <p:cNvPr id="3" name="Slide Number Placeholder 2">
            <a:extLst>
              <a:ext uri="{FF2B5EF4-FFF2-40B4-BE49-F238E27FC236}">
                <a16:creationId xmlns:a16="http://schemas.microsoft.com/office/drawing/2014/main" id="{ACE14572-BA0A-4399-A2C2-08D48CAF4EE1}"/>
              </a:ext>
            </a:extLst>
          </p:cNvPr>
          <p:cNvSpPr>
            <a:spLocks noGrp="1"/>
          </p:cNvSpPr>
          <p:nvPr>
            <p:ph type="sldNum" sz="quarter" idx="12"/>
          </p:nvPr>
        </p:nvSpPr>
        <p:spPr/>
        <p:txBody>
          <a:bodyPr/>
          <a:lstStyle/>
          <a:p>
            <a:fld id="{85F881A0-7E4F-4F05-8C98-13E0A3A62794}" type="slidenum">
              <a:rPr lang="en-US" smtClean="0"/>
              <a:pPr/>
              <a:t>11</a:t>
            </a:fld>
            <a:endParaRPr lang="en-US"/>
          </a:p>
        </p:txBody>
      </p:sp>
      <p:sp>
        <p:nvSpPr>
          <p:cNvPr id="17" name="Rectangle 16">
            <a:extLst>
              <a:ext uri="{FF2B5EF4-FFF2-40B4-BE49-F238E27FC236}">
                <a16:creationId xmlns:a16="http://schemas.microsoft.com/office/drawing/2014/main" id="{FA04F920-F412-421C-A227-2221ACC942DC}"/>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9" name="Group 8">
            <a:extLst>
              <a:ext uri="{FF2B5EF4-FFF2-40B4-BE49-F238E27FC236}">
                <a16:creationId xmlns:a16="http://schemas.microsoft.com/office/drawing/2014/main" id="{1E785517-5DDF-457F-AEF2-D8EE31A059C1}"/>
              </a:ext>
            </a:extLst>
          </p:cNvPr>
          <p:cNvGrpSpPr/>
          <p:nvPr/>
        </p:nvGrpSpPr>
        <p:grpSpPr>
          <a:xfrm>
            <a:off x="457200" y="1405960"/>
            <a:ext cx="3125777" cy="3024946"/>
            <a:chOff x="457200" y="1405960"/>
            <a:chExt cx="3125777" cy="3024946"/>
          </a:xfrm>
        </p:grpSpPr>
        <p:grpSp>
          <p:nvGrpSpPr>
            <p:cNvPr id="7" name="Group 6">
              <a:extLst>
                <a:ext uri="{FF2B5EF4-FFF2-40B4-BE49-F238E27FC236}">
                  <a16:creationId xmlns:a16="http://schemas.microsoft.com/office/drawing/2014/main" id="{188BEB61-C5DE-4A5B-9520-8A9D24429AEA}"/>
                </a:ext>
              </a:extLst>
            </p:cNvPr>
            <p:cNvGrpSpPr/>
            <p:nvPr/>
          </p:nvGrpSpPr>
          <p:grpSpPr>
            <a:xfrm>
              <a:off x="457200" y="1405960"/>
              <a:ext cx="2428615" cy="400110"/>
              <a:chOff x="847985" y="3927633"/>
              <a:chExt cx="2428615" cy="400110"/>
            </a:xfrm>
          </p:grpSpPr>
          <p:grpSp>
            <p:nvGrpSpPr>
              <p:cNvPr id="19" name="Group 18">
                <a:extLst>
                  <a:ext uri="{FF2B5EF4-FFF2-40B4-BE49-F238E27FC236}">
                    <a16:creationId xmlns:a16="http://schemas.microsoft.com/office/drawing/2014/main" id="{E2B57F35-178C-452C-8269-31DE61EC9868}"/>
                  </a:ext>
                </a:extLst>
              </p:cNvPr>
              <p:cNvGrpSpPr/>
              <p:nvPr/>
            </p:nvGrpSpPr>
            <p:grpSpPr>
              <a:xfrm>
                <a:off x="847985" y="4038600"/>
                <a:ext cx="199272" cy="206152"/>
                <a:chOff x="2411760" y="3708613"/>
                <a:chExt cx="206152" cy="206152"/>
              </a:xfrm>
            </p:grpSpPr>
            <p:sp>
              <p:nvSpPr>
                <p:cNvPr id="23" name="Oval 22">
                  <a:extLst>
                    <a:ext uri="{FF2B5EF4-FFF2-40B4-BE49-F238E27FC236}">
                      <a16:creationId xmlns:a16="http://schemas.microsoft.com/office/drawing/2014/main" id="{A547D54F-43B5-4829-97C3-E0582FCADF7A}"/>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4" name="Chevron 45">
                  <a:extLst>
                    <a:ext uri="{FF2B5EF4-FFF2-40B4-BE49-F238E27FC236}">
                      <a16:creationId xmlns:a16="http://schemas.microsoft.com/office/drawing/2014/main" id="{AB7AB7FF-5BF5-4CA8-9760-68222A4E7FF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1" name="TextBox 20">
                <a:extLst>
                  <a:ext uri="{FF2B5EF4-FFF2-40B4-BE49-F238E27FC236}">
                    <a16:creationId xmlns:a16="http://schemas.microsoft.com/office/drawing/2014/main" id="{1AA8F26C-1EEA-43DC-8708-3D05332B4FD0}"/>
                  </a:ext>
                </a:extLst>
              </p:cNvPr>
              <p:cNvSpPr txBox="1"/>
              <p:nvPr/>
            </p:nvSpPr>
            <p:spPr>
              <a:xfrm>
                <a:off x="1098666" y="3927633"/>
                <a:ext cx="2177934" cy="400110"/>
              </a:xfrm>
              <a:prstGeom prst="rect">
                <a:avLst/>
              </a:prstGeom>
              <a:noFill/>
            </p:spPr>
            <p:txBody>
              <a:bodyPr wrap="square" rtlCol="0" anchor="ctr">
                <a:spAutoFit/>
              </a:bodyPr>
              <a:lstStyle/>
              <a:p>
                <a:pPr marL="0" lvl="1"/>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Disaster studies</a:t>
                </a:r>
              </a:p>
            </p:txBody>
          </p:sp>
        </p:grpSp>
        <p:grpSp>
          <p:nvGrpSpPr>
            <p:cNvPr id="8" name="Group 7">
              <a:extLst>
                <a:ext uri="{FF2B5EF4-FFF2-40B4-BE49-F238E27FC236}">
                  <a16:creationId xmlns:a16="http://schemas.microsoft.com/office/drawing/2014/main" id="{95D8874F-D496-4657-8027-8EC4AAEABA98}"/>
                </a:ext>
              </a:extLst>
            </p:cNvPr>
            <p:cNvGrpSpPr/>
            <p:nvPr/>
          </p:nvGrpSpPr>
          <p:grpSpPr>
            <a:xfrm>
              <a:off x="457200" y="1971513"/>
              <a:ext cx="3125777" cy="400110"/>
              <a:chOff x="847985" y="4400490"/>
              <a:chExt cx="3125777" cy="400110"/>
            </a:xfrm>
          </p:grpSpPr>
          <p:grpSp>
            <p:nvGrpSpPr>
              <p:cNvPr id="26" name="Group 25">
                <a:extLst>
                  <a:ext uri="{FF2B5EF4-FFF2-40B4-BE49-F238E27FC236}">
                    <a16:creationId xmlns:a16="http://schemas.microsoft.com/office/drawing/2014/main" id="{574321A5-2D36-4550-9224-107E9D75D494}"/>
                  </a:ext>
                </a:extLst>
              </p:cNvPr>
              <p:cNvGrpSpPr/>
              <p:nvPr/>
            </p:nvGrpSpPr>
            <p:grpSpPr>
              <a:xfrm>
                <a:off x="847985" y="4508119"/>
                <a:ext cx="199272" cy="206152"/>
                <a:chOff x="2411760" y="3708613"/>
                <a:chExt cx="206152" cy="206152"/>
              </a:xfrm>
            </p:grpSpPr>
            <p:sp>
              <p:nvSpPr>
                <p:cNvPr id="28" name="Oval 27">
                  <a:extLst>
                    <a:ext uri="{FF2B5EF4-FFF2-40B4-BE49-F238E27FC236}">
                      <a16:creationId xmlns:a16="http://schemas.microsoft.com/office/drawing/2014/main" id="{511FD80E-8C12-44AD-818F-55EA5367D8C9}"/>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9" name="Chevron 45">
                  <a:extLst>
                    <a:ext uri="{FF2B5EF4-FFF2-40B4-BE49-F238E27FC236}">
                      <a16:creationId xmlns:a16="http://schemas.microsoft.com/office/drawing/2014/main" id="{3BCA47D9-6002-46CE-8323-61D33203717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7" name="TextBox 26">
                <a:extLst>
                  <a:ext uri="{FF2B5EF4-FFF2-40B4-BE49-F238E27FC236}">
                    <a16:creationId xmlns:a16="http://schemas.microsoft.com/office/drawing/2014/main" id="{95A5DB0F-6366-4229-AEAC-35112087274B}"/>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Urban planning studies</a:t>
                </a:r>
              </a:p>
            </p:txBody>
          </p:sp>
        </p:grpSp>
        <p:grpSp>
          <p:nvGrpSpPr>
            <p:cNvPr id="30" name="Group 29">
              <a:extLst>
                <a:ext uri="{FF2B5EF4-FFF2-40B4-BE49-F238E27FC236}">
                  <a16:creationId xmlns:a16="http://schemas.microsoft.com/office/drawing/2014/main" id="{20892220-179C-436C-B9B3-3A4C02DFE895}"/>
                </a:ext>
              </a:extLst>
            </p:cNvPr>
            <p:cNvGrpSpPr/>
            <p:nvPr/>
          </p:nvGrpSpPr>
          <p:grpSpPr>
            <a:xfrm>
              <a:off x="457200" y="2493572"/>
              <a:ext cx="3125777" cy="400110"/>
              <a:chOff x="847985" y="4400490"/>
              <a:chExt cx="3125777" cy="400110"/>
            </a:xfrm>
          </p:grpSpPr>
          <p:grpSp>
            <p:nvGrpSpPr>
              <p:cNvPr id="31" name="Group 30">
                <a:extLst>
                  <a:ext uri="{FF2B5EF4-FFF2-40B4-BE49-F238E27FC236}">
                    <a16:creationId xmlns:a16="http://schemas.microsoft.com/office/drawing/2014/main" id="{B7A885D4-2E70-471D-9D15-BC5683BCEAB5}"/>
                  </a:ext>
                </a:extLst>
              </p:cNvPr>
              <p:cNvGrpSpPr/>
              <p:nvPr/>
            </p:nvGrpSpPr>
            <p:grpSpPr>
              <a:xfrm>
                <a:off x="847985" y="4508119"/>
                <a:ext cx="199272" cy="206152"/>
                <a:chOff x="2411760" y="3708613"/>
                <a:chExt cx="206152" cy="206152"/>
              </a:xfrm>
            </p:grpSpPr>
            <p:sp>
              <p:nvSpPr>
                <p:cNvPr id="33" name="Oval 32">
                  <a:extLst>
                    <a:ext uri="{FF2B5EF4-FFF2-40B4-BE49-F238E27FC236}">
                      <a16:creationId xmlns:a16="http://schemas.microsoft.com/office/drawing/2014/main" id="{171FD354-4B6F-44BE-B1FD-62D8766FB980}"/>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4" name="Chevron 45">
                  <a:extLst>
                    <a:ext uri="{FF2B5EF4-FFF2-40B4-BE49-F238E27FC236}">
                      <a16:creationId xmlns:a16="http://schemas.microsoft.com/office/drawing/2014/main" id="{66126481-614B-40AD-B2DF-6CF1BEE66210}"/>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2" name="TextBox 31">
                <a:extLst>
                  <a:ext uri="{FF2B5EF4-FFF2-40B4-BE49-F238E27FC236}">
                    <a16:creationId xmlns:a16="http://schemas.microsoft.com/office/drawing/2014/main" id="{4025DE27-937D-4D66-9CBD-70C192A57B4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Public health studies</a:t>
                </a:r>
              </a:p>
            </p:txBody>
          </p:sp>
        </p:grpSp>
        <p:grpSp>
          <p:nvGrpSpPr>
            <p:cNvPr id="35" name="Group 34">
              <a:extLst>
                <a:ext uri="{FF2B5EF4-FFF2-40B4-BE49-F238E27FC236}">
                  <a16:creationId xmlns:a16="http://schemas.microsoft.com/office/drawing/2014/main" id="{EDCB7C2F-49D7-43CA-9958-FB3E408D816E}"/>
                </a:ext>
              </a:extLst>
            </p:cNvPr>
            <p:cNvGrpSpPr/>
            <p:nvPr/>
          </p:nvGrpSpPr>
          <p:grpSpPr>
            <a:xfrm>
              <a:off x="457200" y="2977436"/>
              <a:ext cx="3125777" cy="400110"/>
              <a:chOff x="847985" y="4400490"/>
              <a:chExt cx="3125777" cy="400110"/>
            </a:xfrm>
          </p:grpSpPr>
          <p:grpSp>
            <p:nvGrpSpPr>
              <p:cNvPr id="36" name="Group 35">
                <a:extLst>
                  <a:ext uri="{FF2B5EF4-FFF2-40B4-BE49-F238E27FC236}">
                    <a16:creationId xmlns:a16="http://schemas.microsoft.com/office/drawing/2014/main" id="{9988B5EF-E104-4B19-922A-A21E86E0E207}"/>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CF8F6087-05BC-4784-BF68-320041942F73}"/>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87193AD5-452A-40AD-9818-A090BEC2E2A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FA94462A-8EAF-4C2E-9697-D29E2DBDE935}"/>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Political studies</a:t>
                </a:r>
              </a:p>
            </p:txBody>
          </p:sp>
        </p:grpSp>
        <p:grpSp>
          <p:nvGrpSpPr>
            <p:cNvPr id="40" name="Group 39">
              <a:extLst>
                <a:ext uri="{FF2B5EF4-FFF2-40B4-BE49-F238E27FC236}">
                  <a16:creationId xmlns:a16="http://schemas.microsoft.com/office/drawing/2014/main" id="{0FB21B10-5EA5-4636-B536-0F9255A412A1}"/>
                </a:ext>
              </a:extLst>
            </p:cNvPr>
            <p:cNvGrpSpPr/>
            <p:nvPr/>
          </p:nvGrpSpPr>
          <p:grpSpPr>
            <a:xfrm>
              <a:off x="457200" y="4030796"/>
              <a:ext cx="3125777" cy="400110"/>
              <a:chOff x="847985" y="4400490"/>
              <a:chExt cx="3125777" cy="400110"/>
            </a:xfrm>
          </p:grpSpPr>
          <p:grpSp>
            <p:nvGrpSpPr>
              <p:cNvPr id="41" name="Group 40">
                <a:extLst>
                  <a:ext uri="{FF2B5EF4-FFF2-40B4-BE49-F238E27FC236}">
                    <a16:creationId xmlns:a16="http://schemas.microsoft.com/office/drawing/2014/main" id="{94DFCF5F-32A7-48B7-8DA0-49D7B676E881}"/>
                  </a:ext>
                </a:extLst>
              </p:cNvPr>
              <p:cNvGrpSpPr/>
              <p:nvPr/>
            </p:nvGrpSpPr>
            <p:grpSpPr>
              <a:xfrm>
                <a:off x="847985" y="4508119"/>
                <a:ext cx="199272" cy="206152"/>
                <a:chOff x="2411760" y="3708613"/>
                <a:chExt cx="206152" cy="206152"/>
              </a:xfrm>
            </p:grpSpPr>
            <p:sp>
              <p:nvSpPr>
                <p:cNvPr id="43" name="Oval 42">
                  <a:extLst>
                    <a:ext uri="{FF2B5EF4-FFF2-40B4-BE49-F238E27FC236}">
                      <a16:creationId xmlns:a16="http://schemas.microsoft.com/office/drawing/2014/main" id="{7293D00F-0046-412F-983B-EB06899335C7}"/>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4" name="Chevron 45">
                  <a:extLst>
                    <a:ext uri="{FF2B5EF4-FFF2-40B4-BE49-F238E27FC236}">
                      <a16:creationId xmlns:a16="http://schemas.microsoft.com/office/drawing/2014/main" id="{5F5AD8CA-80EC-4724-B790-EB75AB65A82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2" name="TextBox 41">
                <a:extLst>
                  <a:ext uri="{FF2B5EF4-FFF2-40B4-BE49-F238E27FC236}">
                    <a16:creationId xmlns:a16="http://schemas.microsoft.com/office/drawing/2014/main" id="{70FE9F53-C084-4434-A704-9D382765428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Marketing studies</a:t>
                </a:r>
              </a:p>
            </p:txBody>
          </p:sp>
        </p:grpSp>
        <p:grpSp>
          <p:nvGrpSpPr>
            <p:cNvPr id="45" name="Group 44">
              <a:extLst>
                <a:ext uri="{FF2B5EF4-FFF2-40B4-BE49-F238E27FC236}">
                  <a16:creationId xmlns:a16="http://schemas.microsoft.com/office/drawing/2014/main" id="{589CBD94-ABAC-4E1F-8D28-DB1DC07654F4}"/>
                </a:ext>
              </a:extLst>
            </p:cNvPr>
            <p:cNvGrpSpPr/>
            <p:nvPr/>
          </p:nvGrpSpPr>
          <p:grpSpPr>
            <a:xfrm>
              <a:off x="457200" y="3502017"/>
              <a:ext cx="3125777" cy="400110"/>
              <a:chOff x="847985" y="4400490"/>
              <a:chExt cx="3125777" cy="400110"/>
            </a:xfrm>
          </p:grpSpPr>
          <p:grpSp>
            <p:nvGrpSpPr>
              <p:cNvPr id="46" name="Group 45">
                <a:extLst>
                  <a:ext uri="{FF2B5EF4-FFF2-40B4-BE49-F238E27FC236}">
                    <a16:creationId xmlns:a16="http://schemas.microsoft.com/office/drawing/2014/main" id="{F8D13068-30A7-4981-AFAC-237C630CD943}"/>
                  </a:ext>
                </a:extLst>
              </p:cNvPr>
              <p:cNvGrpSpPr/>
              <p:nvPr/>
            </p:nvGrpSpPr>
            <p:grpSpPr>
              <a:xfrm>
                <a:off x="847985" y="4508119"/>
                <a:ext cx="199272" cy="206152"/>
                <a:chOff x="2411760" y="3708613"/>
                <a:chExt cx="206152" cy="206152"/>
              </a:xfrm>
            </p:grpSpPr>
            <p:sp>
              <p:nvSpPr>
                <p:cNvPr id="48" name="Oval 47">
                  <a:extLst>
                    <a:ext uri="{FF2B5EF4-FFF2-40B4-BE49-F238E27FC236}">
                      <a16:creationId xmlns:a16="http://schemas.microsoft.com/office/drawing/2014/main" id="{BD2FEE3D-94EF-46A8-89F5-9B84FE7ABCDD}"/>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9" name="Chevron 45">
                  <a:extLst>
                    <a:ext uri="{FF2B5EF4-FFF2-40B4-BE49-F238E27FC236}">
                      <a16:creationId xmlns:a16="http://schemas.microsoft.com/office/drawing/2014/main" id="{EF99947B-55ED-4ECE-8C25-AB0C3A5974D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7" name="TextBox 46">
                <a:extLst>
                  <a:ext uri="{FF2B5EF4-FFF2-40B4-BE49-F238E27FC236}">
                    <a16:creationId xmlns:a16="http://schemas.microsoft.com/office/drawing/2014/main" id="{FF46D6F2-F044-4D5C-98B6-A907C87FAC7E}"/>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Business studies</a:t>
                </a:r>
              </a:p>
            </p:txBody>
          </p:sp>
        </p:grpSp>
      </p:grpSp>
      <p:sp>
        <p:nvSpPr>
          <p:cNvPr id="51" name="Rectangle: Rounded Corners 50">
            <a:extLst>
              <a:ext uri="{FF2B5EF4-FFF2-40B4-BE49-F238E27FC236}">
                <a16:creationId xmlns:a16="http://schemas.microsoft.com/office/drawing/2014/main" id="{4DBADA2E-E2AB-4624-A33B-003A58F87623}"/>
              </a:ext>
            </a:extLst>
          </p:cNvPr>
          <p:cNvSpPr/>
          <p:nvPr/>
        </p:nvSpPr>
        <p:spPr>
          <a:xfrm>
            <a:off x="310948" y="2971787"/>
            <a:ext cx="2971800" cy="4290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30946D1D-5CF9-4BC9-9784-07709F49EF47}"/>
              </a:ext>
            </a:extLst>
          </p:cNvPr>
          <p:cNvSpPr/>
          <p:nvPr/>
        </p:nvSpPr>
        <p:spPr>
          <a:xfrm>
            <a:off x="4295428" y="1686892"/>
            <a:ext cx="4456209" cy="242713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nSpc>
                <a:spcPct val="95000"/>
              </a:lnSpc>
              <a:spcAft>
                <a:spcPts val="600"/>
              </a:spcAft>
              <a:buFont typeface="Wingdings" panose="05000000000000000000" pitchFamily="2" charset="2"/>
              <a:buChar char="ü"/>
            </a:pPr>
            <a:r>
              <a:rPr lang="en-GB" sz="2000" dirty="0">
                <a:solidFill>
                  <a:schemeClr val="tx1"/>
                </a:solidFill>
              </a:rPr>
              <a:t>Mining and tracking people's opinions related to political issues </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Detecting political polarization</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Tracking political elections </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Tracking political events</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Predicting political events </a:t>
            </a:r>
          </a:p>
        </p:txBody>
      </p:sp>
      <p:sp>
        <p:nvSpPr>
          <p:cNvPr id="50" name="Title 1">
            <a:extLst>
              <a:ext uri="{FF2B5EF4-FFF2-40B4-BE49-F238E27FC236}">
                <a16:creationId xmlns:a16="http://schemas.microsoft.com/office/drawing/2014/main" id="{9F75BB39-669F-4347-B742-D96B4F31371B}"/>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Areas of Applications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2471256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arn(inVertical)">
                                      <p:cBhvr>
                                        <p:cTn id="7" dur="500"/>
                                        <p:tgtEl>
                                          <p:spTgt spid="5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arn(inVertical)">
                                      <p:cBhvr>
                                        <p:cTn id="1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1398587"/>
            <a:ext cx="8382000" cy="4858522"/>
          </a:xfrm>
        </p:spPr>
        <p:txBody>
          <a:bodyPr>
            <a:normAutofit/>
          </a:bodyPr>
          <a:lstStyle/>
          <a:p>
            <a:pPr marL="457200" lvl="1" indent="0">
              <a:buNone/>
            </a:pPr>
            <a:endParaRPr lang="en-US" b="1" dirty="0">
              <a:latin typeface="Candara" panose="020E0502030303020204" pitchFamily="34" charset="0"/>
            </a:endParaRPr>
          </a:p>
          <a:p>
            <a:pPr marL="457200" lvl="1" indent="0">
              <a:buNone/>
            </a:pPr>
            <a:endParaRPr lang="en-US" b="1" dirty="0">
              <a:latin typeface="Candara" panose="020E0502030303020204" pitchFamily="34" charset="0"/>
            </a:endParaRPr>
          </a:p>
        </p:txBody>
      </p:sp>
      <p:sp>
        <p:nvSpPr>
          <p:cNvPr id="3" name="Slide Number Placeholder 2">
            <a:extLst>
              <a:ext uri="{FF2B5EF4-FFF2-40B4-BE49-F238E27FC236}">
                <a16:creationId xmlns:a16="http://schemas.microsoft.com/office/drawing/2014/main" id="{ACE14572-BA0A-4399-A2C2-08D48CAF4EE1}"/>
              </a:ext>
            </a:extLst>
          </p:cNvPr>
          <p:cNvSpPr>
            <a:spLocks noGrp="1"/>
          </p:cNvSpPr>
          <p:nvPr>
            <p:ph type="sldNum" sz="quarter" idx="12"/>
          </p:nvPr>
        </p:nvSpPr>
        <p:spPr/>
        <p:txBody>
          <a:bodyPr/>
          <a:lstStyle/>
          <a:p>
            <a:fld id="{85F881A0-7E4F-4F05-8C98-13E0A3A62794}" type="slidenum">
              <a:rPr lang="en-US" smtClean="0"/>
              <a:pPr/>
              <a:t>12</a:t>
            </a:fld>
            <a:endParaRPr lang="en-US"/>
          </a:p>
        </p:txBody>
      </p:sp>
      <p:sp>
        <p:nvSpPr>
          <p:cNvPr id="17" name="Rectangle 16">
            <a:extLst>
              <a:ext uri="{FF2B5EF4-FFF2-40B4-BE49-F238E27FC236}">
                <a16:creationId xmlns:a16="http://schemas.microsoft.com/office/drawing/2014/main" id="{FA04F920-F412-421C-A227-2221ACC942DC}"/>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9" name="Group 8">
            <a:extLst>
              <a:ext uri="{FF2B5EF4-FFF2-40B4-BE49-F238E27FC236}">
                <a16:creationId xmlns:a16="http://schemas.microsoft.com/office/drawing/2014/main" id="{1E785517-5DDF-457F-AEF2-D8EE31A059C1}"/>
              </a:ext>
            </a:extLst>
          </p:cNvPr>
          <p:cNvGrpSpPr/>
          <p:nvPr/>
        </p:nvGrpSpPr>
        <p:grpSpPr>
          <a:xfrm>
            <a:off x="457200" y="1405960"/>
            <a:ext cx="3125777" cy="3024946"/>
            <a:chOff x="457200" y="1405960"/>
            <a:chExt cx="3125777" cy="3024946"/>
          </a:xfrm>
        </p:grpSpPr>
        <p:grpSp>
          <p:nvGrpSpPr>
            <p:cNvPr id="7" name="Group 6">
              <a:extLst>
                <a:ext uri="{FF2B5EF4-FFF2-40B4-BE49-F238E27FC236}">
                  <a16:creationId xmlns:a16="http://schemas.microsoft.com/office/drawing/2014/main" id="{188BEB61-C5DE-4A5B-9520-8A9D24429AEA}"/>
                </a:ext>
              </a:extLst>
            </p:cNvPr>
            <p:cNvGrpSpPr/>
            <p:nvPr/>
          </p:nvGrpSpPr>
          <p:grpSpPr>
            <a:xfrm>
              <a:off x="457200" y="1405960"/>
              <a:ext cx="2428615" cy="400110"/>
              <a:chOff x="847985" y="3927633"/>
              <a:chExt cx="2428615" cy="400110"/>
            </a:xfrm>
          </p:grpSpPr>
          <p:grpSp>
            <p:nvGrpSpPr>
              <p:cNvPr id="19" name="Group 18">
                <a:extLst>
                  <a:ext uri="{FF2B5EF4-FFF2-40B4-BE49-F238E27FC236}">
                    <a16:creationId xmlns:a16="http://schemas.microsoft.com/office/drawing/2014/main" id="{E2B57F35-178C-452C-8269-31DE61EC9868}"/>
                  </a:ext>
                </a:extLst>
              </p:cNvPr>
              <p:cNvGrpSpPr/>
              <p:nvPr/>
            </p:nvGrpSpPr>
            <p:grpSpPr>
              <a:xfrm>
                <a:off x="847985" y="4038600"/>
                <a:ext cx="199272" cy="206152"/>
                <a:chOff x="2411760" y="3708613"/>
                <a:chExt cx="206152" cy="206152"/>
              </a:xfrm>
            </p:grpSpPr>
            <p:sp>
              <p:nvSpPr>
                <p:cNvPr id="23" name="Oval 22">
                  <a:extLst>
                    <a:ext uri="{FF2B5EF4-FFF2-40B4-BE49-F238E27FC236}">
                      <a16:creationId xmlns:a16="http://schemas.microsoft.com/office/drawing/2014/main" id="{A547D54F-43B5-4829-97C3-E0582FCADF7A}"/>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4" name="Chevron 45">
                  <a:extLst>
                    <a:ext uri="{FF2B5EF4-FFF2-40B4-BE49-F238E27FC236}">
                      <a16:creationId xmlns:a16="http://schemas.microsoft.com/office/drawing/2014/main" id="{AB7AB7FF-5BF5-4CA8-9760-68222A4E7FF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1" name="TextBox 20">
                <a:extLst>
                  <a:ext uri="{FF2B5EF4-FFF2-40B4-BE49-F238E27FC236}">
                    <a16:creationId xmlns:a16="http://schemas.microsoft.com/office/drawing/2014/main" id="{1AA8F26C-1EEA-43DC-8708-3D05332B4FD0}"/>
                  </a:ext>
                </a:extLst>
              </p:cNvPr>
              <p:cNvSpPr txBox="1"/>
              <p:nvPr/>
            </p:nvSpPr>
            <p:spPr>
              <a:xfrm>
                <a:off x="1098666" y="3927633"/>
                <a:ext cx="2177934" cy="400110"/>
              </a:xfrm>
              <a:prstGeom prst="rect">
                <a:avLst/>
              </a:prstGeom>
              <a:noFill/>
            </p:spPr>
            <p:txBody>
              <a:bodyPr wrap="square" rtlCol="0" anchor="ctr">
                <a:spAutoFit/>
              </a:bodyPr>
              <a:lstStyle/>
              <a:p>
                <a:pPr marL="0" lvl="1"/>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Disaster studies</a:t>
                </a:r>
              </a:p>
            </p:txBody>
          </p:sp>
        </p:grpSp>
        <p:grpSp>
          <p:nvGrpSpPr>
            <p:cNvPr id="8" name="Group 7">
              <a:extLst>
                <a:ext uri="{FF2B5EF4-FFF2-40B4-BE49-F238E27FC236}">
                  <a16:creationId xmlns:a16="http://schemas.microsoft.com/office/drawing/2014/main" id="{95D8874F-D496-4657-8027-8EC4AAEABA98}"/>
                </a:ext>
              </a:extLst>
            </p:cNvPr>
            <p:cNvGrpSpPr/>
            <p:nvPr/>
          </p:nvGrpSpPr>
          <p:grpSpPr>
            <a:xfrm>
              <a:off x="457200" y="1971513"/>
              <a:ext cx="3125777" cy="400110"/>
              <a:chOff x="847985" y="4400490"/>
              <a:chExt cx="3125777" cy="400110"/>
            </a:xfrm>
          </p:grpSpPr>
          <p:grpSp>
            <p:nvGrpSpPr>
              <p:cNvPr id="26" name="Group 25">
                <a:extLst>
                  <a:ext uri="{FF2B5EF4-FFF2-40B4-BE49-F238E27FC236}">
                    <a16:creationId xmlns:a16="http://schemas.microsoft.com/office/drawing/2014/main" id="{574321A5-2D36-4550-9224-107E9D75D494}"/>
                  </a:ext>
                </a:extLst>
              </p:cNvPr>
              <p:cNvGrpSpPr/>
              <p:nvPr/>
            </p:nvGrpSpPr>
            <p:grpSpPr>
              <a:xfrm>
                <a:off x="847985" y="4508119"/>
                <a:ext cx="199272" cy="206152"/>
                <a:chOff x="2411760" y="3708613"/>
                <a:chExt cx="206152" cy="206152"/>
              </a:xfrm>
            </p:grpSpPr>
            <p:sp>
              <p:nvSpPr>
                <p:cNvPr id="28" name="Oval 27">
                  <a:extLst>
                    <a:ext uri="{FF2B5EF4-FFF2-40B4-BE49-F238E27FC236}">
                      <a16:creationId xmlns:a16="http://schemas.microsoft.com/office/drawing/2014/main" id="{511FD80E-8C12-44AD-818F-55EA5367D8C9}"/>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9" name="Chevron 45">
                  <a:extLst>
                    <a:ext uri="{FF2B5EF4-FFF2-40B4-BE49-F238E27FC236}">
                      <a16:creationId xmlns:a16="http://schemas.microsoft.com/office/drawing/2014/main" id="{3BCA47D9-6002-46CE-8323-61D33203717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7" name="TextBox 26">
                <a:extLst>
                  <a:ext uri="{FF2B5EF4-FFF2-40B4-BE49-F238E27FC236}">
                    <a16:creationId xmlns:a16="http://schemas.microsoft.com/office/drawing/2014/main" id="{95A5DB0F-6366-4229-AEAC-35112087274B}"/>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Urban planning studies</a:t>
                </a:r>
              </a:p>
            </p:txBody>
          </p:sp>
        </p:grpSp>
        <p:grpSp>
          <p:nvGrpSpPr>
            <p:cNvPr id="30" name="Group 29">
              <a:extLst>
                <a:ext uri="{FF2B5EF4-FFF2-40B4-BE49-F238E27FC236}">
                  <a16:creationId xmlns:a16="http://schemas.microsoft.com/office/drawing/2014/main" id="{20892220-179C-436C-B9B3-3A4C02DFE895}"/>
                </a:ext>
              </a:extLst>
            </p:cNvPr>
            <p:cNvGrpSpPr/>
            <p:nvPr/>
          </p:nvGrpSpPr>
          <p:grpSpPr>
            <a:xfrm>
              <a:off x="457200" y="2493572"/>
              <a:ext cx="3125777" cy="400110"/>
              <a:chOff x="847985" y="4400490"/>
              <a:chExt cx="3125777" cy="400110"/>
            </a:xfrm>
          </p:grpSpPr>
          <p:grpSp>
            <p:nvGrpSpPr>
              <p:cNvPr id="31" name="Group 30">
                <a:extLst>
                  <a:ext uri="{FF2B5EF4-FFF2-40B4-BE49-F238E27FC236}">
                    <a16:creationId xmlns:a16="http://schemas.microsoft.com/office/drawing/2014/main" id="{B7A885D4-2E70-471D-9D15-BC5683BCEAB5}"/>
                  </a:ext>
                </a:extLst>
              </p:cNvPr>
              <p:cNvGrpSpPr/>
              <p:nvPr/>
            </p:nvGrpSpPr>
            <p:grpSpPr>
              <a:xfrm>
                <a:off x="847985" y="4508119"/>
                <a:ext cx="199272" cy="206152"/>
                <a:chOff x="2411760" y="3708613"/>
                <a:chExt cx="206152" cy="206152"/>
              </a:xfrm>
            </p:grpSpPr>
            <p:sp>
              <p:nvSpPr>
                <p:cNvPr id="33" name="Oval 32">
                  <a:extLst>
                    <a:ext uri="{FF2B5EF4-FFF2-40B4-BE49-F238E27FC236}">
                      <a16:creationId xmlns:a16="http://schemas.microsoft.com/office/drawing/2014/main" id="{171FD354-4B6F-44BE-B1FD-62D8766FB980}"/>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4" name="Chevron 45">
                  <a:extLst>
                    <a:ext uri="{FF2B5EF4-FFF2-40B4-BE49-F238E27FC236}">
                      <a16:creationId xmlns:a16="http://schemas.microsoft.com/office/drawing/2014/main" id="{66126481-614B-40AD-B2DF-6CF1BEE66210}"/>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2" name="TextBox 31">
                <a:extLst>
                  <a:ext uri="{FF2B5EF4-FFF2-40B4-BE49-F238E27FC236}">
                    <a16:creationId xmlns:a16="http://schemas.microsoft.com/office/drawing/2014/main" id="{4025DE27-937D-4D66-9CBD-70C192A57B4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Public health studies</a:t>
                </a:r>
              </a:p>
            </p:txBody>
          </p:sp>
        </p:grpSp>
        <p:grpSp>
          <p:nvGrpSpPr>
            <p:cNvPr id="35" name="Group 34">
              <a:extLst>
                <a:ext uri="{FF2B5EF4-FFF2-40B4-BE49-F238E27FC236}">
                  <a16:creationId xmlns:a16="http://schemas.microsoft.com/office/drawing/2014/main" id="{EDCB7C2F-49D7-43CA-9958-FB3E408D816E}"/>
                </a:ext>
              </a:extLst>
            </p:cNvPr>
            <p:cNvGrpSpPr/>
            <p:nvPr/>
          </p:nvGrpSpPr>
          <p:grpSpPr>
            <a:xfrm>
              <a:off x="457200" y="2977436"/>
              <a:ext cx="3125777" cy="400110"/>
              <a:chOff x="847985" y="4400490"/>
              <a:chExt cx="3125777" cy="400110"/>
            </a:xfrm>
          </p:grpSpPr>
          <p:grpSp>
            <p:nvGrpSpPr>
              <p:cNvPr id="36" name="Group 35">
                <a:extLst>
                  <a:ext uri="{FF2B5EF4-FFF2-40B4-BE49-F238E27FC236}">
                    <a16:creationId xmlns:a16="http://schemas.microsoft.com/office/drawing/2014/main" id="{9988B5EF-E104-4B19-922A-A21E86E0E207}"/>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CF8F6087-05BC-4784-BF68-320041942F73}"/>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87193AD5-452A-40AD-9818-A090BEC2E2A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FA94462A-8EAF-4C2E-9697-D29E2DBDE935}"/>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Political studies</a:t>
                </a:r>
              </a:p>
            </p:txBody>
          </p:sp>
        </p:grpSp>
        <p:grpSp>
          <p:nvGrpSpPr>
            <p:cNvPr id="40" name="Group 39">
              <a:extLst>
                <a:ext uri="{FF2B5EF4-FFF2-40B4-BE49-F238E27FC236}">
                  <a16:creationId xmlns:a16="http://schemas.microsoft.com/office/drawing/2014/main" id="{0FB21B10-5EA5-4636-B536-0F9255A412A1}"/>
                </a:ext>
              </a:extLst>
            </p:cNvPr>
            <p:cNvGrpSpPr/>
            <p:nvPr/>
          </p:nvGrpSpPr>
          <p:grpSpPr>
            <a:xfrm>
              <a:off x="457200" y="4030796"/>
              <a:ext cx="3125777" cy="400110"/>
              <a:chOff x="847985" y="4400490"/>
              <a:chExt cx="3125777" cy="400110"/>
            </a:xfrm>
          </p:grpSpPr>
          <p:grpSp>
            <p:nvGrpSpPr>
              <p:cNvPr id="41" name="Group 40">
                <a:extLst>
                  <a:ext uri="{FF2B5EF4-FFF2-40B4-BE49-F238E27FC236}">
                    <a16:creationId xmlns:a16="http://schemas.microsoft.com/office/drawing/2014/main" id="{94DFCF5F-32A7-48B7-8DA0-49D7B676E881}"/>
                  </a:ext>
                </a:extLst>
              </p:cNvPr>
              <p:cNvGrpSpPr/>
              <p:nvPr/>
            </p:nvGrpSpPr>
            <p:grpSpPr>
              <a:xfrm>
                <a:off x="847985" y="4508119"/>
                <a:ext cx="199272" cy="206152"/>
                <a:chOff x="2411760" y="3708613"/>
                <a:chExt cx="206152" cy="206152"/>
              </a:xfrm>
            </p:grpSpPr>
            <p:sp>
              <p:nvSpPr>
                <p:cNvPr id="43" name="Oval 42">
                  <a:extLst>
                    <a:ext uri="{FF2B5EF4-FFF2-40B4-BE49-F238E27FC236}">
                      <a16:creationId xmlns:a16="http://schemas.microsoft.com/office/drawing/2014/main" id="{7293D00F-0046-412F-983B-EB06899335C7}"/>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4" name="Chevron 45">
                  <a:extLst>
                    <a:ext uri="{FF2B5EF4-FFF2-40B4-BE49-F238E27FC236}">
                      <a16:creationId xmlns:a16="http://schemas.microsoft.com/office/drawing/2014/main" id="{5F5AD8CA-80EC-4724-B790-EB75AB65A82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2" name="TextBox 41">
                <a:extLst>
                  <a:ext uri="{FF2B5EF4-FFF2-40B4-BE49-F238E27FC236}">
                    <a16:creationId xmlns:a16="http://schemas.microsoft.com/office/drawing/2014/main" id="{70FE9F53-C084-4434-A704-9D3827654288}"/>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Marketing studies</a:t>
                </a:r>
              </a:p>
            </p:txBody>
          </p:sp>
        </p:grpSp>
        <p:grpSp>
          <p:nvGrpSpPr>
            <p:cNvPr id="45" name="Group 44">
              <a:extLst>
                <a:ext uri="{FF2B5EF4-FFF2-40B4-BE49-F238E27FC236}">
                  <a16:creationId xmlns:a16="http://schemas.microsoft.com/office/drawing/2014/main" id="{589CBD94-ABAC-4E1F-8D28-DB1DC07654F4}"/>
                </a:ext>
              </a:extLst>
            </p:cNvPr>
            <p:cNvGrpSpPr/>
            <p:nvPr/>
          </p:nvGrpSpPr>
          <p:grpSpPr>
            <a:xfrm>
              <a:off x="457200" y="3502017"/>
              <a:ext cx="3125777" cy="400110"/>
              <a:chOff x="847985" y="4400490"/>
              <a:chExt cx="3125777" cy="400110"/>
            </a:xfrm>
          </p:grpSpPr>
          <p:grpSp>
            <p:nvGrpSpPr>
              <p:cNvPr id="46" name="Group 45">
                <a:extLst>
                  <a:ext uri="{FF2B5EF4-FFF2-40B4-BE49-F238E27FC236}">
                    <a16:creationId xmlns:a16="http://schemas.microsoft.com/office/drawing/2014/main" id="{F8D13068-30A7-4981-AFAC-237C630CD943}"/>
                  </a:ext>
                </a:extLst>
              </p:cNvPr>
              <p:cNvGrpSpPr/>
              <p:nvPr/>
            </p:nvGrpSpPr>
            <p:grpSpPr>
              <a:xfrm>
                <a:off x="847985" y="4508119"/>
                <a:ext cx="199272" cy="206152"/>
                <a:chOff x="2411760" y="3708613"/>
                <a:chExt cx="206152" cy="206152"/>
              </a:xfrm>
            </p:grpSpPr>
            <p:sp>
              <p:nvSpPr>
                <p:cNvPr id="48" name="Oval 47">
                  <a:extLst>
                    <a:ext uri="{FF2B5EF4-FFF2-40B4-BE49-F238E27FC236}">
                      <a16:creationId xmlns:a16="http://schemas.microsoft.com/office/drawing/2014/main" id="{BD2FEE3D-94EF-46A8-89F5-9B84FE7ABCDD}"/>
                    </a:ext>
                  </a:extLst>
                </p:cNvPr>
                <p:cNvSpPr/>
                <p:nvPr/>
              </p:nvSpPr>
              <p:spPr>
                <a:xfrm>
                  <a:off x="2411760" y="3708613"/>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9" name="Chevron 45">
                  <a:extLst>
                    <a:ext uri="{FF2B5EF4-FFF2-40B4-BE49-F238E27FC236}">
                      <a16:creationId xmlns:a16="http://schemas.microsoft.com/office/drawing/2014/main" id="{EF99947B-55ED-4ECE-8C25-AB0C3A5974D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7" name="TextBox 46">
                <a:extLst>
                  <a:ext uri="{FF2B5EF4-FFF2-40B4-BE49-F238E27FC236}">
                    <a16:creationId xmlns:a16="http://schemas.microsoft.com/office/drawing/2014/main" id="{FF46D6F2-F044-4D5C-98B6-A907C87FAC7E}"/>
                  </a:ext>
                </a:extLst>
              </p:cNvPr>
              <p:cNvSpPr txBox="1"/>
              <p:nvPr/>
            </p:nvSpPr>
            <p:spPr>
              <a:xfrm>
                <a:off x="1098666" y="4400490"/>
                <a:ext cx="2875096" cy="400110"/>
              </a:xfrm>
              <a:prstGeom prst="rect">
                <a:avLst/>
              </a:prstGeom>
              <a:noFill/>
            </p:spPr>
            <p:txBody>
              <a:bodyPr wrap="square" rtlCol="0" anchor="ctr">
                <a:spAutoFit/>
              </a:bodyPr>
              <a:lstStyle/>
              <a:p>
                <a:pPr marL="0" lvl="1" indent="0">
                  <a:buNone/>
                </a:pPr>
                <a:r>
                  <a:rPr lang="en-US"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Business studies</a:t>
                </a:r>
              </a:p>
            </p:txBody>
          </p:sp>
        </p:grpSp>
      </p:grpSp>
      <p:sp>
        <p:nvSpPr>
          <p:cNvPr id="51" name="Rectangle: Rounded Corners 50">
            <a:extLst>
              <a:ext uri="{FF2B5EF4-FFF2-40B4-BE49-F238E27FC236}">
                <a16:creationId xmlns:a16="http://schemas.microsoft.com/office/drawing/2014/main" id="{4DBADA2E-E2AB-4624-A33B-003A58F87623}"/>
              </a:ext>
            </a:extLst>
          </p:cNvPr>
          <p:cNvSpPr/>
          <p:nvPr/>
        </p:nvSpPr>
        <p:spPr>
          <a:xfrm>
            <a:off x="239963" y="3494455"/>
            <a:ext cx="2875096" cy="107825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30946D1D-5CF9-4BC9-9784-07709F49EF47}"/>
              </a:ext>
            </a:extLst>
          </p:cNvPr>
          <p:cNvSpPr/>
          <p:nvPr/>
        </p:nvSpPr>
        <p:spPr>
          <a:xfrm>
            <a:off x="3733800" y="1416137"/>
            <a:ext cx="5170237" cy="375015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nSpc>
                <a:spcPct val="95000"/>
              </a:lnSpc>
              <a:spcAft>
                <a:spcPts val="600"/>
              </a:spcAft>
              <a:buFont typeface="Wingdings" panose="05000000000000000000" pitchFamily="2" charset="2"/>
              <a:buChar char="ü"/>
            </a:pPr>
            <a:r>
              <a:rPr lang="en-GB" sz="2000" dirty="0">
                <a:solidFill>
                  <a:schemeClr val="tx1"/>
                </a:solidFill>
              </a:rPr>
              <a:t>Mining users' views about the products and services</a:t>
            </a:r>
          </a:p>
          <a:p>
            <a:pPr marL="457200" indent="-457200">
              <a:lnSpc>
                <a:spcPct val="95000"/>
              </a:lnSpc>
              <a:spcAft>
                <a:spcPts val="600"/>
              </a:spcAft>
              <a:buFont typeface="Wingdings" panose="05000000000000000000" pitchFamily="2" charset="2"/>
              <a:buChar char="ü"/>
            </a:pPr>
            <a:r>
              <a:rPr lang="en-GB" sz="2000" dirty="0">
                <a:solidFill>
                  <a:schemeClr val="tx1"/>
                </a:solidFill>
              </a:rPr>
              <a:t>Understanding customers’ environment</a:t>
            </a:r>
          </a:p>
          <a:p>
            <a:pPr marL="457200" indent="-457200">
              <a:lnSpc>
                <a:spcPct val="95000"/>
              </a:lnSpc>
              <a:spcAft>
                <a:spcPts val="600"/>
              </a:spcAft>
              <a:buFont typeface="Wingdings" panose="05000000000000000000" pitchFamily="2" charset="2"/>
              <a:buChar char="ü"/>
            </a:pPr>
            <a:r>
              <a:rPr lang="en-GB" sz="2000" dirty="0">
                <a:solidFill>
                  <a:schemeClr val="tx1"/>
                </a:solidFill>
              </a:rPr>
              <a:t>Finding customer habits and behaviours</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Discovering usage &amp; purchasing behaviours</a:t>
            </a:r>
          </a:p>
          <a:p>
            <a:pPr>
              <a:lnSpc>
                <a:spcPct val="95000"/>
              </a:lnSpc>
              <a:spcAft>
                <a:spcPts val="600"/>
              </a:spcAft>
            </a:pP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Predicting sale</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Predicting people’s needs</a:t>
            </a:r>
          </a:p>
        </p:txBody>
      </p:sp>
      <p:sp>
        <p:nvSpPr>
          <p:cNvPr id="50" name="Title 1">
            <a:extLst>
              <a:ext uri="{FF2B5EF4-FFF2-40B4-BE49-F238E27FC236}">
                <a16:creationId xmlns:a16="http://schemas.microsoft.com/office/drawing/2014/main" id="{323928B6-1692-4B40-ADC4-40339EB8433B}"/>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Areas of Applications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226987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arn(inVertical)">
                                      <p:cBhvr>
                                        <p:cTn id="7" dur="500"/>
                                        <p:tgtEl>
                                          <p:spTgt spid="5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arn(inVertical)">
                                      <p:cBhvr>
                                        <p:cTn id="1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A5216886-01A5-4123-AB90-12B51D5B183E}"/>
              </a:ext>
            </a:extLst>
          </p:cNvPr>
          <p:cNvSpPr/>
          <p:nvPr/>
        </p:nvSpPr>
        <p:spPr>
          <a:xfrm>
            <a:off x="168185" y="4049103"/>
            <a:ext cx="4724400" cy="1824015"/>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000" dirty="0">
                <a:solidFill>
                  <a:schemeClr val="tx1"/>
                </a:solidFill>
                <a:latin typeface="Times New Roman" panose="02020603050405020304" pitchFamily="18" charset="0"/>
                <a:ea typeface="MS Mincho" panose="02020609040205080304" pitchFamily="49" charset="-128"/>
              </a:rPr>
              <a:t>Topic modelling is a statistical model for identifying the latent variables or topics from large datasets (</a:t>
            </a:r>
            <a:r>
              <a:rPr lang="en-GB" sz="2000" dirty="0" err="1">
                <a:solidFill>
                  <a:schemeClr val="tx1"/>
                </a:solidFill>
                <a:latin typeface="Times New Roman" panose="02020603050405020304" pitchFamily="18" charset="0"/>
                <a:ea typeface="MS Mincho" panose="02020609040205080304" pitchFamily="49" charset="-128"/>
              </a:rPr>
              <a:t>Vayansky</a:t>
            </a:r>
            <a:r>
              <a:rPr lang="en-GB" sz="2000" dirty="0">
                <a:solidFill>
                  <a:schemeClr val="tx1"/>
                </a:solidFill>
                <a:latin typeface="Times New Roman" panose="02020603050405020304" pitchFamily="18" charset="0"/>
                <a:ea typeface="MS Mincho" panose="02020609040205080304" pitchFamily="49" charset="-128"/>
              </a:rPr>
              <a:t> &amp; Kumar, 2020; Ko et al., 2017)</a:t>
            </a:r>
            <a:endParaRPr lang="en-US" sz="2000" dirty="0">
              <a:solidFill>
                <a:schemeClr val="tx1"/>
              </a:solidFill>
            </a:endParaRPr>
          </a:p>
        </p:txBody>
      </p:sp>
      <p:sp>
        <p:nvSpPr>
          <p:cNvPr id="3" name="Slide Number Placeholder 2">
            <a:extLst>
              <a:ext uri="{FF2B5EF4-FFF2-40B4-BE49-F238E27FC236}">
                <a16:creationId xmlns:a16="http://schemas.microsoft.com/office/drawing/2014/main" id="{243062E9-06FB-4716-A941-D0ED9DD758A4}"/>
              </a:ext>
            </a:extLst>
          </p:cNvPr>
          <p:cNvSpPr>
            <a:spLocks noGrp="1"/>
          </p:cNvSpPr>
          <p:nvPr>
            <p:ph type="sldNum" sz="quarter" idx="12"/>
          </p:nvPr>
        </p:nvSpPr>
        <p:spPr/>
        <p:txBody>
          <a:bodyPr/>
          <a:lstStyle/>
          <a:p>
            <a:fld id="{85F881A0-7E4F-4F05-8C98-13E0A3A62794}" type="slidenum">
              <a:rPr lang="en-US" smtClean="0"/>
              <a:pPr/>
              <a:t>13</a:t>
            </a:fld>
            <a:endParaRPr lang="en-US"/>
          </a:p>
        </p:txBody>
      </p:sp>
      <p:sp>
        <p:nvSpPr>
          <p:cNvPr id="12" name="Rectangle 11">
            <a:extLst>
              <a:ext uri="{FF2B5EF4-FFF2-40B4-BE49-F238E27FC236}">
                <a16:creationId xmlns:a16="http://schemas.microsoft.com/office/drawing/2014/main" id="{84610BD5-86DF-4707-A889-F69ACE06FDC7}"/>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17" name="Group 16">
            <a:extLst>
              <a:ext uri="{FF2B5EF4-FFF2-40B4-BE49-F238E27FC236}">
                <a16:creationId xmlns:a16="http://schemas.microsoft.com/office/drawing/2014/main" id="{A85401BD-9F75-46FB-A4C2-5D000A66BD6E}"/>
              </a:ext>
            </a:extLst>
          </p:cNvPr>
          <p:cNvGrpSpPr/>
          <p:nvPr/>
        </p:nvGrpSpPr>
        <p:grpSpPr>
          <a:xfrm>
            <a:off x="262587" y="1481344"/>
            <a:ext cx="3732225" cy="2887732"/>
            <a:chOff x="457200" y="1405960"/>
            <a:chExt cx="3732225" cy="2887732"/>
          </a:xfrm>
        </p:grpSpPr>
        <p:grpSp>
          <p:nvGrpSpPr>
            <p:cNvPr id="18" name="Group 17">
              <a:extLst>
                <a:ext uri="{FF2B5EF4-FFF2-40B4-BE49-F238E27FC236}">
                  <a16:creationId xmlns:a16="http://schemas.microsoft.com/office/drawing/2014/main" id="{29FCC21D-8980-41FC-A145-11F7C14EE223}"/>
                </a:ext>
              </a:extLst>
            </p:cNvPr>
            <p:cNvGrpSpPr/>
            <p:nvPr/>
          </p:nvGrpSpPr>
          <p:grpSpPr>
            <a:xfrm>
              <a:off x="457200" y="1405960"/>
              <a:ext cx="2428615" cy="400110"/>
              <a:chOff x="847985" y="3927633"/>
              <a:chExt cx="2428615" cy="400110"/>
            </a:xfrm>
          </p:grpSpPr>
          <p:grpSp>
            <p:nvGrpSpPr>
              <p:cNvPr id="44" name="Group 43">
                <a:extLst>
                  <a:ext uri="{FF2B5EF4-FFF2-40B4-BE49-F238E27FC236}">
                    <a16:creationId xmlns:a16="http://schemas.microsoft.com/office/drawing/2014/main" id="{FBA380E1-3B63-466C-952B-38A8817CC217}"/>
                  </a:ext>
                </a:extLst>
              </p:cNvPr>
              <p:cNvGrpSpPr/>
              <p:nvPr/>
            </p:nvGrpSpPr>
            <p:grpSpPr>
              <a:xfrm>
                <a:off x="847985" y="4038600"/>
                <a:ext cx="199272" cy="206152"/>
                <a:chOff x="2411760" y="3708613"/>
                <a:chExt cx="206152" cy="206152"/>
              </a:xfrm>
            </p:grpSpPr>
            <p:sp>
              <p:nvSpPr>
                <p:cNvPr id="46" name="Oval 45">
                  <a:extLst>
                    <a:ext uri="{FF2B5EF4-FFF2-40B4-BE49-F238E27FC236}">
                      <a16:creationId xmlns:a16="http://schemas.microsoft.com/office/drawing/2014/main" id="{DF9A9EB3-9753-4B74-AB6A-13746877AB6F}"/>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7" name="Chevron 45">
                  <a:extLst>
                    <a:ext uri="{FF2B5EF4-FFF2-40B4-BE49-F238E27FC236}">
                      <a16:creationId xmlns:a16="http://schemas.microsoft.com/office/drawing/2014/main" id="{3E899860-B670-4736-AFC6-E0D616B057C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5" name="TextBox 44">
                <a:extLst>
                  <a:ext uri="{FF2B5EF4-FFF2-40B4-BE49-F238E27FC236}">
                    <a16:creationId xmlns:a16="http://schemas.microsoft.com/office/drawing/2014/main" id="{A9A804D9-D9EA-4A31-B74F-8271410E89B0}"/>
                  </a:ext>
                </a:extLst>
              </p:cNvPr>
              <p:cNvSpPr txBox="1"/>
              <p:nvPr/>
            </p:nvSpPr>
            <p:spPr>
              <a:xfrm>
                <a:off x="1098666" y="3927633"/>
                <a:ext cx="217793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Topic modeling</a:t>
                </a:r>
              </a:p>
            </p:txBody>
          </p:sp>
        </p:grpSp>
        <p:grpSp>
          <p:nvGrpSpPr>
            <p:cNvPr id="19" name="Group 18">
              <a:extLst>
                <a:ext uri="{FF2B5EF4-FFF2-40B4-BE49-F238E27FC236}">
                  <a16:creationId xmlns:a16="http://schemas.microsoft.com/office/drawing/2014/main" id="{F6EA9B8C-2705-4A04-AFD8-27F78586719F}"/>
                </a:ext>
              </a:extLst>
            </p:cNvPr>
            <p:cNvGrpSpPr/>
            <p:nvPr/>
          </p:nvGrpSpPr>
          <p:grpSpPr>
            <a:xfrm>
              <a:off x="457200" y="1971513"/>
              <a:ext cx="3125777" cy="400110"/>
              <a:chOff x="847985" y="4400490"/>
              <a:chExt cx="3125777" cy="400110"/>
            </a:xfrm>
          </p:grpSpPr>
          <p:grpSp>
            <p:nvGrpSpPr>
              <p:cNvPr id="40" name="Group 39">
                <a:extLst>
                  <a:ext uri="{FF2B5EF4-FFF2-40B4-BE49-F238E27FC236}">
                    <a16:creationId xmlns:a16="http://schemas.microsoft.com/office/drawing/2014/main" id="{94B4FC43-91BD-46B7-9577-4DD0F2D68F11}"/>
                  </a:ext>
                </a:extLst>
              </p:cNvPr>
              <p:cNvGrpSpPr/>
              <p:nvPr/>
            </p:nvGrpSpPr>
            <p:grpSpPr>
              <a:xfrm>
                <a:off x="847985" y="4508119"/>
                <a:ext cx="199272" cy="206152"/>
                <a:chOff x="2411760" y="3708613"/>
                <a:chExt cx="206152" cy="206152"/>
              </a:xfrm>
            </p:grpSpPr>
            <p:sp>
              <p:nvSpPr>
                <p:cNvPr id="42" name="Oval 41">
                  <a:extLst>
                    <a:ext uri="{FF2B5EF4-FFF2-40B4-BE49-F238E27FC236}">
                      <a16:creationId xmlns:a16="http://schemas.microsoft.com/office/drawing/2014/main" id="{71DF93D6-124E-434D-9FFD-E85A82C4D6B9}"/>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3" name="Chevron 45">
                  <a:extLst>
                    <a:ext uri="{FF2B5EF4-FFF2-40B4-BE49-F238E27FC236}">
                      <a16:creationId xmlns:a16="http://schemas.microsoft.com/office/drawing/2014/main" id="{49559024-F6C7-45A2-8508-CA4A0B22ECC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1" name="TextBox 40">
                <a:extLst>
                  <a:ext uri="{FF2B5EF4-FFF2-40B4-BE49-F238E27FC236}">
                    <a16:creationId xmlns:a16="http://schemas.microsoft.com/office/drawing/2014/main" id="{C6537569-F76D-45F5-B9D6-0D2276DD88CB}"/>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a:t>
                </a:r>
              </a:p>
            </p:txBody>
          </p:sp>
        </p:grpSp>
        <p:grpSp>
          <p:nvGrpSpPr>
            <p:cNvPr id="20" name="Group 19">
              <a:extLst>
                <a:ext uri="{FF2B5EF4-FFF2-40B4-BE49-F238E27FC236}">
                  <a16:creationId xmlns:a16="http://schemas.microsoft.com/office/drawing/2014/main" id="{6CC0FDBC-FEC4-479A-BACC-3A5276A0D758}"/>
                </a:ext>
              </a:extLst>
            </p:cNvPr>
            <p:cNvGrpSpPr/>
            <p:nvPr/>
          </p:nvGrpSpPr>
          <p:grpSpPr>
            <a:xfrm>
              <a:off x="457200" y="2493572"/>
              <a:ext cx="3125777" cy="400110"/>
              <a:chOff x="847985" y="4400490"/>
              <a:chExt cx="3125777" cy="400110"/>
            </a:xfrm>
          </p:grpSpPr>
          <p:grpSp>
            <p:nvGrpSpPr>
              <p:cNvPr id="36" name="Group 35">
                <a:extLst>
                  <a:ext uri="{FF2B5EF4-FFF2-40B4-BE49-F238E27FC236}">
                    <a16:creationId xmlns:a16="http://schemas.microsoft.com/office/drawing/2014/main" id="{0EC5C894-DE69-491D-95F9-F325083F66B1}"/>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1687F39B-F091-4F10-B31F-8666FD8FEB5C}"/>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907026D9-D9E6-4612-BFB1-DB50CF48E44A}"/>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E2FA97C8-8321-4F80-9A55-6DD6E493942C}"/>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Social Network Analysis</a:t>
                </a:r>
              </a:p>
            </p:txBody>
          </p:sp>
        </p:grpSp>
        <p:grpSp>
          <p:nvGrpSpPr>
            <p:cNvPr id="21" name="Group 20">
              <a:extLst>
                <a:ext uri="{FF2B5EF4-FFF2-40B4-BE49-F238E27FC236}">
                  <a16:creationId xmlns:a16="http://schemas.microsoft.com/office/drawing/2014/main" id="{052E569D-F146-472B-9824-5E107BDB1910}"/>
                </a:ext>
              </a:extLst>
            </p:cNvPr>
            <p:cNvGrpSpPr/>
            <p:nvPr/>
          </p:nvGrpSpPr>
          <p:grpSpPr>
            <a:xfrm>
              <a:off x="457200" y="2972616"/>
              <a:ext cx="3732225" cy="400110"/>
              <a:chOff x="847985" y="4395670"/>
              <a:chExt cx="3732225" cy="400110"/>
            </a:xfrm>
          </p:grpSpPr>
          <p:grpSp>
            <p:nvGrpSpPr>
              <p:cNvPr id="32" name="Group 31">
                <a:extLst>
                  <a:ext uri="{FF2B5EF4-FFF2-40B4-BE49-F238E27FC236}">
                    <a16:creationId xmlns:a16="http://schemas.microsoft.com/office/drawing/2014/main" id="{4492130E-EB6E-4B63-925C-49A1E90139CE}"/>
                  </a:ext>
                </a:extLst>
              </p:cNvPr>
              <p:cNvGrpSpPr/>
              <p:nvPr/>
            </p:nvGrpSpPr>
            <p:grpSpPr>
              <a:xfrm>
                <a:off x="847985" y="4508119"/>
                <a:ext cx="199272" cy="206152"/>
                <a:chOff x="2411760" y="3708613"/>
                <a:chExt cx="206152" cy="206152"/>
              </a:xfrm>
            </p:grpSpPr>
            <p:sp>
              <p:nvSpPr>
                <p:cNvPr id="34" name="Oval 33">
                  <a:extLst>
                    <a:ext uri="{FF2B5EF4-FFF2-40B4-BE49-F238E27FC236}">
                      <a16:creationId xmlns:a16="http://schemas.microsoft.com/office/drawing/2014/main" id="{353A2171-3F59-4774-A34C-88B8F7079013}"/>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5" name="Chevron 45">
                  <a:extLst>
                    <a:ext uri="{FF2B5EF4-FFF2-40B4-BE49-F238E27FC236}">
                      <a16:creationId xmlns:a16="http://schemas.microsoft.com/office/drawing/2014/main" id="{B85433E8-643F-4DA1-A998-2DDCAAD308E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3" name="TextBox 32">
                <a:extLst>
                  <a:ext uri="{FF2B5EF4-FFF2-40B4-BE49-F238E27FC236}">
                    <a16:creationId xmlns:a16="http://schemas.microsoft.com/office/drawing/2014/main" id="{86C8A7E2-B35A-4440-B17F-3141F438F4DF}"/>
                  </a:ext>
                </a:extLst>
              </p:cNvPr>
              <p:cNvSpPr txBox="1"/>
              <p:nvPr/>
            </p:nvSpPr>
            <p:spPr>
              <a:xfrm>
                <a:off x="1098666" y="4395670"/>
                <a:ext cx="348154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Spatial and Temporal analysis</a:t>
                </a:r>
              </a:p>
            </p:txBody>
          </p:sp>
        </p:grpSp>
        <p:sp>
          <p:nvSpPr>
            <p:cNvPr id="31" name="Chevron 45">
              <a:extLst>
                <a:ext uri="{FF2B5EF4-FFF2-40B4-BE49-F238E27FC236}">
                  <a16:creationId xmlns:a16="http://schemas.microsoft.com/office/drawing/2014/main" id="{89E50280-3DCB-4539-8A36-9997E3D36289}"/>
                </a:ext>
              </a:extLst>
            </p:cNvPr>
            <p:cNvSpPr/>
            <p:nvPr/>
          </p:nvSpPr>
          <p:spPr>
            <a:xfrm>
              <a:off x="522037" y="4185692"/>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7" name="Chevron 45">
              <a:extLst>
                <a:ext uri="{FF2B5EF4-FFF2-40B4-BE49-F238E27FC236}">
                  <a16:creationId xmlns:a16="http://schemas.microsoft.com/office/drawing/2014/main" id="{D92A1028-8416-45DD-94FB-9BA73B7CC5FE}"/>
                </a:ext>
              </a:extLst>
            </p:cNvPr>
            <p:cNvSpPr/>
            <p:nvPr/>
          </p:nvSpPr>
          <p:spPr>
            <a:xfrm>
              <a:off x="522037" y="3656913"/>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8" name="Rectangle: Rounded Corners 27">
            <a:extLst>
              <a:ext uri="{FF2B5EF4-FFF2-40B4-BE49-F238E27FC236}">
                <a16:creationId xmlns:a16="http://schemas.microsoft.com/office/drawing/2014/main" id="{A1B5E968-94A8-4F32-B11D-3F0FEB4F67B4}"/>
              </a:ext>
            </a:extLst>
          </p:cNvPr>
          <p:cNvSpPr/>
          <p:nvPr/>
        </p:nvSpPr>
        <p:spPr>
          <a:xfrm>
            <a:off x="4157669" y="1336099"/>
            <a:ext cx="4723744" cy="3954315"/>
          </a:xfrm>
          <a:prstGeom prst="roundRect">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nSpc>
                <a:spcPct val="95000"/>
              </a:lnSpc>
              <a:spcAft>
                <a:spcPts val="600"/>
              </a:spcAft>
              <a:buFont typeface="Wingdings" panose="05000000000000000000" pitchFamily="2" charset="2"/>
              <a:buChar char="ü"/>
            </a:pPr>
            <a:r>
              <a:rPr lang="en-GB" sz="2000" dirty="0">
                <a:solidFill>
                  <a:schemeClr val="tx1"/>
                </a:solidFill>
              </a:rPr>
              <a:t>Detecting topical trends</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Tracking different topics and events on social media</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Discover the discussion around a specific subject and realize people’s opinions</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Detecting evolution of people opinion</a:t>
            </a:r>
          </a:p>
        </p:txBody>
      </p:sp>
      <p:sp>
        <p:nvSpPr>
          <p:cNvPr id="29" name="Rectangle: Rounded Corners 28">
            <a:extLst>
              <a:ext uri="{FF2B5EF4-FFF2-40B4-BE49-F238E27FC236}">
                <a16:creationId xmlns:a16="http://schemas.microsoft.com/office/drawing/2014/main" id="{7B4614D6-4A37-46C5-AE24-175248E94A85}"/>
              </a:ext>
            </a:extLst>
          </p:cNvPr>
          <p:cNvSpPr/>
          <p:nvPr/>
        </p:nvSpPr>
        <p:spPr>
          <a:xfrm>
            <a:off x="172539" y="1511838"/>
            <a:ext cx="2723061" cy="385765"/>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itle 1">
            <a:extLst>
              <a:ext uri="{FF2B5EF4-FFF2-40B4-BE49-F238E27FC236}">
                <a16:creationId xmlns:a16="http://schemas.microsoft.com/office/drawing/2014/main" id="{9382C511-0198-4E9F-AEAD-E6157F2E6DA4}"/>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Approaches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154732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A5216886-01A5-4123-AB90-12B51D5B183E}"/>
              </a:ext>
            </a:extLst>
          </p:cNvPr>
          <p:cNvSpPr/>
          <p:nvPr/>
        </p:nvSpPr>
        <p:spPr>
          <a:xfrm>
            <a:off x="262587" y="4035933"/>
            <a:ext cx="4346480" cy="2218138"/>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The sentiment analysis method performs the classification method to detect and interpret people's opinions ( </a:t>
            </a:r>
            <a:r>
              <a:rPr lang="en-GB" dirty="0" err="1">
                <a:solidFill>
                  <a:schemeClr val="tx1"/>
                </a:solidFill>
              </a:rPr>
              <a:t>Drus</a:t>
            </a:r>
            <a:r>
              <a:rPr lang="en-GB" dirty="0">
                <a:solidFill>
                  <a:schemeClr val="tx1"/>
                </a:solidFill>
              </a:rPr>
              <a:t> Khalid, 2019; Sathya et al., 2019).</a:t>
            </a:r>
            <a:endParaRPr lang="en-US" dirty="0">
              <a:solidFill>
                <a:schemeClr val="tx1"/>
              </a:solidFill>
            </a:endParaRPr>
          </a:p>
        </p:txBody>
      </p:sp>
      <p:sp>
        <p:nvSpPr>
          <p:cNvPr id="3" name="Slide Number Placeholder 2">
            <a:extLst>
              <a:ext uri="{FF2B5EF4-FFF2-40B4-BE49-F238E27FC236}">
                <a16:creationId xmlns:a16="http://schemas.microsoft.com/office/drawing/2014/main" id="{243062E9-06FB-4716-A941-D0ED9DD758A4}"/>
              </a:ext>
            </a:extLst>
          </p:cNvPr>
          <p:cNvSpPr>
            <a:spLocks noGrp="1"/>
          </p:cNvSpPr>
          <p:nvPr>
            <p:ph type="sldNum" sz="quarter" idx="12"/>
          </p:nvPr>
        </p:nvSpPr>
        <p:spPr/>
        <p:txBody>
          <a:bodyPr/>
          <a:lstStyle/>
          <a:p>
            <a:fld id="{85F881A0-7E4F-4F05-8C98-13E0A3A62794}" type="slidenum">
              <a:rPr lang="en-US" smtClean="0"/>
              <a:pPr/>
              <a:t>14</a:t>
            </a:fld>
            <a:endParaRPr lang="en-US"/>
          </a:p>
        </p:txBody>
      </p:sp>
      <p:sp>
        <p:nvSpPr>
          <p:cNvPr id="12" name="Rectangle 11">
            <a:extLst>
              <a:ext uri="{FF2B5EF4-FFF2-40B4-BE49-F238E27FC236}">
                <a16:creationId xmlns:a16="http://schemas.microsoft.com/office/drawing/2014/main" id="{84610BD5-86DF-4707-A889-F69ACE06FDC7}"/>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17" name="Group 16">
            <a:extLst>
              <a:ext uri="{FF2B5EF4-FFF2-40B4-BE49-F238E27FC236}">
                <a16:creationId xmlns:a16="http://schemas.microsoft.com/office/drawing/2014/main" id="{A85401BD-9F75-46FB-A4C2-5D000A66BD6E}"/>
              </a:ext>
            </a:extLst>
          </p:cNvPr>
          <p:cNvGrpSpPr/>
          <p:nvPr/>
        </p:nvGrpSpPr>
        <p:grpSpPr>
          <a:xfrm>
            <a:off x="262587" y="1481344"/>
            <a:ext cx="3732225" cy="2887732"/>
            <a:chOff x="457200" y="1405960"/>
            <a:chExt cx="3732225" cy="2887732"/>
          </a:xfrm>
        </p:grpSpPr>
        <p:grpSp>
          <p:nvGrpSpPr>
            <p:cNvPr id="18" name="Group 17">
              <a:extLst>
                <a:ext uri="{FF2B5EF4-FFF2-40B4-BE49-F238E27FC236}">
                  <a16:creationId xmlns:a16="http://schemas.microsoft.com/office/drawing/2014/main" id="{29FCC21D-8980-41FC-A145-11F7C14EE223}"/>
                </a:ext>
              </a:extLst>
            </p:cNvPr>
            <p:cNvGrpSpPr/>
            <p:nvPr/>
          </p:nvGrpSpPr>
          <p:grpSpPr>
            <a:xfrm>
              <a:off x="457200" y="1405960"/>
              <a:ext cx="2428615" cy="400110"/>
              <a:chOff x="847985" y="3927633"/>
              <a:chExt cx="2428615" cy="400110"/>
            </a:xfrm>
          </p:grpSpPr>
          <p:grpSp>
            <p:nvGrpSpPr>
              <p:cNvPr id="44" name="Group 43">
                <a:extLst>
                  <a:ext uri="{FF2B5EF4-FFF2-40B4-BE49-F238E27FC236}">
                    <a16:creationId xmlns:a16="http://schemas.microsoft.com/office/drawing/2014/main" id="{FBA380E1-3B63-466C-952B-38A8817CC217}"/>
                  </a:ext>
                </a:extLst>
              </p:cNvPr>
              <p:cNvGrpSpPr/>
              <p:nvPr/>
            </p:nvGrpSpPr>
            <p:grpSpPr>
              <a:xfrm>
                <a:off x="847985" y="4038600"/>
                <a:ext cx="199272" cy="206152"/>
                <a:chOff x="2411760" y="3708613"/>
                <a:chExt cx="206152" cy="206152"/>
              </a:xfrm>
            </p:grpSpPr>
            <p:sp>
              <p:nvSpPr>
                <p:cNvPr id="46" name="Oval 45">
                  <a:extLst>
                    <a:ext uri="{FF2B5EF4-FFF2-40B4-BE49-F238E27FC236}">
                      <a16:creationId xmlns:a16="http://schemas.microsoft.com/office/drawing/2014/main" id="{DF9A9EB3-9753-4B74-AB6A-13746877AB6F}"/>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7" name="Chevron 45">
                  <a:extLst>
                    <a:ext uri="{FF2B5EF4-FFF2-40B4-BE49-F238E27FC236}">
                      <a16:creationId xmlns:a16="http://schemas.microsoft.com/office/drawing/2014/main" id="{3E899860-B670-4736-AFC6-E0D616B057C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5" name="TextBox 44">
                <a:extLst>
                  <a:ext uri="{FF2B5EF4-FFF2-40B4-BE49-F238E27FC236}">
                    <a16:creationId xmlns:a16="http://schemas.microsoft.com/office/drawing/2014/main" id="{A9A804D9-D9EA-4A31-B74F-8271410E89B0}"/>
                  </a:ext>
                </a:extLst>
              </p:cNvPr>
              <p:cNvSpPr txBox="1"/>
              <p:nvPr/>
            </p:nvSpPr>
            <p:spPr>
              <a:xfrm>
                <a:off x="1098666" y="3927633"/>
                <a:ext cx="217793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Topic modeling</a:t>
                </a:r>
              </a:p>
            </p:txBody>
          </p:sp>
        </p:grpSp>
        <p:grpSp>
          <p:nvGrpSpPr>
            <p:cNvPr id="19" name="Group 18">
              <a:extLst>
                <a:ext uri="{FF2B5EF4-FFF2-40B4-BE49-F238E27FC236}">
                  <a16:creationId xmlns:a16="http://schemas.microsoft.com/office/drawing/2014/main" id="{F6EA9B8C-2705-4A04-AFD8-27F78586719F}"/>
                </a:ext>
              </a:extLst>
            </p:cNvPr>
            <p:cNvGrpSpPr/>
            <p:nvPr/>
          </p:nvGrpSpPr>
          <p:grpSpPr>
            <a:xfrm>
              <a:off x="457200" y="1971513"/>
              <a:ext cx="3125777" cy="400110"/>
              <a:chOff x="847985" y="4400490"/>
              <a:chExt cx="3125777" cy="400110"/>
            </a:xfrm>
          </p:grpSpPr>
          <p:grpSp>
            <p:nvGrpSpPr>
              <p:cNvPr id="40" name="Group 39">
                <a:extLst>
                  <a:ext uri="{FF2B5EF4-FFF2-40B4-BE49-F238E27FC236}">
                    <a16:creationId xmlns:a16="http://schemas.microsoft.com/office/drawing/2014/main" id="{94B4FC43-91BD-46B7-9577-4DD0F2D68F11}"/>
                  </a:ext>
                </a:extLst>
              </p:cNvPr>
              <p:cNvGrpSpPr/>
              <p:nvPr/>
            </p:nvGrpSpPr>
            <p:grpSpPr>
              <a:xfrm>
                <a:off x="847985" y="4508119"/>
                <a:ext cx="199272" cy="206152"/>
                <a:chOff x="2411760" y="3708613"/>
                <a:chExt cx="206152" cy="206152"/>
              </a:xfrm>
            </p:grpSpPr>
            <p:sp>
              <p:nvSpPr>
                <p:cNvPr id="42" name="Oval 41">
                  <a:extLst>
                    <a:ext uri="{FF2B5EF4-FFF2-40B4-BE49-F238E27FC236}">
                      <a16:creationId xmlns:a16="http://schemas.microsoft.com/office/drawing/2014/main" id="{71DF93D6-124E-434D-9FFD-E85A82C4D6B9}"/>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3" name="Chevron 45">
                  <a:extLst>
                    <a:ext uri="{FF2B5EF4-FFF2-40B4-BE49-F238E27FC236}">
                      <a16:creationId xmlns:a16="http://schemas.microsoft.com/office/drawing/2014/main" id="{49559024-F6C7-45A2-8508-CA4A0B22ECC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1" name="TextBox 40">
                <a:extLst>
                  <a:ext uri="{FF2B5EF4-FFF2-40B4-BE49-F238E27FC236}">
                    <a16:creationId xmlns:a16="http://schemas.microsoft.com/office/drawing/2014/main" id="{C6537569-F76D-45F5-B9D6-0D2276DD88CB}"/>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a:t>
                </a:r>
              </a:p>
            </p:txBody>
          </p:sp>
        </p:grpSp>
        <p:grpSp>
          <p:nvGrpSpPr>
            <p:cNvPr id="20" name="Group 19">
              <a:extLst>
                <a:ext uri="{FF2B5EF4-FFF2-40B4-BE49-F238E27FC236}">
                  <a16:creationId xmlns:a16="http://schemas.microsoft.com/office/drawing/2014/main" id="{6CC0FDBC-FEC4-479A-BACC-3A5276A0D758}"/>
                </a:ext>
              </a:extLst>
            </p:cNvPr>
            <p:cNvGrpSpPr/>
            <p:nvPr/>
          </p:nvGrpSpPr>
          <p:grpSpPr>
            <a:xfrm>
              <a:off x="457200" y="2493572"/>
              <a:ext cx="3125777" cy="400110"/>
              <a:chOff x="847985" y="4400490"/>
              <a:chExt cx="3125777" cy="400110"/>
            </a:xfrm>
          </p:grpSpPr>
          <p:grpSp>
            <p:nvGrpSpPr>
              <p:cNvPr id="36" name="Group 35">
                <a:extLst>
                  <a:ext uri="{FF2B5EF4-FFF2-40B4-BE49-F238E27FC236}">
                    <a16:creationId xmlns:a16="http://schemas.microsoft.com/office/drawing/2014/main" id="{0EC5C894-DE69-491D-95F9-F325083F66B1}"/>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1687F39B-F091-4F10-B31F-8666FD8FEB5C}"/>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907026D9-D9E6-4612-BFB1-DB50CF48E44A}"/>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E2FA97C8-8321-4F80-9A55-6DD6E493942C}"/>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Social Network Analysis</a:t>
                </a:r>
              </a:p>
            </p:txBody>
          </p:sp>
        </p:grpSp>
        <p:grpSp>
          <p:nvGrpSpPr>
            <p:cNvPr id="21" name="Group 20">
              <a:extLst>
                <a:ext uri="{FF2B5EF4-FFF2-40B4-BE49-F238E27FC236}">
                  <a16:creationId xmlns:a16="http://schemas.microsoft.com/office/drawing/2014/main" id="{052E569D-F146-472B-9824-5E107BDB1910}"/>
                </a:ext>
              </a:extLst>
            </p:cNvPr>
            <p:cNvGrpSpPr/>
            <p:nvPr/>
          </p:nvGrpSpPr>
          <p:grpSpPr>
            <a:xfrm>
              <a:off x="457200" y="2972616"/>
              <a:ext cx="3732225" cy="400110"/>
              <a:chOff x="847985" y="4395670"/>
              <a:chExt cx="3732225" cy="400110"/>
            </a:xfrm>
          </p:grpSpPr>
          <p:grpSp>
            <p:nvGrpSpPr>
              <p:cNvPr id="32" name="Group 31">
                <a:extLst>
                  <a:ext uri="{FF2B5EF4-FFF2-40B4-BE49-F238E27FC236}">
                    <a16:creationId xmlns:a16="http://schemas.microsoft.com/office/drawing/2014/main" id="{4492130E-EB6E-4B63-925C-49A1E90139CE}"/>
                  </a:ext>
                </a:extLst>
              </p:cNvPr>
              <p:cNvGrpSpPr/>
              <p:nvPr/>
            </p:nvGrpSpPr>
            <p:grpSpPr>
              <a:xfrm>
                <a:off x="847985" y="4508119"/>
                <a:ext cx="199272" cy="206152"/>
                <a:chOff x="2411760" y="3708613"/>
                <a:chExt cx="206152" cy="206152"/>
              </a:xfrm>
            </p:grpSpPr>
            <p:sp>
              <p:nvSpPr>
                <p:cNvPr id="34" name="Oval 33">
                  <a:extLst>
                    <a:ext uri="{FF2B5EF4-FFF2-40B4-BE49-F238E27FC236}">
                      <a16:creationId xmlns:a16="http://schemas.microsoft.com/office/drawing/2014/main" id="{353A2171-3F59-4774-A34C-88B8F7079013}"/>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5" name="Chevron 45">
                  <a:extLst>
                    <a:ext uri="{FF2B5EF4-FFF2-40B4-BE49-F238E27FC236}">
                      <a16:creationId xmlns:a16="http://schemas.microsoft.com/office/drawing/2014/main" id="{B85433E8-643F-4DA1-A998-2DDCAAD308E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3" name="TextBox 32">
                <a:extLst>
                  <a:ext uri="{FF2B5EF4-FFF2-40B4-BE49-F238E27FC236}">
                    <a16:creationId xmlns:a16="http://schemas.microsoft.com/office/drawing/2014/main" id="{86C8A7E2-B35A-4440-B17F-3141F438F4DF}"/>
                  </a:ext>
                </a:extLst>
              </p:cNvPr>
              <p:cNvSpPr txBox="1"/>
              <p:nvPr/>
            </p:nvSpPr>
            <p:spPr>
              <a:xfrm>
                <a:off x="1098666" y="4395670"/>
                <a:ext cx="348154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Spatial and Temporal analysis</a:t>
                </a:r>
              </a:p>
            </p:txBody>
          </p:sp>
        </p:grpSp>
        <p:sp>
          <p:nvSpPr>
            <p:cNvPr id="31" name="Chevron 45">
              <a:extLst>
                <a:ext uri="{FF2B5EF4-FFF2-40B4-BE49-F238E27FC236}">
                  <a16:creationId xmlns:a16="http://schemas.microsoft.com/office/drawing/2014/main" id="{89E50280-3DCB-4539-8A36-9997E3D36289}"/>
                </a:ext>
              </a:extLst>
            </p:cNvPr>
            <p:cNvSpPr/>
            <p:nvPr/>
          </p:nvSpPr>
          <p:spPr>
            <a:xfrm>
              <a:off x="522037" y="4185692"/>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7" name="Chevron 45">
              <a:extLst>
                <a:ext uri="{FF2B5EF4-FFF2-40B4-BE49-F238E27FC236}">
                  <a16:creationId xmlns:a16="http://schemas.microsoft.com/office/drawing/2014/main" id="{D92A1028-8416-45DD-94FB-9BA73B7CC5FE}"/>
                </a:ext>
              </a:extLst>
            </p:cNvPr>
            <p:cNvSpPr/>
            <p:nvPr/>
          </p:nvSpPr>
          <p:spPr>
            <a:xfrm>
              <a:off x="522037" y="3656913"/>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8" name="Rectangle: Rounded Corners 27">
            <a:extLst>
              <a:ext uri="{FF2B5EF4-FFF2-40B4-BE49-F238E27FC236}">
                <a16:creationId xmlns:a16="http://schemas.microsoft.com/office/drawing/2014/main" id="{A1B5E968-94A8-4F32-B11D-3F0FEB4F67B4}"/>
              </a:ext>
            </a:extLst>
          </p:cNvPr>
          <p:cNvSpPr/>
          <p:nvPr/>
        </p:nvSpPr>
        <p:spPr>
          <a:xfrm>
            <a:off x="4157669" y="1336099"/>
            <a:ext cx="4346480" cy="2112011"/>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nSpc>
                <a:spcPct val="95000"/>
              </a:lnSpc>
              <a:spcAft>
                <a:spcPts val="600"/>
              </a:spcAft>
              <a:buFont typeface="Wingdings" panose="05000000000000000000" pitchFamily="2" charset="2"/>
              <a:buChar char="ü"/>
            </a:pPr>
            <a:r>
              <a:rPr lang="en-GB" sz="2000" dirty="0">
                <a:solidFill>
                  <a:schemeClr val="tx1"/>
                </a:solidFill>
              </a:rPr>
              <a:t>Interpreting people's opinion, emotions, attitudes </a:t>
            </a:r>
            <a:endParaRPr lang="en-US" sz="2000" dirty="0">
              <a:solidFill>
                <a:schemeClr val="tx1"/>
              </a:solidFill>
            </a:endParaRPr>
          </a:p>
          <a:p>
            <a:pPr marL="457200" indent="-457200">
              <a:lnSpc>
                <a:spcPct val="95000"/>
              </a:lnSpc>
              <a:spcAft>
                <a:spcPts val="600"/>
              </a:spcAft>
              <a:buFont typeface="Wingdings" panose="05000000000000000000" pitchFamily="2" charset="2"/>
              <a:buChar char="ü"/>
            </a:pPr>
            <a:r>
              <a:rPr lang="en-GB" sz="2000" dirty="0">
                <a:solidFill>
                  <a:schemeClr val="tx1"/>
                </a:solidFill>
              </a:rPr>
              <a:t>Tracking the change of people’s emotion towards an event</a:t>
            </a:r>
          </a:p>
        </p:txBody>
      </p:sp>
      <p:sp>
        <p:nvSpPr>
          <p:cNvPr id="29" name="Rectangle: Rounded Corners 28">
            <a:extLst>
              <a:ext uri="{FF2B5EF4-FFF2-40B4-BE49-F238E27FC236}">
                <a16:creationId xmlns:a16="http://schemas.microsoft.com/office/drawing/2014/main" id="{7B4614D6-4A37-46C5-AE24-175248E94A85}"/>
              </a:ext>
            </a:extLst>
          </p:cNvPr>
          <p:cNvSpPr/>
          <p:nvPr/>
        </p:nvSpPr>
        <p:spPr>
          <a:xfrm>
            <a:off x="172539" y="2046998"/>
            <a:ext cx="2723061" cy="385765"/>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itle 1">
            <a:extLst>
              <a:ext uri="{FF2B5EF4-FFF2-40B4-BE49-F238E27FC236}">
                <a16:creationId xmlns:a16="http://schemas.microsoft.com/office/drawing/2014/main" id="{72C1E152-2871-4C78-B24C-EF778EC34A67}"/>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Approaches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86989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A5216886-01A5-4123-AB90-12B51D5B183E}"/>
              </a:ext>
            </a:extLst>
          </p:cNvPr>
          <p:cNvSpPr/>
          <p:nvPr/>
        </p:nvSpPr>
        <p:spPr>
          <a:xfrm>
            <a:off x="262587" y="4035933"/>
            <a:ext cx="4346480" cy="2218138"/>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Social network analysis (SNA) represents the users and actors as </a:t>
            </a:r>
            <a:r>
              <a:rPr lang="en-US" b="1" dirty="0">
                <a:solidFill>
                  <a:schemeClr val="tx1"/>
                </a:solidFill>
              </a:rPr>
              <a:t>nodes</a:t>
            </a:r>
            <a:r>
              <a:rPr lang="en-US" dirty="0">
                <a:solidFill>
                  <a:schemeClr val="tx1"/>
                </a:solidFill>
              </a:rPr>
              <a:t>. It shows connections and interactions </a:t>
            </a:r>
            <a:r>
              <a:rPr lang="en-US" b="1" dirty="0">
                <a:solidFill>
                  <a:schemeClr val="tx1"/>
                </a:solidFill>
              </a:rPr>
              <a:t>as edges</a:t>
            </a:r>
            <a:r>
              <a:rPr lang="en-US" dirty="0">
                <a:solidFill>
                  <a:schemeClr val="tx1"/>
                </a:solidFill>
              </a:rPr>
              <a:t>, and it studies the </a:t>
            </a:r>
            <a:r>
              <a:rPr lang="en-US" b="1" dirty="0">
                <a:solidFill>
                  <a:schemeClr val="tx1"/>
                </a:solidFill>
              </a:rPr>
              <a:t>structure of these nodes and their links </a:t>
            </a:r>
            <a:r>
              <a:rPr lang="en-US" dirty="0">
                <a:solidFill>
                  <a:schemeClr val="tx1"/>
                </a:solidFill>
              </a:rPr>
              <a:t>based on </a:t>
            </a:r>
            <a:r>
              <a:rPr lang="en-US" b="1" dirty="0">
                <a:solidFill>
                  <a:schemeClr val="tx1"/>
                </a:solidFill>
              </a:rPr>
              <a:t>social network theory.</a:t>
            </a:r>
            <a:endParaRPr lang="en-US" dirty="0">
              <a:solidFill>
                <a:schemeClr val="tx1"/>
              </a:solidFill>
            </a:endParaRPr>
          </a:p>
        </p:txBody>
      </p:sp>
      <p:sp>
        <p:nvSpPr>
          <p:cNvPr id="3" name="Slide Number Placeholder 2">
            <a:extLst>
              <a:ext uri="{FF2B5EF4-FFF2-40B4-BE49-F238E27FC236}">
                <a16:creationId xmlns:a16="http://schemas.microsoft.com/office/drawing/2014/main" id="{243062E9-06FB-4716-A941-D0ED9DD758A4}"/>
              </a:ext>
            </a:extLst>
          </p:cNvPr>
          <p:cNvSpPr>
            <a:spLocks noGrp="1"/>
          </p:cNvSpPr>
          <p:nvPr>
            <p:ph type="sldNum" sz="quarter" idx="12"/>
          </p:nvPr>
        </p:nvSpPr>
        <p:spPr/>
        <p:txBody>
          <a:bodyPr/>
          <a:lstStyle/>
          <a:p>
            <a:fld id="{85F881A0-7E4F-4F05-8C98-13E0A3A62794}" type="slidenum">
              <a:rPr lang="en-US" smtClean="0"/>
              <a:pPr/>
              <a:t>15</a:t>
            </a:fld>
            <a:endParaRPr lang="en-US"/>
          </a:p>
        </p:txBody>
      </p:sp>
      <p:sp>
        <p:nvSpPr>
          <p:cNvPr id="12" name="Rectangle 11">
            <a:extLst>
              <a:ext uri="{FF2B5EF4-FFF2-40B4-BE49-F238E27FC236}">
                <a16:creationId xmlns:a16="http://schemas.microsoft.com/office/drawing/2014/main" id="{84610BD5-86DF-4707-A889-F69ACE06FDC7}"/>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17" name="Group 16">
            <a:extLst>
              <a:ext uri="{FF2B5EF4-FFF2-40B4-BE49-F238E27FC236}">
                <a16:creationId xmlns:a16="http://schemas.microsoft.com/office/drawing/2014/main" id="{A85401BD-9F75-46FB-A4C2-5D000A66BD6E}"/>
              </a:ext>
            </a:extLst>
          </p:cNvPr>
          <p:cNvGrpSpPr/>
          <p:nvPr/>
        </p:nvGrpSpPr>
        <p:grpSpPr>
          <a:xfrm>
            <a:off x="262587" y="1481344"/>
            <a:ext cx="3732225" cy="2887732"/>
            <a:chOff x="457200" y="1405960"/>
            <a:chExt cx="3732225" cy="2887732"/>
          </a:xfrm>
        </p:grpSpPr>
        <p:grpSp>
          <p:nvGrpSpPr>
            <p:cNvPr id="18" name="Group 17">
              <a:extLst>
                <a:ext uri="{FF2B5EF4-FFF2-40B4-BE49-F238E27FC236}">
                  <a16:creationId xmlns:a16="http://schemas.microsoft.com/office/drawing/2014/main" id="{29FCC21D-8980-41FC-A145-11F7C14EE223}"/>
                </a:ext>
              </a:extLst>
            </p:cNvPr>
            <p:cNvGrpSpPr/>
            <p:nvPr/>
          </p:nvGrpSpPr>
          <p:grpSpPr>
            <a:xfrm>
              <a:off x="457200" y="1405960"/>
              <a:ext cx="2428615" cy="400110"/>
              <a:chOff x="847985" y="3927633"/>
              <a:chExt cx="2428615" cy="400110"/>
            </a:xfrm>
          </p:grpSpPr>
          <p:grpSp>
            <p:nvGrpSpPr>
              <p:cNvPr id="44" name="Group 43">
                <a:extLst>
                  <a:ext uri="{FF2B5EF4-FFF2-40B4-BE49-F238E27FC236}">
                    <a16:creationId xmlns:a16="http://schemas.microsoft.com/office/drawing/2014/main" id="{FBA380E1-3B63-466C-952B-38A8817CC217}"/>
                  </a:ext>
                </a:extLst>
              </p:cNvPr>
              <p:cNvGrpSpPr/>
              <p:nvPr/>
            </p:nvGrpSpPr>
            <p:grpSpPr>
              <a:xfrm>
                <a:off x="847985" y="4038600"/>
                <a:ext cx="199272" cy="206152"/>
                <a:chOff x="2411760" y="3708613"/>
                <a:chExt cx="206152" cy="206152"/>
              </a:xfrm>
            </p:grpSpPr>
            <p:sp>
              <p:nvSpPr>
                <p:cNvPr id="46" name="Oval 45">
                  <a:extLst>
                    <a:ext uri="{FF2B5EF4-FFF2-40B4-BE49-F238E27FC236}">
                      <a16:creationId xmlns:a16="http://schemas.microsoft.com/office/drawing/2014/main" id="{DF9A9EB3-9753-4B74-AB6A-13746877AB6F}"/>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7" name="Chevron 45">
                  <a:extLst>
                    <a:ext uri="{FF2B5EF4-FFF2-40B4-BE49-F238E27FC236}">
                      <a16:creationId xmlns:a16="http://schemas.microsoft.com/office/drawing/2014/main" id="{3E899860-B670-4736-AFC6-E0D616B057C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5" name="TextBox 44">
                <a:extLst>
                  <a:ext uri="{FF2B5EF4-FFF2-40B4-BE49-F238E27FC236}">
                    <a16:creationId xmlns:a16="http://schemas.microsoft.com/office/drawing/2014/main" id="{A9A804D9-D9EA-4A31-B74F-8271410E89B0}"/>
                  </a:ext>
                </a:extLst>
              </p:cNvPr>
              <p:cNvSpPr txBox="1"/>
              <p:nvPr/>
            </p:nvSpPr>
            <p:spPr>
              <a:xfrm>
                <a:off x="1098666" y="3927633"/>
                <a:ext cx="217793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Topic modeling</a:t>
                </a:r>
              </a:p>
            </p:txBody>
          </p:sp>
        </p:grpSp>
        <p:grpSp>
          <p:nvGrpSpPr>
            <p:cNvPr id="19" name="Group 18">
              <a:extLst>
                <a:ext uri="{FF2B5EF4-FFF2-40B4-BE49-F238E27FC236}">
                  <a16:creationId xmlns:a16="http://schemas.microsoft.com/office/drawing/2014/main" id="{F6EA9B8C-2705-4A04-AFD8-27F78586719F}"/>
                </a:ext>
              </a:extLst>
            </p:cNvPr>
            <p:cNvGrpSpPr/>
            <p:nvPr/>
          </p:nvGrpSpPr>
          <p:grpSpPr>
            <a:xfrm>
              <a:off x="457200" y="1971513"/>
              <a:ext cx="3125777" cy="400110"/>
              <a:chOff x="847985" y="4400490"/>
              <a:chExt cx="3125777" cy="400110"/>
            </a:xfrm>
          </p:grpSpPr>
          <p:grpSp>
            <p:nvGrpSpPr>
              <p:cNvPr id="40" name="Group 39">
                <a:extLst>
                  <a:ext uri="{FF2B5EF4-FFF2-40B4-BE49-F238E27FC236}">
                    <a16:creationId xmlns:a16="http://schemas.microsoft.com/office/drawing/2014/main" id="{94B4FC43-91BD-46B7-9577-4DD0F2D68F11}"/>
                  </a:ext>
                </a:extLst>
              </p:cNvPr>
              <p:cNvGrpSpPr/>
              <p:nvPr/>
            </p:nvGrpSpPr>
            <p:grpSpPr>
              <a:xfrm>
                <a:off x="847985" y="4508119"/>
                <a:ext cx="199272" cy="206152"/>
                <a:chOff x="2411760" y="3708613"/>
                <a:chExt cx="206152" cy="206152"/>
              </a:xfrm>
            </p:grpSpPr>
            <p:sp>
              <p:nvSpPr>
                <p:cNvPr id="42" name="Oval 41">
                  <a:extLst>
                    <a:ext uri="{FF2B5EF4-FFF2-40B4-BE49-F238E27FC236}">
                      <a16:creationId xmlns:a16="http://schemas.microsoft.com/office/drawing/2014/main" id="{71DF93D6-124E-434D-9FFD-E85A82C4D6B9}"/>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3" name="Chevron 45">
                  <a:extLst>
                    <a:ext uri="{FF2B5EF4-FFF2-40B4-BE49-F238E27FC236}">
                      <a16:creationId xmlns:a16="http://schemas.microsoft.com/office/drawing/2014/main" id="{49559024-F6C7-45A2-8508-CA4A0B22ECC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1" name="TextBox 40">
                <a:extLst>
                  <a:ext uri="{FF2B5EF4-FFF2-40B4-BE49-F238E27FC236}">
                    <a16:creationId xmlns:a16="http://schemas.microsoft.com/office/drawing/2014/main" id="{C6537569-F76D-45F5-B9D6-0D2276DD88CB}"/>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a:t>
                </a:r>
              </a:p>
            </p:txBody>
          </p:sp>
        </p:grpSp>
        <p:grpSp>
          <p:nvGrpSpPr>
            <p:cNvPr id="20" name="Group 19">
              <a:extLst>
                <a:ext uri="{FF2B5EF4-FFF2-40B4-BE49-F238E27FC236}">
                  <a16:creationId xmlns:a16="http://schemas.microsoft.com/office/drawing/2014/main" id="{6CC0FDBC-FEC4-479A-BACC-3A5276A0D758}"/>
                </a:ext>
              </a:extLst>
            </p:cNvPr>
            <p:cNvGrpSpPr/>
            <p:nvPr/>
          </p:nvGrpSpPr>
          <p:grpSpPr>
            <a:xfrm>
              <a:off x="457200" y="2493572"/>
              <a:ext cx="3125777" cy="400110"/>
              <a:chOff x="847985" y="4400490"/>
              <a:chExt cx="3125777" cy="400110"/>
            </a:xfrm>
          </p:grpSpPr>
          <p:grpSp>
            <p:nvGrpSpPr>
              <p:cNvPr id="36" name="Group 35">
                <a:extLst>
                  <a:ext uri="{FF2B5EF4-FFF2-40B4-BE49-F238E27FC236}">
                    <a16:creationId xmlns:a16="http://schemas.microsoft.com/office/drawing/2014/main" id="{0EC5C894-DE69-491D-95F9-F325083F66B1}"/>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1687F39B-F091-4F10-B31F-8666FD8FEB5C}"/>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907026D9-D9E6-4612-BFB1-DB50CF48E44A}"/>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E2FA97C8-8321-4F80-9A55-6DD6E493942C}"/>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Social Network Analysis</a:t>
                </a:r>
              </a:p>
            </p:txBody>
          </p:sp>
        </p:grpSp>
        <p:grpSp>
          <p:nvGrpSpPr>
            <p:cNvPr id="21" name="Group 20">
              <a:extLst>
                <a:ext uri="{FF2B5EF4-FFF2-40B4-BE49-F238E27FC236}">
                  <a16:creationId xmlns:a16="http://schemas.microsoft.com/office/drawing/2014/main" id="{052E569D-F146-472B-9824-5E107BDB1910}"/>
                </a:ext>
              </a:extLst>
            </p:cNvPr>
            <p:cNvGrpSpPr/>
            <p:nvPr/>
          </p:nvGrpSpPr>
          <p:grpSpPr>
            <a:xfrm>
              <a:off x="457200" y="2972616"/>
              <a:ext cx="3732225" cy="400110"/>
              <a:chOff x="847985" y="4395670"/>
              <a:chExt cx="3732225" cy="400110"/>
            </a:xfrm>
          </p:grpSpPr>
          <p:grpSp>
            <p:nvGrpSpPr>
              <p:cNvPr id="32" name="Group 31">
                <a:extLst>
                  <a:ext uri="{FF2B5EF4-FFF2-40B4-BE49-F238E27FC236}">
                    <a16:creationId xmlns:a16="http://schemas.microsoft.com/office/drawing/2014/main" id="{4492130E-EB6E-4B63-925C-49A1E90139CE}"/>
                  </a:ext>
                </a:extLst>
              </p:cNvPr>
              <p:cNvGrpSpPr/>
              <p:nvPr/>
            </p:nvGrpSpPr>
            <p:grpSpPr>
              <a:xfrm>
                <a:off x="847985" y="4508119"/>
                <a:ext cx="199272" cy="206152"/>
                <a:chOff x="2411760" y="3708613"/>
                <a:chExt cx="206152" cy="206152"/>
              </a:xfrm>
            </p:grpSpPr>
            <p:sp>
              <p:nvSpPr>
                <p:cNvPr id="34" name="Oval 33">
                  <a:extLst>
                    <a:ext uri="{FF2B5EF4-FFF2-40B4-BE49-F238E27FC236}">
                      <a16:creationId xmlns:a16="http://schemas.microsoft.com/office/drawing/2014/main" id="{353A2171-3F59-4774-A34C-88B8F7079013}"/>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5" name="Chevron 45">
                  <a:extLst>
                    <a:ext uri="{FF2B5EF4-FFF2-40B4-BE49-F238E27FC236}">
                      <a16:creationId xmlns:a16="http://schemas.microsoft.com/office/drawing/2014/main" id="{B85433E8-643F-4DA1-A998-2DDCAAD308E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3" name="TextBox 32">
                <a:extLst>
                  <a:ext uri="{FF2B5EF4-FFF2-40B4-BE49-F238E27FC236}">
                    <a16:creationId xmlns:a16="http://schemas.microsoft.com/office/drawing/2014/main" id="{86C8A7E2-B35A-4440-B17F-3141F438F4DF}"/>
                  </a:ext>
                </a:extLst>
              </p:cNvPr>
              <p:cNvSpPr txBox="1"/>
              <p:nvPr/>
            </p:nvSpPr>
            <p:spPr>
              <a:xfrm>
                <a:off x="1098666" y="4395670"/>
                <a:ext cx="348154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Spatial and Temporal analysis</a:t>
                </a:r>
              </a:p>
            </p:txBody>
          </p:sp>
        </p:grpSp>
        <p:sp>
          <p:nvSpPr>
            <p:cNvPr id="31" name="Chevron 45">
              <a:extLst>
                <a:ext uri="{FF2B5EF4-FFF2-40B4-BE49-F238E27FC236}">
                  <a16:creationId xmlns:a16="http://schemas.microsoft.com/office/drawing/2014/main" id="{89E50280-3DCB-4539-8A36-9997E3D36289}"/>
                </a:ext>
              </a:extLst>
            </p:cNvPr>
            <p:cNvSpPr/>
            <p:nvPr/>
          </p:nvSpPr>
          <p:spPr>
            <a:xfrm>
              <a:off x="522037" y="4185692"/>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7" name="Chevron 45">
              <a:extLst>
                <a:ext uri="{FF2B5EF4-FFF2-40B4-BE49-F238E27FC236}">
                  <a16:creationId xmlns:a16="http://schemas.microsoft.com/office/drawing/2014/main" id="{D92A1028-8416-45DD-94FB-9BA73B7CC5FE}"/>
                </a:ext>
              </a:extLst>
            </p:cNvPr>
            <p:cNvSpPr/>
            <p:nvPr/>
          </p:nvSpPr>
          <p:spPr>
            <a:xfrm>
              <a:off x="522037" y="3656913"/>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8" name="Rectangle: Rounded Corners 27">
            <a:extLst>
              <a:ext uri="{FF2B5EF4-FFF2-40B4-BE49-F238E27FC236}">
                <a16:creationId xmlns:a16="http://schemas.microsoft.com/office/drawing/2014/main" id="{A1B5E968-94A8-4F32-B11D-3F0FEB4F67B4}"/>
              </a:ext>
            </a:extLst>
          </p:cNvPr>
          <p:cNvSpPr/>
          <p:nvPr/>
        </p:nvSpPr>
        <p:spPr>
          <a:xfrm>
            <a:off x="4157669" y="1336099"/>
            <a:ext cx="4346480" cy="2112011"/>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ü"/>
            </a:pPr>
            <a:r>
              <a:rPr lang="en-US" sz="2000" dirty="0">
                <a:solidFill>
                  <a:schemeClr val="tx1"/>
                </a:solidFill>
              </a:rPr>
              <a:t>Understanding the circulation of information in the network</a:t>
            </a:r>
          </a:p>
          <a:p>
            <a:pPr marL="342900" indent="-342900">
              <a:buFont typeface="Wingdings" panose="05000000000000000000" pitchFamily="2" charset="2"/>
              <a:buChar char="ü"/>
            </a:pPr>
            <a:r>
              <a:rPr lang="en-US" sz="2000" dirty="0">
                <a:solidFill>
                  <a:schemeClr val="tx1"/>
                </a:solidFill>
              </a:rPr>
              <a:t>Finding influential users</a:t>
            </a:r>
          </a:p>
          <a:p>
            <a:pPr marL="342900" indent="-342900">
              <a:buFont typeface="Wingdings" panose="05000000000000000000" pitchFamily="2" charset="2"/>
              <a:buChar char="ü"/>
            </a:pPr>
            <a:r>
              <a:rPr lang="en-US" sz="2000" dirty="0">
                <a:solidFill>
                  <a:schemeClr val="tx1"/>
                </a:solidFill>
              </a:rPr>
              <a:t>Discovering the pattern of people's opinion connections</a:t>
            </a:r>
          </a:p>
        </p:txBody>
      </p:sp>
      <p:sp>
        <p:nvSpPr>
          <p:cNvPr id="29" name="Rectangle: Rounded Corners 28">
            <a:extLst>
              <a:ext uri="{FF2B5EF4-FFF2-40B4-BE49-F238E27FC236}">
                <a16:creationId xmlns:a16="http://schemas.microsoft.com/office/drawing/2014/main" id="{7B4614D6-4A37-46C5-AE24-175248E94A85}"/>
              </a:ext>
            </a:extLst>
          </p:cNvPr>
          <p:cNvSpPr/>
          <p:nvPr/>
        </p:nvSpPr>
        <p:spPr>
          <a:xfrm>
            <a:off x="172539" y="2555168"/>
            <a:ext cx="3027861" cy="406503"/>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itle 1">
            <a:extLst>
              <a:ext uri="{FF2B5EF4-FFF2-40B4-BE49-F238E27FC236}">
                <a16:creationId xmlns:a16="http://schemas.microsoft.com/office/drawing/2014/main" id="{5C7168A8-7112-4B19-A43A-DD0411D83A69}"/>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Approaches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128233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8"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A5216886-01A5-4123-AB90-12B51D5B183E}"/>
              </a:ext>
            </a:extLst>
          </p:cNvPr>
          <p:cNvSpPr/>
          <p:nvPr/>
        </p:nvSpPr>
        <p:spPr>
          <a:xfrm>
            <a:off x="183981" y="3891887"/>
            <a:ext cx="4346480" cy="1975513"/>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spatial and temporal analysis study the </a:t>
            </a:r>
            <a:r>
              <a:rPr lang="en-US" b="1" dirty="0">
                <a:solidFill>
                  <a:schemeClr val="tx1"/>
                </a:solidFill>
              </a:rPr>
              <a:t>users' data </a:t>
            </a:r>
            <a:r>
              <a:rPr lang="en-US" dirty="0">
                <a:solidFill>
                  <a:schemeClr val="tx1"/>
                </a:solidFill>
              </a:rPr>
              <a:t>to extract </a:t>
            </a:r>
            <a:r>
              <a:rPr lang="en-US" b="1" dirty="0">
                <a:solidFill>
                  <a:schemeClr val="tx1"/>
                </a:solidFill>
              </a:rPr>
              <a:t>spatial and temporal features</a:t>
            </a:r>
            <a:r>
              <a:rPr lang="en-US" dirty="0">
                <a:solidFill>
                  <a:schemeClr val="tx1"/>
                </a:solidFill>
              </a:rPr>
              <a:t> of data.</a:t>
            </a:r>
          </a:p>
        </p:txBody>
      </p:sp>
      <p:sp>
        <p:nvSpPr>
          <p:cNvPr id="3" name="Slide Number Placeholder 2">
            <a:extLst>
              <a:ext uri="{FF2B5EF4-FFF2-40B4-BE49-F238E27FC236}">
                <a16:creationId xmlns:a16="http://schemas.microsoft.com/office/drawing/2014/main" id="{243062E9-06FB-4716-A941-D0ED9DD758A4}"/>
              </a:ext>
            </a:extLst>
          </p:cNvPr>
          <p:cNvSpPr>
            <a:spLocks noGrp="1"/>
          </p:cNvSpPr>
          <p:nvPr>
            <p:ph type="sldNum" sz="quarter" idx="12"/>
          </p:nvPr>
        </p:nvSpPr>
        <p:spPr/>
        <p:txBody>
          <a:bodyPr/>
          <a:lstStyle/>
          <a:p>
            <a:fld id="{85F881A0-7E4F-4F05-8C98-13E0A3A62794}" type="slidenum">
              <a:rPr lang="en-US" smtClean="0"/>
              <a:pPr/>
              <a:t>16</a:t>
            </a:fld>
            <a:endParaRPr lang="en-US"/>
          </a:p>
        </p:txBody>
      </p:sp>
      <p:sp>
        <p:nvSpPr>
          <p:cNvPr id="12" name="Rectangle 11">
            <a:extLst>
              <a:ext uri="{FF2B5EF4-FFF2-40B4-BE49-F238E27FC236}">
                <a16:creationId xmlns:a16="http://schemas.microsoft.com/office/drawing/2014/main" id="{84610BD5-86DF-4707-A889-F69ACE06FDC7}"/>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grpSp>
        <p:nvGrpSpPr>
          <p:cNvPr id="17" name="Group 16">
            <a:extLst>
              <a:ext uri="{FF2B5EF4-FFF2-40B4-BE49-F238E27FC236}">
                <a16:creationId xmlns:a16="http://schemas.microsoft.com/office/drawing/2014/main" id="{A85401BD-9F75-46FB-A4C2-5D000A66BD6E}"/>
              </a:ext>
            </a:extLst>
          </p:cNvPr>
          <p:cNvGrpSpPr/>
          <p:nvPr/>
        </p:nvGrpSpPr>
        <p:grpSpPr>
          <a:xfrm>
            <a:off x="262587" y="1481344"/>
            <a:ext cx="3732225" cy="2887732"/>
            <a:chOff x="457200" y="1405960"/>
            <a:chExt cx="3732225" cy="2887732"/>
          </a:xfrm>
        </p:grpSpPr>
        <p:grpSp>
          <p:nvGrpSpPr>
            <p:cNvPr id="18" name="Group 17">
              <a:extLst>
                <a:ext uri="{FF2B5EF4-FFF2-40B4-BE49-F238E27FC236}">
                  <a16:creationId xmlns:a16="http://schemas.microsoft.com/office/drawing/2014/main" id="{29FCC21D-8980-41FC-A145-11F7C14EE223}"/>
                </a:ext>
              </a:extLst>
            </p:cNvPr>
            <p:cNvGrpSpPr/>
            <p:nvPr/>
          </p:nvGrpSpPr>
          <p:grpSpPr>
            <a:xfrm>
              <a:off x="457200" y="1405960"/>
              <a:ext cx="2428615" cy="400110"/>
              <a:chOff x="847985" y="3927633"/>
              <a:chExt cx="2428615" cy="400110"/>
            </a:xfrm>
          </p:grpSpPr>
          <p:grpSp>
            <p:nvGrpSpPr>
              <p:cNvPr id="44" name="Group 43">
                <a:extLst>
                  <a:ext uri="{FF2B5EF4-FFF2-40B4-BE49-F238E27FC236}">
                    <a16:creationId xmlns:a16="http://schemas.microsoft.com/office/drawing/2014/main" id="{FBA380E1-3B63-466C-952B-38A8817CC217}"/>
                  </a:ext>
                </a:extLst>
              </p:cNvPr>
              <p:cNvGrpSpPr/>
              <p:nvPr/>
            </p:nvGrpSpPr>
            <p:grpSpPr>
              <a:xfrm>
                <a:off x="847985" y="4038600"/>
                <a:ext cx="199272" cy="206152"/>
                <a:chOff x="2411760" y="3708613"/>
                <a:chExt cx="206152" cy="206152"/>
              </a:xfrm>
            </p:grpSpPr>
            <p:sp>
              <p:nvSpPr>
                <p:cNvPr id="46" name="Oval 45">
                  <a:extLst>
                    <a:ext uri="{FF2B5EF4-FFF2-40B4-BE49-F238E27FC236}">
                      <a16:creationId xmlns:a16="http://schemas.microsoft.com/office/drawing/2014/main" id="{DF9A9EB3-9753-4B74-AB6A-13746877AB6F}"/>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7" name="Chevron 45">
                  <a:extLst>
                    <a:ext uri="{FF2B5EF4-FFF2-40B4-BE49-F238E27FC236}">
                      <a16:creationId xmlns:a16="http://schemas.microsoft.com/office/drawing/2014/main" id="{3E899860-B670-4736-AFC6-E0D616B057C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5" name="TextBox 44">
                <a:extLst>
                  <a:ext uri="{FF2B5EF4-FFF2-40B4-BE49-F238E27FC236}">
                    <a16:creationId xmlns:a16="http://schemas.microsoft.com/office/drawing/2014/main" id="{A9A804D9-D9EA-4A31-B74F-8271410E89B0}"/>
                  </a:ext>
                </a:extLst>
              </p:cNvPr>
              <p:cNvSpPr txBox="1"/>
              <p:nvPr/>
            </p:nvSpPr>
            <p:spPr>
              <a:xfrm>
                <a:off x="1098666" y="3927633"/>
                <a:ext cx="217793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Topic modeling</a:t>
                </a:r>
              </a:p>
            </p:txBody>
          </p:sp>
        </p:grpSp>
        <p:grpSp>
          <p:nvGrpSpPr>
            <p:cNvPr id="19" name="Group 18">
              <a:extLst>
                <a:ext uri="{FF2B5EF4-FFF2-40B4-BE49-F238E27FC236}">
                  <a16:creationId xmlns:a16="http://schemas.microsoft.com/office/drawing/2014/main" id="{F6EA9B8C-2705-4A04-AFD8-27F78586719F}"/>
                </a:ext>
              </a:extLst>
            </p:cNvPr>
            <p:cNvGrpSpPr/>
            <p:nvPr/>
          </p:nvGrpSpPr>
          <p:grpSpPr>
            <a:xfrm>
              <a:off x="457200" y="1971513"/>
              <a:ext cx="3125777" cy="400110"/>
              <a:chOff x="847985" y="4400490"/>
              <a:chExt cx="3125777" cy="400110"/>
            </a:xfrm>
          </p:grpSpPr>
          <p:grpSp>
            <p:nvGrpSpPr>
              <p:cNvPr id="40" name="Group 39">
                <a:extLst>
                  <a:ext uri="{FF2B5EF4-FFF2-40B4-BE49-F238E27FC236}">
                    <a16:creationId xmlns:a16="http://schemas.microsoft.com/office/drawing/2014/main" id="{94B4FC43-91BD-46B7-9577-4DD0F2D68F11}"/>
                  </a:ext>
                </a:extLst>
              </p:cNvPr>
              <p:cNvGrpSpPr/>
              <p:nvPr/>
            </p:nvGrpSpPr>
            <p:grpSpPr>
              <a:xfrm>
                <a:off x="847985" y="4508119"/>
                <a:ext cx="199272" cy="206152"/>
                <a:chOff x="2411760" y="3708613"/>
                <a:chExt cx="206152" cy="206152"/>
              </a:xfrm>
            </p:grpSpPr>
            <p:sp>
              <p:nvSpPr>
                <p:cNvPr id="42" name="Oval 41">
                  <a:extLst>
                    <a:ext uri="{FF2B5EF4-FFF2-40B4-BE49-F238E27FC236}">
                      <a16:creationId xmlns:a16="http://schemas.microsoft.com/office/drawing/2014/main" id="{71DF93D6-124E-434D-9FFD-E85A82C4D6B9}"/>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43" name="Chevron 45">
                  <a:extLst>
                    <a:ext uri="{FF2B5EF4-FFF2-40B4-BE49-F238E27FC236}">
                      <a16:creationId xmlns:a16="http://schemas.microsoft.com/office/drawing/2014/main" id="{49559024-F6C7-45A2-8508-CA4A0B22ECC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41" name="TextBox 40">
                <a:extLst>
                  <a:ext uri="{FF2B5EF4-FFF2-40B4-BE49-F238E27FC236}">
                    <a16:creationId xmlns:a16="http://schemas.microsoft.com/office/drawing/2014/main" id="{C6537569-F76D-45F5-B9D6-0D2276DD88CB}"/>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a:t>
                </a:r>
              </a:p>
            </p:txBody>
          </p:sp>
        </p:grpSp>
        <p:grpSp>
          <p:nvGrpSpPr>
            <p:cNvPr id="20" name="Group 19">
              <a:extLst>
                <a:ext uri="{FF2B5EF4-FFF2-40B4-BE49-F238E27FC236}">
                  <a16:creationId xmlns:a16="http://schemas.microsoft.com/office/drawing/2014/main" id="{6CC0FDBC-FEC4-479A-BACC-3A5276A0D758}"/>
                </a:ext>
              </a:extLst>
            </p:cNvPr>
            <p:cNvGrpSpPr/>
            <p:nvPr/>
          </p:nvGrpSpPr>
          <p:grpSpPr>
            <a:xfrm>
              <a:off x="457200" y="2493572"/>
              <a:ext cx="3125777" cy="400110"/>
              <a:chOff x="847985" y="4400490"/>
              <a:chExt cx="3125777" cy="400110"/>
            </a:xfrm>
          </p:grpSpPr>
          <p:grpSp>
            <p:nvGrpSpPr>
              <p:cNvPr id="36" name="Group 35">
                <a:extLst>
                  <a:ext uri="{FF2B5EF4-FFF2-40B4-BE49-F238E27FC236}">
                    <a16:creationId xmlns:a16="http://schemas.microsoft.com/office/drawing/2014/main" id="{0EC5C894-DE69-491D-95F9-F325083F66B1}"/>
                  </a:ext>
                </a:extLst>
              </p:cNvPr>
              <p:cNvGrpSpPr/>
              <p:nvPr/>
            </p:nvGrpSpPr>
            <p:grpSpPr>
              <a:xfrm>
                <a:off x="847985" y="4508119"/>
                <a:ext cx="199272" cy="206152"/>
                <a:chOff x="2411760" y="3708613"/>
                <a:chExt cx="206152" cy="206152"/>
              </a:xfrm>
            </p:grpSpPr>
            <p:sp>
              <p:nvSpPr>
                <p:cNvPr id="38" name="Oval 37">
                  <a:extLst>
                    <a:ext uri="{FF2B5EF4-FFF2-40B4-BE49-F238E27FC236}">
                      <a16:creationId xmlns:a16="http://schemas.microsoft.com/office/drawing/2014/main" id="{1687F39B-F091-4F10-B31F-8666FD8FEB5C}"/>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9" name="Chevron 45">
                  <a:extLst>
                    <a:ext uri="{FF2B5EF4-FFF2-40B4-BE49-F238E27FC236}">
                      <a16:creationId xmlns:a16="http://schemas.microsoft.com/office/drawing/2014/main" id="{907026D9-D9E6-4612-BFB1-DB50CF48E44A}"/>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7" name="TextBox 36">
                <a:extLst>
                  <a:ext uri="{FF2B5EF4-FFF2-40B4-BE49-F238E27FC236}">
                    <a16:creationId xmlns:a16="http://schemas.microsoft.com/office/drawing/2014/main" id="{E2FA97C8-8321-4F80-9A55-6DD6E493942C}"/>
                  </a:ext>
                </a:extLst>
              </p:cNvPr>
              <p:cNvSpPr txBox="1"/>
              <p:nvPr/>
            </p:nvSpPr>
            <p:spPr>
              <a:xfrm>
                <a:off x="1098666" y="4400490"/>
                <a:ext cx="2875096"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Social Network Analysis</a:t>
                </a:r>
              </a:p>
            </p:txBody>
          </p:sp>
        </p:grpSp>
        <p:grpSp>
          <p:nvGrpSpPr>
            <p:cNvPr id="21" name="Group 20">
              <a:extLst>
                <a:ext uri="{FF2B5EF4-FFF2-40B4-BE49-F238E27FC236}">
                  <a16:creationId xmlns:a16="http://schemas.microsoft.com/office/drawing/2014/main" id="{052E569D-F146-472B-9824-5E107BDB1910}"/>
                </a:ext>
              </a:extLst>
            </p:cNvPr>
            <p:cNvGrpSpPr/>
            <p:nvPr/>
          </p:nvGrpSpPr>
          <p:grpSpPr>
            <a:xfrm>
              <a:off x="457200" y="2972616"/>
              <a:ext cx="3732225" cy="400110"/>
              <a:chOff x="847985" y="4395670"/>
              <a:chExt cx="3732225" cy="400110"/>
            </a:xfrm>
          </p:grpSpPr>
          <p:grpSp>
            <p:nvGrpSpPr>
              <p:cNvPr id="32" name="Group 31">
                <a:extLst>
                  <a:ext uri="{FF2B5EF4-FFF2-40B4-BE49-F238E27FC236}">
                    <a16:creationId xmlns:a16="http://schemas.microsoft.com/office/drawing/2014/main" id="{4492130E-EB6E-4B63-925C-49A1E90139CE}"/>
                  </a:ext>
                </a:extLst>
              </p:cNvPr>
              <p:cNvGrpSpPr/>
              <p:nvPr/>
            </p:nvGrpSpPr>
            <p:grpSpPr>
              <a:xfrm>
                <a:off x="847985" y="4508119"/>
                <a:ext cx="199272" cy="206152"/>
                <a:chOff x="2411760" y="3708613"/>
                <a:chExt cx="206152" cy="206152"/>
              </a:xfrm>
            </p:grpSpPr>
            <p:sp>
              <p:nvSpPr>
                <p:cNvPr id="34" name="Oval 33">
                  <a:extLst>
                    <a:ext uri="{FF2B5EF4-FFF2-40B4-BE49-F238E27FC236}">
                      <a16:creationId xmlns:a16="http://schemas.microsoft.com/office/drawing/2014/main" id="{353A2171-3F59-4774-A34C-88B8F7079013}"/>
                    </a:ext>
                  </a:extLst>
                </p:cNvPr>
                <p:cNvSpPr/>
                <p:nvPr/>
              </p:nvSpPr>
              <p:spPr>
                <a:xfrm>
                  <a:off x="2411760" y="3708613"/>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35" name="Chevron 45">
                  <a:extLst>
                    <a:ext uri="{FF2B5EF4-FFF2-40B4-BE49-F238E27FC236}">
                      <a16:creationId xmlns:a16="http://schemas.microsoft.com/office/drawing/2014/main" id="{B85433E8-643F-4DA1-A998-2DDCAAD308E2}"/>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33" name="TextBox 32">
                <a:extLst>
                  <a:ext uri="{FF2B5EF4-FFF2-40B4-BE49-F238E27FC236}">
                    <a16:creationId xmlns:a16="http://schemas.microsoft.com/office/drawing/2014/main" id="{86C8A7E2-B35A-4440-B17F-3141F438F4DF}"/>
                  </a:ext>
                </a:extLst>
              </p:cNvPr>
              <p:cNvSpPr txBox="1"/>
              <p:nvPr/>
            </p:nvSpPr>
            <p:spPr>
              <a:xfrm>
                <a:off x="1098666" y="4395670"/>
                <a:ext cx="3481544" cy="400110"/>
              </a:xfrm>
              <a:prstGeom prst="rect">
                <a:avLst/>
              </a:prstGeom>
              <a:noFill/>
            </p:spPr>
            <p:txBody>
              <a:bodyPr wrap="square" rtlCol="0" anchor="ctr">
                <a:spAutoFit/>
              </a:bodyPr>
              <a:lstStyle/>
              <a:p>
                <a:pPr marL="0" marR="0" indent="0">
                  <a:spcBef>
                    <a:spcPts val="600"/>
                  </a:spcBef>
                  <a:spcAft>
                    <a:spcPts val="300"/>
                  </a:spcAft>
                  <a:buNone/>
                  <a:tabLst>
                    <a:tab pos="228600" algn="l"/>
                    <a:tab pos="18288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Spatial and Temporal analysis</a:t>
                </a:r>
              </a:p>
            </p:txBody>
          </p:sp>
        </p:grpSp>
        <p:sp>
          <p:nvSpPr>
            <p:cNvPr id="31" name="Chevron 45">
              <a:extLst>
                <a:ext uri="{FF2B5EF4-FFF2-40B4-BE49-F238E27FC236}">
                  <a16:creationId xmlns:a16="http://schemas.microsoft.com/office/drawing/2014/main" id="{89E50280-3DCB-4539-8A36-9997E3D36289}"/>
                </a:ext>
              </a:extLst>
            </p:cNvPr>
            <p:cNvSpPr/>
            <p:nvPr/>
          </p:nvSpPr>
          <p:spPr>
            <a:xfrm>
              <a:off x="522037" y="4185692"/>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27" name="Chevron 45">
              <a:extLst>
                <a:ext uri="{FF2B5EF4-FFF2-40B4-BE49-F238E27FC236}">
                  <a16:creationId xmlns:a16="http://schemas.microsoft.com/office/drawing/2014/main" id="{D92A1028-8416-45DD-94FB-9BA73B7CC5FE}"/>
                </a:ext>
              </a:extLst>
            </p:cNvPr>
            <p:cNvSpPr/>
            <p:nvPr/>
          </p:nvSpPr>
          <p:spPr>
            <a:xfrm>
              <a:off x="522037" y="3656913"/>
              <a:ext cx="69597"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sp>
        <p:nvSpPr>
          <p:cNvPr id="28" name="Rectangle: Rounded Corners 27">
            <a:extLst>
              <a:ext uri="{FF2B5EF4-FFF2-40B4-BE49-F238E27FC236}">
                <a16:creationId xmlns:a16="http://schemas.microsoft.com/office/drawing/2014/main" id="{A1B5E968-94A8-4F32-B11D-3F0FEB4F67B4}"/>
              </a:ext>
            </a:extLst>
          </p:cNvPr>
          <p:cNvSpPr/>
          <p:nvPr/>
        </p:nvSpPr>
        <p:spPr>
          <a:xfrm>
            <a:off x="4036783" y="1260949"/>
            <a:ext cx="4986204" cy="2925806"/>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en-US" sz="2000" dirty="0">
                <a:solidFill>
                  <a:schemeClr val="tx1"/>
                </a:solidFill>
              </a:rPr>
              <a:t>Discovering the temporal pattern and geographical information of data</a:t>
            </a:r>
          </a:p>
          <a:p>
            <a:pPr marL="285750" indent="-285750">
              <a:buFont typeface="Wingdings" panose="05000000000000000000" pitchFamily="2" charset="2"/>
              <a:buChar char="ü"/>
            </a:pPr>
            <a:r>
              <a:rPr lang="en-US" sz="2000" dirty="0">
                <a:solidFill>
                  <a:schemeClr val="tx1"/>
                </a:solidFill>
              </a:rPr>
              <a:t>Discovering human mobility activities</a:t>
            </a:r>
          </a:p>
          <a:p>
            <a:pPr marL="285750" indent="-285750">
              <a:buFont typeface="Wingdings" panose="05000000000000000000" pitchFamily="2" charset="2"/>
              <a:buChar char="ü"/>
            </a:pPr>
            <a:r>
              <a:rPr lang="en-US" sz="2000" dirty="0">
                <a:solidFill>
                  <a:schemeClr val="tx1"/>
                </a:solidFill>
              </a:rPr>
              <a:t>Discovering spatial distribution of public opinion</a:t>
            </a:r>
          </a:p>
          <a:p>
            <a:pPr marL="285750" indent="-285750">
              <a:buFont typeface="Wingdings" panose="05000000000000000000" pitchFamily="2" charset="2"/>
              <a:buChar char="ü"/>
            </a:pPr>
            <a:r>
              <a:rPr lang="en-US" sz="2000" dirty="0">
                <a:solidFill>
                  <a:schemeClr val="tx1"/>
                </a:solidFill>
              </a:rPr>
              <a:t>Discovering the emergence, evolution, and decline of public opinion over time</a:t>
            </a:r>
          </a:p>
        </p:txBody>
      </p:sp>
      <p:sp>
        <p:nvSpPr>
          <p:cNvPr id="29" name="Rectangle: Rounded Corners 28">
            <a:extLst>
              <a:ext uri="{FF2B5EF4-FFF2-40B4-BE49-F238E27FC236}">
                <a16:creationId xmlns:a16="http://schemas.microsoft.com/office/drawing/2014/main" id="{7B4614D6-4A37-46C5-AE24-175248E94A85}"/>
              </a:ext>
            </a:extLst>
          </p:cNvPr>
          <p:cNvSpPr/>
          <p:nvPr/>
        </p:nvSpPr>
        <p:spPr>
          <a:xfrm>
            <a:off x="183981" y="3038996"/>
            <a:ext cx="3632622" cy="423993"/>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itle 1">
            <a:extLst>
              <a:ext uri="{FF2B5EF4-FFF2-40B4-BE49-F238E27FC236}">
                <a16:creationId xmlns:a16="http://schemas.microsoft.com/office/drawing/2014/main" id="{DEFD1ED6-C4BD-4620-B19A-CCD48E1FBED6}"/>
              </a:ext>
            </a:extLst>
          </p:cNvPr>
          <p:cNvSpPr txBox="1">
            <a:spLocks/>
          </p:cNvSpPr>
          <p:nvPr/>
        </p:nvSpPr>
        <p:spPr>
          <a:xfrm>
            <a:off x="26126" y="378425"/>
            <a:ext cx="9448800" cy="7042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dirty="0">
                <a:solidFill>
                  <a:schemeClr val="bg1"/>
                </a:solidFill>
                <a:latin typeface="+mn-lt"/>
                <a:cs typeface="Aharoni" panose="02010803020104030203" pitchFamily="2" charset="-79"/>
              </a:rPr>
            </a:br>
            <a:br>
              <a:rPr lang="en-US" sz="3600" dirty="0">
                <a:solidFill>
                  <a:schemeClr val="bg1"/>
                </a:solidFill>
                <a:latin typeface="+mn-lt"/>
                <a:cs typeface="Aharoni" panose="02010803020104030203" pitchFamily="2" charset="-79"/>
              </a:rPr>
            </a:br>
            <a:r>
              <a:rPr lang="en-GB" sz="2800" dirty="0">
                <a:solidFill>
                  <a:schemeClr val="bg1"/>
                </a:solidFill>
                <a:latin typeface="+mn-lt"/>
                <a:cs typeface="Aharoni" panose="02010803020104030203" pitchFamily="2" charset="-79"/>
              </a:rPr>
              <a:t>Social Media Data Analysis </a:t>
            </a:r>
            <a:r>
              <a:rPr lang="en-GB" sz="2800" b="1" dirty="0">
                <a:solidFill>
                  <a:schemeClr val="bg1"/>
                </a:solidFill>
                <a:latin typeface="+mn-lt"/>
                <a:cs typeface="Aharoni" panose="02010803020104030203" pitchFamily="2" charset="-79"/>
              </a:rPr>
              <a:t>Approaches</a:t>
            </a:r>
            <a:endParaRPr lang="en-US" sz="2800" b="1" dirty="0">
              <a:solidFill>
                <a:schemeClr val="bg1"/>
              </a:solidFill>
              <a:latin typeface="+mn-lt"/>
              <a:cs typeface="Aharoni" panose="02010803020104030203" pitchFamily="2" charset="-79"/>
            </a:endParaRPr>
          </a:p>
          <a:p>
            <a:pPr algn="l"/>
            <a:br>
              <a:rPr lang="en-US" sz="3600" dirty="0">
                <a:latin typeface="+mn-lt"/>
              </a:rPr>
            </a:br>
            <a:br>
              <a:rPr lang="en-US" sz="3600" dirty="0">
                <a:latin typeface="+mn-lt"/>
              </a:rPr>
            </a:br>
            <a:endParaRPr lang="en-US" sz="3600" dirty="0">
              <a:solidFill>
                <a:schemeClr val="bg1"/>
              </a:solidFill>
              <a:latin typeface="+mn-lt"/>
              <a:cs typeface="Aharoni" panose="02010803020104030203" pitchFamily="2" charset="-79"/>
            </a:endParaRPr>
          </a:p>
        </p:txBody>
      </p:sp>
    </p:spTree>
    <p:extLst>
      <p:ext uri="{BB962C8B-B14F-4D97-AF65-F5344CB8AC3E}">
        <p14:creationId xmlns:p14="http://schemas.microsoft.com/office/powerpoint/2010/main" val="40501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8" grpId="0"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8912"/>
            <a:ext cx="8229600" cy="763588"/>
          </a:xfrm>
        </p:spPr>
        <p:txBody>
          <a:bodyPr>
            <a:normAutofit fontScale="90000"/>
          </a:bodyPr>
          <a:lstStyle/>
          <a:p>
            <a:pPr algn="l"/>
            <a:br>
              <a:rPr lang="en-US" sz="4000" dirty="0">
                <a:solidFill>
                  <a:schemeClr val="bg1"/>
                </a:solidFill>
                <a:latin typeface="+mn-lt"/>
                <a:cs typeface="Aharoni" panose="02010803020104030203" pitchFamily="2" charset="-79"/>
              </a:rPr>
            </a:br>
            <a:r>
              <a:rPr lang="en-US" sz="4000" dirty="0">
                <a:solidFill>
                  <a:schemeClr val="bg1"/>
                </a:solidFill>
                <a:latin typeface="+mn-lt"/>
                <a:cs typeface="Aharoni" panose="02010803020104030203" pitchFamily="2" charset="-79"/>
              </a:rPr>
              <a:t>Social Media Analytics</a:t>
            </a:r>
            <a:br>
              <a:rPr lang="en-US" sz="1600" i="0" dirty="0">
                <a:effectLst/>
                <a:latin typeface="+mn-lt"/>
              </a:rPr>
            </a:br>
            <a:endParaRPr lang="en-US" sz="4000" dirty="0">
              <a:solidFill>
                <a:schemeClr val="bg1"/>
              </a:solidFill>
              <a:latin typeface="+mn-lt"/>
              <a:cs typeface="Aharoni" panose="02010803020104030203" pitchFamily="2" charset="-79"/>
            </a:endParaRPr>
          </a:p>
        </p:txBody>
      </p:sp>
      <p:sp>
        <p:nvSpPr>
          <p:cNvPr id="3" name="Slide Number Placeholder 2">
            <a:extLst>
              <a:ext uri="{FF2B5EF4-FFF2-40B4-BE49-F238E27FC236}">
                <a16:creationId xmlns:a16="http://schemas.microsoft.com/office/drawing/2014/main" id="{7014162E-5747-43E3-9619-B5E3CE4B6A2C}"/>
              </a:ext>
            </a:extLst>
          </p:cNvPr>
          <p:cNvSpPr>
            <a:spLocks noGrp="1"/>
          </p:cNvSpPr>
          <p:nvPr>
            <p:ph type="sldNum" sz="quarter" idx="12"/>
          </p:nvPr>
        </p:nvSpPr>
        <p:spPr/>
        <p:txBody>
          <a:bodyPr/>
          <a:lstStyle/>
          <a:p>
            <a:fld id="{85F881A0-7E4F-4F05-8C98-13E0A3A62794}" type="slidenum">
              <a:rPr lang="en-US" smtClean="0"/>
              <a:pPr/>
              <a:t>17</a:t>
            </a:fld>
            <a:endParaRPr lang="en-US"/>
          </a:p>
        </p:txBody>
      </p:sp>
      <p:sp>
        <p:nvSpPr>
          <p:cNvPr id="9" name="Rectangle 8">
            <a:extLst>
              <a:ext uri="{FF2B5EF4-FFF2-40B4-BE49-F238E27FC236}">
                <a16:creationId xmlns:a16="http://schemas.microsoft.com/office/drawing/2014/main" id="{56D47CBA-63D0-447E-B4CB-2FD5FE0A483E}"/>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sp>
        <p:nvSpPr>
          <p:cNvPr id="10" name="Title 1">
            <a:extLst>
              <a:ext uri="{FF2B5EF4-FFF2-40B4-BE49-F238E27FC236}">
                <a16:creationId xmlns:a16="http://schemas.microsoft.com/office/drawing/2014/main" id="{6916AE0D-86F6-493E-9998-782374F5FFD3}"/>
              </a:ext>
            </a:extLst>
          </p:cNvPr>
          <p:cNvSpPr txBox="1">
            <a:spLocks/>
          </p:cNvSpPr>
          <p:nvPr/>
        </p:nvSpPr>
        <p:spPr>
          <a:xfrm>
            <a:off x="0" y="126963"/>
            <a:ext cx="8229600" cy="7635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3200" dirty="0">
              <a:solidFill>
                <a:schemeClr val="bg1"/>
              </a:solidFill>
              <a:latin typeface="+mn-lt"/>
              <a:cs typeface="Aharoni" panose="02010803020104030203" pitchFamily="2" charset="-79"/>
            </a:endParaRPr>
          </a:p>
        </p:txBody>
      </p:sp>
      <p:sp>
        <p:nvSpPr>
          <p:cNvPr id="32" name="Title 1">
            <a:extLst>
              <a:ext uri="{FF2B5EF4-FFF2-40B4-BE49-F238E27FC236}">
                <a16:creationId xmlns:a16="http://schemas.microsoft.com/office/drawing/2014/main" id="{26463584-D79E-4728-8E16-2778D34352DD}"/>
              </a:ext>
            </a:extLst>
          </p:cNvPr>
          <p:cNvSpPr txBox="1">
            <a:spLocks/>
          </p:cNvSpPr>
          <p:nvPr/>
        </p:nvSpPr>
        <p:spPr>
          <a:xfrm>
            <a:off x="228600" y="125422"/>
            <a:ext cx="8229600" cy="7635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a:solidFill>
                  <a:schemeClr val="bg1"/>
                </a:solidFill>
                <a:latin typeface="+mn-lt"/>
                <a:cs typeface="Aharoni" panose="02010803020104030203" pitchFamily="2" charset="-79"/>
              </a:rPr>
              <a:t>Conclusion</a:t>
            </a:r>
          </a:p>
        </p:txBody>
      </p:sp>
      <p:grpSp>
        <p:nvGrpSpPr>
          <p:cNvPr id="68" name="Group 67">
            <a:extLst>
              <a:ext uri="{FF2B5EF4-FFF2-40B4-BE49-F238E27FC236}">
                <a16:creationId xmlns:a16="http://schemas.microsoft.com/office/drawing/2014/main" id="{1DB66A1A-482E-45F5-8D77-4C1DEF2650CE}"/>
              </a:ext>
            </a:extLst>
          </p:cNvPr>
          <p:cNvGrpSpPr/>
          <p:nvPr/>
        </p:nvGrpSpPr>
        <p:grpSpPr>
          <a:xfrm>
            <a:off x="533400" y="1382281"/>
            <a:ext cx="8229600" cy="2888022"/>
            <a:chOff x="533400" y="1382281"/>
            <a:chExt cx="8229600" cy="2888022"/>
          </a:xfrm>
        </p:grpSpPr>
        <p:grpSp>
          <p:nvGrpSpPr>
            <p:cNvPr id="53" name="Group 52">
              <a:extLst>
                <a:ext uri="{FF2B5EF4-FFF2-40B4-BE49-F238E27FC236}">
                  <a16:creationId xmlns:a16="http://schemas.microsoft.com/office/drawing/2014/main" id="{9085C9EC-1CA5-4C32-8F35-21F27B91084B}"/>
                </a:ext>
              </a:extLst>
            </p:cNvPr>
            <p:cNvGrpSpPr/>
            <p:nvPr/>
          </p:nvGrpSpPr>
          <p:grpSpPr>
            <a:xfrm>
              <a:off x="533400" y="1382281"/>
              <a:ext cx="8229599" cy="646331"/>
              <a:chOff x="467292" y="1450924"/>
              <a:chExt cx="8229599" cy="646331"/>
            </a:xfrm>
          </p:grpSpPr>
          <p:sp>
            <p:nvSpPr>
              <p:cNvPr id="54" name="TextBox 53">
                <a:extLst>
                  <a:ext uri="{FF2B5EF4-FFF2-40B4-BE49-F238E27FC236}">
                    <a16:creationId xmlns:a16="http://schemas.microsoft.com/office/drawing/2014/main" id="{72997032-B0C2-467D-BE46-B50D2F2A1C5B}"/>
                  </a:ext>
                </a:extLst>
              </p:cNvPr>
              <p:cNvSpPr txBox="1"/>
              <p:nvPr/>
            </p:nvSpPr>
            <p:spPr>
              <a:xfrm>
                <a:off x="1103308" y="1450924"/>
                <a:ext cx="7593583" cy="646331"/>
              </a:xfrm>
              <a:prstGeom prst="rect">
                <a:avLst/>
              </a:prstGeom>
              <a:noFill/>
            </p:spPr>
            <p:txBody>
              <a:bodyPr wrap="square" rtlCol="0">
                <a:spAutoFit/>
              </a:bodyPr>
              <a:lstStyle/>
              <a:p>
                <a:pPr algn="just" eaLnBrk="1" hangingPunct="1"/>
                <a:r>
                  <a:rPr lang="en-GB" dirty="0">
                    <a:latin typeface="Times New Roman" panose="02020603050405020304" pitchFamily="18" charset="0"/>
                    <a:ea typeface="MS Mincho" panose="02020609040205080304" pitchFamily="49" charset="-128"/>
                  </a:rPr>
                  <a:t>We review 62 papers by sampling published papers in </a:t>
                </a:r>
                <a:r>
                  <a:rPr lang="en-GB" sz="1800" dirty="0">
                    <a:effectLst/>
                    <a:latin typeface="Times New Roman" panose="02020603050405020304" pitchFamily="18" charset="0"/>
                    <a:ea typeface="MS Mincho" panose="02020609040205080304" pitchFamily="49" charset="-128"/>
                  </a:rPr>
                  <a:t>IEEE, Science Direct, and SpringerLink databases </a:t>
                </a:r>
                <a:r>
                  <a:rPr lang="en-GB" dirty="0">
                    <a:latin typeface="Times New Roman" panose="02020603050405020304" pitchFamily="18" charset="0"/>
                    <a:ea typeface="MS Mincho" panose="02020609040205080304" pitchFamily="49" charset="-128"/>
                  </a:rPr>
                  <a:t>between 2011- 2020. </a:t>
                </a:r>
              </a:p>
            </p:txBody>
          </p:sp>
          <p:sp>
            <p:nvSpPr>
              <p:cNvPr id="55" name="Rectangle 54">
                <a:extLst>
                  <a:ext uri="{FF2B5EF4-FFF2-40B4-BE49-F238E27FC236}">
                    <a16:creationId xmlns:a16="http://schemas.microsoft.com/office/drawing/2014/main" id="{79664B20-C37D-4775-9E6F-AAECC88E403B}"/>
                  </a:ext>
                </a:extLst>
              </p:cNvPr>
              <p:cNvSpPr/>
              <p:nvPr/>
            </p:nvSpPr>
            <p:spPr>
              <a:xfrm>
                <a:off x="467292" y="1471224"/>
                <a:ext cx="447108" cy="4616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dirty="0">
                  <a:latin typeface="Times New Roman" panose="02020603050405020304" pitchFamily="18" charset="0"/>
                  <a:cs typeface="Times New Roman" panose="02020603050405020304" pitchFamily="18" charset="0"/>
                </a:endParaRPr>
              </a:p>
            </p:txBody>
          </p:sp>
        </p:grpSp>
        <p:grpSp>
          <p:nvGrpSpPr>
            <p:cNvPr id="56" name="Group 55">
              <a:extLst>
                <a:ext uri="{FF2B5EF4-FFF2-40B4-BE49-F238E27FC236}">
                  <a16:creationId xmlns:a16="http://schemas.microsoft.com/office/drawing/2014/main" id="{915E4300-4FF1-468F-9BD1-174B159E67A8}"/>
                </a:ext>
              </a:extLst>
            </p:cNvPr>
            <p:cNvGrpSpPr/>
            <p:nvPr/>
          </p:nvGrpSpPr>
          <p:grpSpPr>
            <a:xfrm>
              <a:off x="533401" y="2232472"/>
              <a:ext cx="8229599" cy="923330"/>
              <a:chOff x="467292" y="1450924"/>
              <a:chExt cx="8229599" cy="923330"/>
            </a:xfrm>
          </p:grpSpPr>
          <p:sp>
            <p:nvSpPr>
              <p:cNvPr id="57" name="TextBox 56">
                <a:extLst>
                  <a:ext uri="{FF2B5EF4-FFF2-40B4-BE49-F238E27FC236}">
                    <a16:creationId xmlns:a16="http://schemas.microsoft.com/office/drawing/2014/main" id="{B1FD5198-9BF8-43CD-9A37-8AE37CC1D53B}"/>
                  </a:ext>
                </a:extLst>
              </p:cNvPr>
              <p:cNvSpPr txBox="1"/>
              <p:nvPr/>
            </p:nvSpPr>
            <p:spPr>
              <a:xfrm>
                <a:off x="1103308" y="1450924"/>
                <a:ext cx="7593583" cy="923330"/>
              </a:xfrm>
              <a:prstGeom prst="rect">
                <a:avLst/>
              </a:prstGeom>
              <a:noFill/>
            </p:spPr>
            <p:txBody>
              <a:bodyPr wrap="square" rtlCol="0">
                <a:spAutoFit/>
              </a:bodyPr>
              <a:lstStyle/>
              <a:p>
                <a:pPr algn="just" eaLnBrk="1" hangingPunct="1"/>
                <a:r>
                  <a:rPr lang="en-GB" dirty="0">
                    <a:latin typeface="Times New Roman" panose="02020603050405020304" pitchFamily="18" charset="0"/>
                    <a:ea typeface="MS Mincho" panose="02020609040205080304" pitchFamily="49" charset="-128"/>
                  </a:rPr>
                  <a:t>Applying a </a:t>
                </a:r>
                <a:r>
                  <a:rPr lang="en-GB" b="1" dirty="0">
                    <a:latin typeface="Times New Roman" panose="02020603050405020304" pitchFamily="18" charset="0"/>
                    <a:ea typeface="MS Mincho" panose="02020609040205080304" pitchFamily="49" charset="-128"/>
                  </a:rPr>
                  <a:t>proper mix of these approaches </a:t>
                </a:r>
                <a:r>
                  <a:rPr lang="en-GB" dirty="0">
                    <a:latin typeface="Times New Roman" panose="02020603050405020304" pitchFamily="18" charset="0"/>
                    <a:ea typeface="MS Mincho" panose="02020609040205080304" pitchFamily="49" charset="-128"/>
                  </a:rPr>
                  <a:t>for each of these application areas can provide a powerful tool to achieve meaningful information and knowledge about the public for a target application. </a:t>
                </a:r>
              </a:p>
            </p:txBody>
          </p:sp>
          <p:sp>
            <p:nvSpPr>
              <p:cNvPr id="58" name="Rectangle 57">
                <a:extLst>
                  <a:ext uri="{FF2B5EF4-FFF2-40B4-BE49-F238E27FC236}">
                    <a16:creationId xmlns:a16="http://schemas.microsoft.com/office/drawing/2014/main" id="{9BCFAC65-A228-43B1-A736-9CA0F6D3A165}"/>
                  </a:ext>
                </a:extLst>
              </p:cNvPr>
              <p:cNvSpPr/>
              <p:nvPr/>
            </p:nvSpPr>
            <p:spPr>
              <a:xfrm>
                <a:off x="467292" y="1727923"/>
                <a:ext cx="447108" cy="461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dirty="0">
                  <a:latin typeface="Times New Roman" panose="02020603050405020304" pitchFamily="18" charset="0"/>
                  <a:cs typeface="Times New Roman" panose="02020603050405020304" pitchFamily="18" charset="0"/>
                </a:endParaRPr>
              </a:p>
            </p:txBody>
          </p:sp>
        </p:grpSp>
        <p:grpSp>
          <p:nvGrpSpPr>
            <p:cNvPr id="59" name="Group 58">
              <a:extLst>
                <a:ext uri="{FF2B5EF4-FFF2-40B4-BE49-F238E27FC236}">
                  <a16:creationId xmlns:a16="http://schemas.microsoft.com/office/drawing/2014/main" id="{DEA54E42-7A09-403D-BAC0-DCEF2E039ED1}"/>
                </a:ext>
              </a:extLst>
            </p:cNvPr>
            <p:cNvGrpSpPr/>
            <p:nvPr/>
          </p:nvGrpSpPr>
          <p:grpSpPr>
            <a:xfrm>
              <a:off x="533400" y="3593195"/>
              <a:ext cx="8229599" cy="677108"/>
              <a:chOff x="467292" y="1450924"/>
              <a:chExt cx="8229599" cy="677108"/>
            </a:xfrm>
          </p:grpSpPr>
          <p:sp>
            <p:nvSpPr>
              <p:cNvPr id="60" name="TextBox 59">
                <a:extLst>
                  <a:ext uri="{FF2B5EF4-FFF2-40B4-BE49-F238E27FC236}">
                    <a16:creationId xmlns:a16="http://schemas.microsoft.com/office/drawing/2014/main" id="{C2D3AF90-B21F-4194-B561-38BB99578C88}"/>
                  </a:ext>
                </a:extLst>
              </p:cNvPr>
              <p:cNvSpPr txBox="1"/>
              <p:nvPr/>
            </p:nvSpPr>
            <p:spPr>
              <a:xfrm>
                <a:off x="1103308" y="1450924"/>
                <a:ext cx="7593583" cy="677108"/>
              </a:xfrm>
              <a:prstGeom prst="rect">
                <a:avLst/>
              </a:prstGeom>
              <a:noFill/>
            </p:spPr>
            <p:txBody>
              <a:bodyPr wrap="square" rtlCol="0">
                <a:spAutoFit/>
              </a:bodyPr>
              <a:lstStyle/>
              <a:p>
                <a:pPr algn="just" eaLnBrk="1" hangingPunct="1"/>
                <a:r>
                  <a:rPr lang="en-GB" dirty="0">
                    <a:latin typeface="Times New Roman" panose="02020603050405020304" pitchFamily="18" charset="0"/>
                    <a:ea typeface="MS Mincho" panose="02020609040205080304" pitchFamily="49" charset="-128"/>
                  </a:rPr>
                  <a:t>The </a:t>
                </a:r>
                <a:r>
                  <a:rPr lang="en-GB" b="1" dirty="0" err="1">
                    <a:latin typeface="Times New Roman" panose="02020603050405020304" pitchFamily="18" charset="0"/>
                    <a:ea typeface="MS Mincho" panose="02020609040205080304" pitchFamily="49" charset="-128"/>
                  </a:rPr>
                  <a:t>spatio</a:t>
                </a:r>
                <a:r>
                  <a:rPr lang="en-GB" b="1" dirty="0">
                    <a:latin typeface="Times New Roman" panose="02020603050405020304" pitchFamily="18" charset="0"/>
                    <a:ea typeface="MS Mincho" panose="02020609040205080304" pitchFamily="49" charset="-128"/>
                  </a:rPr>
                  <a:t>-temporal analysis </a:t>
                </a:r>
                <a:r>
                  <a:rPr lang="en-GB" dirty="0">
                    <a:latin typeface="Times New Roman" panose="02020603050405020304" pitchFamily="18" charset="0"/>
                    <a:ea typeface="MS Mincho" panose="02020609040205080304" pitchFamily="49" charset="-128"/>
                  </a:rPr>
                  <a:t>is rarely used alone. It is used in most </a:t>
                </a:r>
                <a:r>
                  <a:rPr lang="en-US" dirty="0">
                    <a:latin typeface="Times New Roman" panose="02020603050405020304" pitchFamily="18" charset="0"/>
                    <a:ea typeface="MS Mincho" panose="02020609040205080304" pitchFamily="49" charset="-128"/>
                  </a:rPr>
                  <a:t>papers</a:t>
                </a:r>
                <a:r>
                  <a:rPr lang="en-GB" dirty="0">
                    <a:latin typeface="Times New Roman" panose="02020603050405020304" pitchFamily="18" charset="0"/>
                    <a:ea typeface="MS Mincho" panose="02020609040205080304" pitchFamily="49" charset="-128"/>
                  </a:rPr>
                  <a:t> along with other approaches</a:t>
                </a:r>
                <a:r>
                  <a:rPr lang="en-GB" sz="2000" dirty="0"/>
                  <a:t>. </a:t>
                </a:r>
              </a:p>
            </p:txBody>
          </p:sp>
          <p:sp>
            <p:nvSpPr>
              <p:cNvPr id="61" name="Rectangle 60">
                <a:extLst>
                  <a:ext uri="{FF2B5EF4-FFF2-40B4-BE49-F238E27FC236}">
                    <a16:creationId xmlns:a16="http://schemas.microsoft.com/office/drawing/2014/main" id="{2DA7C3EA-D5C9-40C0-A219-0DEB13E3E655}"/>
                  </a:ext>
                </a:extLst>
              </p:cNvPr>
              <p:cNvSpPr/>
              <p:nvPr/>
            </p:nvSpPr>
            <p:spPr>
              <a:xfrm>
                <a:off x="467292" y="1574035"/>
                <a:ext cx="447108" cy="4616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dirty="0">
                  <a:latin typeface="Times New Roman" panose="02020603050405020304" pitchFamily="18" charset="0"/>
                  <a:cs typeface="Times New Roman" panose="02020603050405020304" pitchFamily="18" charset="0"/>
                </a:endParaRPr>
              </a:p>
            </p:txBody>
          </p:sp>
        </p:grpSp>
      </p:grpSp>
      <p:grpSp>
        <p:nvGrpSpPr>
          <p:cNvPr id="6" name="Group 5">
            <a:extLst>
              <a:ext uri="{FF2B5EF4-FFF2-40B4-BE49-F238E27FC236}">
                <a16:creationId xmlns:a16="http://schemas.microsoft.com/office/drawing/2014/main" id="{093479B8-BD99-41A1-BB08-9EC525AEE0B6}"/>
              </a:ext>
            </a:extLst>
          </p:cNvPr>
          <p:cNvGrpSpPr/>
          <p:nvPr/>
        </p:nvGrpSpPr>
        <p:grpSpPr>
          <a:xfrm>
            <a:off x="457200" y="4803056"/>
            <a:ext cx="8255725" cy="1376111"/>
            <a:chOff x="653435" y="4803056"/>
            <a:chExt cx="8255725" cy="1376111"/>
          </a:xfrm>
        </p:grpSpPr>
        <p:grpSp>
          <p:nvGrpSpPr>
            <p:cNvPr id="62" name="Group 61">
              <a:extLst>
                <a:ext uri="{FF2B5EF4-FFF2-40B4-BE49-F238E27FC236}">
                  <a16:creationId xmlns:a16="http://schemas.microsoft.com/office/drawing/2014/main" id="{C1007467-6272-4F41-B5EC-D0AFF7F9B23A}"/>
                </a:ext>
              </a:extLst>
            </p:cNvPr>
            <p:cNvGrpSpPr/>
            <p:nvPr/>
          </p:nvGrpSpPr>
          <p:grpSpPr>
            <a:xfrm>
              <a:off x="653435" y="4803056"/>
              <a:ext cx="8229599" cy="646331"/>
              <a:chOff x="467292" y="1450924"/>
              <a:chExt cx="8229599" cy="646331"/>
            </a:xfrm>
          </p:grpSpPr>
          <p:sp>
            <p:nvSpPr>
              <p:cNvPr id="63" name="TextBox 62">
                <a:extLst>
                  <a:ext uri="{FF2B5EF4-FFF2-40B4-BE49-F238E27FC236}">
                    <a16:creationId xmlns:a16="http://schemas.microsoft.com/office/drawing/2014/main" id="{ED62E00B-4A4B-4B05-8DF5-3B402973964A}"/>
                  </a:ext>
                </a:extLst>
              </p:cNvPr>
              <p:cNvSpPr txBox="1"/>
              <p:nvPr/>
            </p:nvSpPr>
            <p:spPr>
              <a:xfrm>
                <a:off x="1103308" y="1450924"/>
                <a:ext cx="7593583" cy="646331"/>
              </a:xfrm>
              <a:prstGeom prst="rect">
                <a:avLst/>
              </a:prstGeom>
              <a:noFill/>
            </p:spPr>
            <p:txBody>
              <a:bodyPr wrap="square" rtlCol="0">
                <a:spAutoFit/>
              </a:bodyPr>
              <a:lstStyle/>
              <a:p>
                <a:pPr algn="just" eaLnBrk="1" hangingPunct="1"/>
                <a:r>
                  <a:rPr lang="en-GB" sz="1800" dirty="0">
                    <a:effectLst/>
                    <a:latin typeface="Times New Roman" panose="02020603050405020304" pitchFamily="18" charset="0"/>
                    <a:ea typeface="MS Mincho" panose="02020609040205080304" pitchFamily="49" charset="-128"/>
                  </a:rPr>
                  <a:t>As a future research goal, social media data's </a:t>
                </a:r>
                <a:r>
                  <a:rPr lang="en-GB" sz="1800" b="1" dirty="0">
                    <a:effectLst/>
                    <a:latin typeface="Times New Roman" panose="02020603050405020304" pitchFamily="18" charset="0"/>
                    <a:ea typeface="MS Mincho" panose="02020609040205080304" pitchFamily="49" charset="-128"/>
                  </a:rPr>
                  <a:t>problems and limitations </a:t>
                </a:r>
                <a:r>
                  <a:rPr lang="en-GB" sz="1800" dirty="0">
                    <a:effectLst/>
                    <a:latin typeface="Times New Roman" panose="02020603050405020304" pitchFamily="18" charset="0"/>
                    <a:ea typeface="MS Mincho" panose="02020609040205080304" pitchFamily="49" charset="-128"/>
                  </a:rPr>
                  <a:t>to cover the data-driven research for real-world issues can be investigated.</a:t>
                </a:r>
                <a:endParaRPr lang="en-GB" sz="2000" dirty="0"/>
              </a:p>
            </p:txBody>
          </p:sp>
          <p:sp>
            <p:nvSpPr>
              <p:cNvPr id="64" name="Rectangle 63">
                <a:extLst>
                  <a:ext uri="{FF2B5EF4-FFF2-40B4-BE49-F238E27FC236}">
                    <a16:creationId xmlns:a16="http://schemas.microsoft.com/office/drawing/2014/main" id="{3F2A50CF-C271-47AA-AE38-AA968AAE8D86}"/>
                  </a:ext>
                </a:extLst>
              </p:cNvPr>
              <p:cNvSpPr/>
              <p:nvPr/>
            </p:nvSpPr>
            <p:spPr>
              <a:xfrm>
                <a:off x="467292" y="1574035"/>
                <a:ext cx="447108" cy="4616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dirty="0">
                  <a:latin typeface="Times New Roman" panose="02020603050405020304" pitchFamily="18" charset="0"/>
                  <a:cs typeface="Times New Roman" panose="02020603050405020304" pitchFamily="18" charset="0"/>
                </a:endParaRPr>
              </a:p>
            </p:txBody>
          </p:sp>
        </p:grpSp>
        <p:grpSp>
          <p:nvGrpSpPr>
            <p:cNvPr id="65" name="Group 64">
              <a:extLst>
                <a:ext uri="{FF2B5EF4-FFF2-40B4-BE49-F238E27FC236}">
                  <a16:creationId xmlns:a16="http://schemas.microsoft.com/office/drawing/2014/main" id="{8D242F0F-2DFB-48DD-9570-24CDB550D14C}"/>
                </a:ext>
              </a:extLst>
            </p:cNvPr>
            <p:cNvGrpSpPr/>
            <p:nvPr/>
          </p:nvGrpSpPr>
          <p:grpSpPr>
            <a:xfrm>
              <a:off x="679561" y="5532836"/>
              <a:ext cx="8229599" cy="646331"/>
              <a:chOff x="467292" y="1450924"/>
              <a:chExt cx="8229599" cy="646331"/>
            </a:xfrm>
          </p:grpSpPr>
          <p:sp>
            <p:nvSpPr>
              <p:cNvPr id="66" name="TextBox 65">
                <a:extLst>
                  <a:ext uri="{FF2B5EF4-FFF2-40B4-BE49-F238E27FC236}">
                    <a16:creationId xmlns:a16="http://schemas.microsoft.com/office/drawing/2014/main" id="{434E96D3-699C-434A-B6A5-40EB741460B0}"/>
                  </a:ext>
                </a:extLst>
              </p:cNvPr>
              <p:cNvSpPr txBox="1"/>
              <p:nvPr/>
            </p:nvSpPr>
            <p:spPr>
              <a:xfrm>
                <a:off x="1103308" y="1450924"/>
                <a:ext cx="7593583" cy="646331"/>
              </a:xfrm>
              <a:prstGeom prst="rect">
                <a:avLst/>
              </a:prstGeom>
              <a:noFill/>
            </p:spPr>
            <p:txBody>
              <a:bodyPr wrap="square" rtlCol="0">
                <a:spAutoFit/>
              </a:bodyPr>
              <a:lstStyle/>
              <a:p>
                <a:pPr algn="just" eaLnBrk="1" hangingPunct="1"/>
                <a:r>
                  <a:rPr lang="en-GB" sz="1800" dirty="0">
                    <a:effectLst/>
                    <a:latin typeface="Times New Roman" panose="02020603050405020304" pitchFamily="18" charset="0"/>
                    <a:ea typeface="MS Mincho" panose="02020609040205080304" pitchFamily="49" charset="-128"/>
                  </a:rPr>
                  <a:t>As a future research goal, </a:t>
                </a:r>
                <a:r>
                  <a:rPr lang="en-US" dirty="0"/>
                  <a:t>the most used </a:t>
                </a:r>
                <a:r>
                  <a:rPr lang="en-US" b="1" dirty="0">
                    <a:solidFill>
                      <a:srgbClr val="0E101A"/>
                    </a:solidFill>
                    <a:effectLst/>
                  </a:rPr>
                  <a:t>methods and techniques </a:t>
                </a:r>
                <a:r>
                  <a:rPr lang="en-US" dirty="0"/>
                  <a:t>to perform each of the analysis approaches can be investigated.</a:t>
                </a:r>
                <a:endParaRPr lang="en-GB" sz="2000" dirty="0"/>
              </a:p>
            </p:txBody>
          </p:sp>
          <p:sp>
            <p:nvSpPr>
              <p:cNvPr id="67" name="Rectangle 66">
                <a:extLst>
                  <a:ext uri="{FF2B5EF4-FFF2-40B4-BE49-F238E27FC236}">
                    <a16:creationId xmlns:a16="http://schemas.microsoft.com/office/drawing/2014/main" id="{566D877A-8CC1-475E-8265-948A019E16CB}"/>
                  </a:ext>
                </a:extLst>
              </p:cNvPr>
              <p:cNvSpPr/>
              <p:nvPr/>
            </p:nvSpPr>
            <p:spPr>
              <a:xfrm>
                <a:off x="467292" y="1574035"/>
                <a:ext cx="447108" cy="4616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dirty="0">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21687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500" fill="hold"/>
                                        <p:tgtEl>
                                          <p:spTgt spid="68"/>
                                        </p:tgtEl>
                                        <p:attrNameLst>
                                          <p:attrName>ppt_x</p:attrName>
                                        </p:attrNameLst>
                                      </p:cBhvr>
                                      <p:tavLst>
                                        <p:tav tm="0">
                                          <p:val>
                                            <p:strVal val="#ppt_x"/>
                                          </p:val>
                                        </p:tav>
                                        <p:tav tm="100000">
                                          <p:val>
                                            <p:strVal val="#ppt_x"/>
                                          </p:val>
                                        </p:tav>
                                      </p:tavLst>
                                    </p:anim>
                                    <p:anim calcmode="lin" valueType="num">
                                      <p:cBhvr additive="base">
                                        <p:cTn id="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pPr algn="l"/>
            <a:r>
              <a:rPr lang="en-US" sz="3600" dirty="0">
                <a:solidFill>
                  <a:schemeClr val="bg1"/>
                </a:solidFill>
                <a:latin typeface="+mn-lt"/>
                <a:cs typeface="Aharoni" panose="02010803020104030203" pitchFamily="2" charset="-79"/>
              </a:rPr>
              <a:t>Reference</a:t>
            </a:r>
          </a:p>
        </p:txBody>
      </p:sp>
      <p:sp>
        <p:nvSpPr>
          <p:cNvPr id="3" name="Content Placeholder 2"/>
          <p:cNvSpPr>
            <a:spLocks noGrp="1"/>
          </p:cNvSpPr>
          <p:nvPr>
            <p:ph idx="1"/>
          </p:nvPr>
        </p:nvSpPr>
        <p:spPr>
          <a:xfrm>
            <a:off x="457200" y="1219200"/>
            <a:ext cx="8229600" cy="4876800"/>
          </a:xfrm>
        </p:spPr>
        <p:txBody>
          <a:bodyPr>
            <a:noAutofit/>
          </a:bodyPr>
          <a:lstStyle/>
          <a:p>
            <a:r>
              <a:rPr lang="en-US" sz="1800" i="1" dirty="0">
                <a:latin typeface="Times New Roman" panose="02020603050405020304" pitchFamily="18" charset="0"/>
                <a:ea typeface="MS Mincho" panose="02020609040205080304" pitchFamily="49" charset="-128"/>
              </a:rPr>
              <a:t>I. Lee, "Social media analytics for enterprises: Typology, methods, and processes," Business Horizons, vol. Volume 61, no. Issue 2, pp. 199-210, 2018.</a:t>
            </a:r>
          </a:p>
          <a:p>
            <a:pPr>
              <a:buFont typeface="Wingdings" panose="05000000000000000000" pitchFamily="2" charset="2"/>
              <a:buChar char="§"/>
            </a:pPr>
            <a:endParaRPr lang="en-US" sz="1800" i="1" dirty="0">
              <a:latin typeface="Times New Roman" panose="02020603050405020304" pitchFamily="18" charset="0"/>
              <a:ea typeface="MS Mincho" panose="02020609040205080304" pitchFamily="49" charset="-128"/>
            </a:endParaRPr>
          </a:p>
          <a:p>
            <a:pPr marL="180340" marR="0" indent="-180340" algn="just">
              <a:spcBef>
                <a:spcPts val="0"/>
              </a:spcBef>
              <a:spcAft>
                <a:spcPts val="0"/>
              </a:spcAft>
            </a:pPr>
            <a:r>
              <a:rPr lang="en-GB" sz="1800" i="1" dirty="0">
                <a:latin typeface="Times New Roman" panose="02020603050405020304" pitchFamily="18" charset="0"/>
                <a:ea typeface="MS Mincho" panose="02020609040205080304" pitchFamily="49" charset="-128"/>
              </a:rPr>
              <a:t>Ghani, N. A., Hamid, S., Hashem, I. A. T., Ahmed, E. (2019). Social media big data analytics: A survey. Computers in Human </a:t>
            </a:r>
            <a:r>
              <a:rPr lang="en-GB" sz="1800" i="1" dirty="0" err="1">
                <a:latin typeface="Times New Roman" panose="02020603050405020304" pitchFamily="18" charset="0"/>
                <a:ea typeface="MS Mincho" panose="02020609040205080304" pitchFamily="49" charset="-128"/>
              </a:rPr>
              <a:t>Behavior</a:t>
            </a:r>
            <a:r>
              <a:rPr lang="en-GB" sz="1800" i="1" dirty="0">
                <a:latin typeface="Times New Roman" panose="02020603050405020304" pitchFamily="18" charset="0"/>
                <a:ea typeface="MS Mincho" panose="02020609040205080304" pitchFamily="49" charset="-128"/>
              </a:rPr>
              <a:t>, 101, 417-428.</a:t>
            </a:r>
          </a:p>
          <a:p>
            <a:pPr marL="180340" marR="0" indent="-180340" algn="just">
              <a:spcBef>
                <a:spcPts val="0"/>
              </a:spcBef>
              <a:spcAft>
                <a:spcPts val="0"/>
              </a:spcAft>
            </a:pPr>
            <a:endParaRPr lang="en-GB" sz="1800" i="1" dirty="0">
              <a:latin typeface="Times New Roman" panose="02020603050405020304" pitchFamily="18" charset="0"/>
              <a:ea typeface="MS Mincho" panose="02020609040205080304" pitchFamily="49" charset="-128"/>
            </a:endParaRPr>
          </a:p>
          <a:p>
            <a:pPr marL="180340" indent="-180340" algn="just">
              <a:spcBef>
                <a:spcPts val="0"/>
              </a:spcBef>
            </a:pPr>
            <a:r>
              <a:rPr lang="en-GB" sz="1800" i="1" dirty="0">
                <a:latin typeface="Times New Roman" panose="02020603050405020304" pitchFamily="18" charset="0"/>
                <a:ea typeface="MS Mincho" panose="02020609040205080304" pitchFamily="49" charset="-128"/>
              </a:rPr>
              <a:t>Al-</a:t>
            </a:r>
            <a:r>
              <a:rPr lang="en-GB" sz="1800" i="1" dirty="0" err="1">
                <a:latin typeface="Times New Roman" panose="02020603050405020304" pitchFamily="18" charset="0"/>
                <a:ea typeface="MS Mincho" panose="02020609040205080304" pitchFamily="49" charset="-128"/>
              </a:rPr>
              <a:t>garadi</a:t>
            </a:r>
            <a:r>
              <a:rPr lang="en-GB" sz="1800" i="1" dirty="0">
                <a:latin typeface="Times New Roman" panose="02020603050405020304" pitchFamily="18" charset="0"/>
                <a:ea typeface="MS Mincho" panose="02020609040205080304" pitchFamily="49" charset="-128"/>
              </a:rPr>
              <a:t>, M. A., Mujtaba, G., Khan, M. S., Friday, N. H., Waqas, A., Murtaza, G. (2018). Applications of big social media data analysis: An overview. 2018 International Conference on Computing, Mathematics and Engineering Technologies (</a:t>
            </a:r>
            <a:r>
              <a:rPr lang="en-GB" sz="1800" i="1" dirty="0" err="1">
                <a:latin typeface="Times New Roman" panose="02020603050405020304" pitchFamily="18" charset="0"/>
                <a:ea typeface="MS Mincho" panose="02020609040205080304" pitchFamily="49" charset="-128"/>
              </a:rPr>
              <a:t>iCoMET</a:t>
            </a:r>
            <a:r>
              <a:rPr lang="en-GB" sz="1800" i="1" dirty="0">
                <a:latin typeface="Times New Roman" panose="02020603050405020304" pitchFamily="18" charset="0"/>
                <a:ea typeface="MS Mincho" panose="02020609040205080304" pitchFamily="49" charset="-128"/>
              </a:rPr>
              <a:t>). Sukkur.</a:t>
            </a:r>
          </a:p>
          <a:p>
            <a:pPr marL="180340" indent="-180340" algn="just">
              <a:spcBef>
                <a:spcPts val="0"/>
              </a:spcBef>
            </a:pPr>
            <a:endParaRPr lang="en-GB" sz="1800" i="1" dirty="0">
              <a:latin typeface="Times New Roman" panose="02020603050405020304" pitchFamily="18" charset="0"/>
              <a:ea typeface="MS Mincho" panose="02020609040205080304" pitchFamily="49" charset="-128"/>
            </a:endParaRPr>
          </a:p>
          <a:p>
            <a:pPr marL="180340" indent="-180340" algn="just">
              <a:spcBef>
                <a:spcPts val="0"/>
              </a:spcBef>
            </a:pPr>
            <a:r>
              <a:rPr lang="en-GB" sz="1800" i="1" dirty="0" err="1">
                <a:latin typeface="Times New Roman" panose="02020603050405020304" pitchFamily="18" charset="0"/>
                <a:ea typeface="MS Mincho" panose="02020609040205080304" pitchFamily="49" charset="-128"/>
              </a:rPr>
              <a:t>Drus</a:t>
            </a:r>
            <a:r>
              <a:rPr lang="en-GB" sz="1800" i="1" dirty="0">
                <a:latin typeface="Times New Roman" panose="02020603050405020304" pitchFamily="18" charset="0"/>
                <a:ea typeface="MS Mincho" panose="02020609040205080304" pitchFamily="49" charset="-128"/>
              </a:rPr>
              <a:t>, Z., Khalid, H. (2019). Sentiment Analysis in Social Media and Its Application: Systematic Literature Review. Procedia Computer Science, 161, 707-714.</a:t>
            </a:r>
            <a:endParaRPr lang="en-US" sz="1800" i="1" dirty="0">
              <a:latin typeface="Times New Roman" panose="02020603050405020304" pitchFamily="18" charset="0"/>
              <a:ea typeface="MS Mincho" panose="02020609040205080304" pitchFamily="49" charset="-128"/>
            </a:endParaRPr>
          </a:p>
          <a:p>
            <a:pPr marL="180340" indent="-180340" algn="just">
              <a:spcBef>
                <a:spcPts val="0"/>
              </a:spcBef>
            </a:pPr>
            <a:endParaRPr lang="en-US" sz="1400" dirty="0">
              <a:latin typeface="Times New Roman" panose="02020603050405020304" pitchFamily="18" charset="0"/>
            </a:endParaRPr>
          </a:p>
          <a:p>
            <a:pPr marL="180340" indent="-180340" algn="just">
              <a:spcBef>
                <a:spcPts val="0"/>
              </a:spcBef>
            </a:pPr>
            <a:r>
              <a:rPr lang="en-GB" sz="1800" i="1" dirty="0">
                <a:effectLst/>
                <a:latin typeface="Times New Roman" panose="02020603050405020304" pitchFamily="18" charset="0"/>
                <a:ea typeface="MS Mincho" panose="02020609040205080304" pitchFamily="49" charset="-128"/>
              </a:rPr>
              <a:t>Liu, S., Young, S. D. (2018). A survey of social media data analysis for physical activity surveillance. Journal of Forensic and Legal Medicine, 57, 33-36</a:t>
            </a:r>
          </a:p>
          <a:p>
            <a:pPr marL="180340" indent="-180340" algn="just">
              <a:spcBef>
                <a:spcPts val="0"/>
              </a:spcBef>
            </a:pPr>
            <a:endParaRPr lang="en-GB" sz="1800" i="1" dirty="0">
              <a:effectLst/>
              <a:latin typeface="Times New Roman" panose="02020603050405020304" pitchFamily="18" charset="0"/>
              <a:ea typeface="MS Mincho" panose="02020609040205080304" pitchFamily="49" charset="-128"/>
            </a:endParaRPr>
          </a:p>
          <a:p>
            <a:pPr marL="180340" indent="-180340" algn="just">
              <a:spcBef>
                <a:spcPts val="0"/>
              </a:spcBef>
            </a:pPr>
            <a:r>
              <a:rPr lang="en-GB" sz="1800" i="1" dirty="0" err="1">
                <a:latin typeface="Times New Roman" panose="02020603050405020304" pitchFamily="18" charset="0"/>
                <a:ea typeface="MS Mincho" panose="02020609040205080304" pitchFamily="49" charset="-128"/>
              </a:rPr>
              <a:t>Vayansky</a:t>
            </a:r>
            <a:r>
              <a:rPr lang="en-GB" sz="1800" i="1" dirty="0">
                <a:latin typeface="Times New Roman" panose="02020603050405020304" pitchFamily="18" charset="0"/>
                <a:ea typeface="MS Mincho" panose="02020609040205080304" pitchFamily="49" charset="-128"/>
              </a:rPr>
              <a:t>, I., Kumar, S. A.P. (2020). A review of topic </a:t>
            </a:r>
            <a:r>
              <a:rPr lang="en-GB" sz="1800" i="1" dirty="0" err="1">
                <a:latin typeface="Times New Roman" panose="02020603050405020304" pitchFamily="18" charset="0"/>
                <a:ea typeface="MS Mincho" panose="02020609040205080304" pitchFamily="49" charset="-128"/>
              </a:rPr>
              <a:t>modeling</a:t>
            </a:r>
            <a:r>
              <a:rPr lang="en-GB" sz="1800" i="1" dirty="0">
                <a:latin typeface="Times New Roman" panose="02020603050405020304" pitchFamily="18" charset="0"/>
                <a:ea typeface="MS Mincho" panose="02020609040205080304" pitchFamily="49" charset="-128"/>
              </a:rPr>
              <a:t> methods. Information Systems, 94.</a:t>
            </a:r>
            <a:endParaRPr lang="en-US" sz="1800" i="1" dirty="0">
              <a:latin typeface="Times New Roman" panose="02020603050405020304" pitchFamily="18" charset="0"/>
              <a:ea typeface="MS Mincho" panose="02020609040205080304" pitchFamily="49" charset="-128"/>
            </a:endParaRPr>
          </a:p>
          <a:p>
            <a:pPr marL="180340" indent="-180340" algn="just">
              <a:spcBef>
                <a:spcPts val="0"/>
              </a:spcBef>
            </a:pPr>
            <a:r>
              <a:rPr lang="en-GB" sz="1800" i="1" dirty="0">
                <a:effectLst/>
                <a:latin typeface="Times New Roman" panose="02020603050405020304" pitchFamily="18" charset="0"/>
                <a:ea typeface="MS Mincho" panose="02020609040205080304" pitchFamily="49" charset="-128"/>
              </a:rPr>
              <a:t>.</a:t>
            </a:r>
            <a:endParaRPr lang="en-US" sz="1800" dirty="0">
              <a:effectLst/>
              <a:latin typeface="Times New Roman" panose="02020603050405020304" pitchFamily="18" charset="0"/>
              <a:ea typeface="MS Mincho" panose="02020609040205080304" pitchFamily="49" charset="-128"/>
            </a:endParaRPr>
          </a:p>
          <a:p>
            <a:pPr marL="180340" indent="-180340" algn="just">
              <a:spcBef>
                <a:spcPts val="0"/>
              </a:spcBef>
            </a:pPr>
            <a:endParaRPr lang="en-US" sz="1400" dirty="0">
              <a:latin typeface="Times New Roman" panose="02020603050405020304" pitchFamily="18" charset="0"/>
            </a:endParaRPr>
          </a:p>
          <a:p>
            <a:pPr marL="180340" marR="0" indent="-180340" algn="just">
              <a:lnSpc>
                <a:spcPts val="1100"/>
              </a:lnSpc>
              <a:spcBef>
                <a:spcPts val="0"/>
              </a:spcBef>
              <a:spcAft>
                <a:spcPts val="0"/>
              </a:spcAft>
            </a:pPr>
            <a:endParaRPr lang="en-US" sz="1400" dirty="0">
              <a:latin typeface="Times New Roman" panose="02020603050405020304" pitchFamily="18" charset="0"/>
            </a:endParaRPr>
          </a:p>
          <a:p>
            <a:pPr>
              <a:buFont typeface="Wingdings" panose="05000000000000000000" pitchFamily="2" charset="2"/>
              <a:buChar char="§"/>
            </a:pPr>
            <a:endParaRPr lang="en-US" sz="1050" dirty="0">
              <a:latin typeface="Candara" panose="020E0502030303020204" pitchFamily="34" charset="0"/>
            </a:endParaRPr>
          </a:p>
        </p:txBody>
      </p:sp>
      <p:sp>
        <p:nvSpPr>
          <p:cNvPr id="4" name="Slide Number Placeholder 3">
            <a:extLst>
              <a:ext uri="{FF2B5EF4-FFF2-40B4-BE49-F238E27FC236}">
                <a16:creationId xmlns:a16="http://schemas.microsoft.com/office/drawing/2014/main" id="{3412CBB7-229C-4148-8ADF-F2F672A7DFD1}"/>
              </a:ext>
            </a:extLst>
          </p:cNvPr>
          <p:cNvSpPr>
            <a:spLocks noGrp="1"/>
          </p:cNvSpPr>
          <p:nvPr>
            <p:ph type="sldNum" sz="quarter" idx="12"/>
          </p:nvPr>
        </p:nvSpPr>
        <p:spPr/>
        <p:txBody>
          <a:bodyPr/>
          <a:lstStyle/>
          <a:p>
            <a:fld id="{85F881A0-7E4F-4F05-8C98-13E0A3A62794}" type="slidenum">
              <a:rPr lang="en-US" smtClean="0"/>
              <a:pPr/>
              <a:t>18</a:t>
            </a:fld>
            <a:endParaRPr lang="en-US"/>
          </a:p>
        </p:txBody>
      </p:sp>
      <p:sp>
        <p:nvSpPr>
          <p:cNvPr id="13" name="Rectangle 12">
            <a:extLst>
              <a:ext uri="{FF2B5EF4-FFF2-40B4-BE49-F238E27FC236}">
                <a16:creationId xmlns:a16="http://schemas.microsoft.com/office/drawing/2014/main" id="{731A42CB-5FE2-4F28-AE14-84C1F481B9C0}"/>
              </a:ext>
            </a:extLst>
          </p:cNvPr>
          <p:cNvSpPr/>
          <p:nvPr/>
        </p:nvSpPr>
        <p:spPr>
          <a:xfrm>
            <a:off x="0" y="152400"/>
            <a:ext cx="9144000" cy="768377"/>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sp>
        <p:nvSpPr>
          <p:cNvPr id="14" name="Title 1">
            <a:extLst>
              <a:ext uri="{FF2B5EF4-FFF2-40B4-BE49-F238E27FC236}">
                <a16:creationId xmlns:a16="http://schemas.microsoft.com/office/drawing/2014/main" id="{C3E50B17-59EB-466C-B4C9-2D93087BA488}"/>
              </a:ext>
            </a:extLst>
          </p:cNvPr>
          <p:cNvSpPr txBox="1">
            <a:spLocks/>
          </p:cNvSpPr>
          <p:nvPr/>
        </p:nvSpPr>
        <p:spPr>
          <a:xfrm>
            <a:off x="228600" y="125422"/>
            <a:ext cx="8229600" cy="7635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a:solidFill>
                  <a:schemeClr val="bg1"/>
                </a:solidFill>
                <a:latin typeface="+mn-lt"/>
                <a:cs typeface="Aharoni" panose="02010803020104030203" pitchFamily="2" charset="-79"/>
              </a:rPr>
              <a:t>Reference</a:t>
            </a:r>
          </a:p>
        </p:txBody>
      </p:sp>
    </p:spTree>
    <p:extLst>
      <p:ext uri="{BB962C8B-B14F-4D97-AF65-F5344CB8AC3E}">
        <p14:creationId xmlns:p14="http://schemas.microsoft.com/office/powerpoint/2010/main" val="873504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0" y="0"/>
            <a:ext cx="9144000" cy="6858000"/>
          </a:xfrm>
          <a:prstGeom prst="rect">
            <a:avLst/>
          </a:prstGeom>
          <a:solidFill>
            <a:schemeClr val="bg1"/>
          </a:solidFill>
          <a:ln w="9525" algn="ctr">
            <a:solidFill>
              <a:schemeClr val="tx1"/>
            </a:solidFill>
            <a:round/>
            <a:headEnd/>
            <a:tailEnd/>
          </a:ln>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endParaRPr lang="en-US" altLang="en-US"/>
          </a:p>
        </p:txBody>
      </p:sp>
      <p:sp>
        <p:nvSpPr>
          <p:cNvPr id="3" name="Content Placeholder 2"/>
          <p:cNvSpPr>
            <a:spLocks noGrp="1"/>
          </p:cNvSpPr>
          <p:nvPr>
            <p:ph idx="1"/>
          </p:nvPr>
        </p:nvSpPr>
        <p:spPr>
          <a:xfrm>
            <a:off x="457200" y="3581400"/>
            <a:ext cx="8229600" cy="2638425"/>
          </a:xfrm>
        </p:spPr>
        <p:txBody>
          <a:bodyPr>
            <a:noAutofit/>
          </a:bodyPr>
          <a:lstStyle/>
          <a:p>
            <a:pPr marL="0" indent="0" algn="ctr">
              <a:buNone/>
            </a:pPr>
            <a:r>
              <a:rPr lang="en-US" sz="2800" dirty="0">
                <a:solidFill>
                  <a:schemeClr val="accent4">
                    <a:lumMod val="75000"/>
                  </a:schemeClr>
                </a:solidFill>
                <a:cs typeface="Aharoni" panose="02010803020104030203" pitchFamily="2" charset="-79"/>
              </a:rPr>
              <a:t>Thank you!</a:t>
            </a:r>
          </a:p>
          <a:p>
            <a:pPr marL="0" indent="0" algn="ctr">
              <a:buNone/>
            </a:pPr>
            <a:endParaRPr lang="en-US" sz="2400" dirty="0">
              <a:solidFill>
                <a:schemeClr val="accent4">
                  <a:lumMod val="75000"/>
                </a:schemeClr>
              </a:solidFill>
              <a:cs typeface="Aharoni" panose="02010803020104030203" pitchFamily="2" charset="-79"/>
            </a:endParaRPr>
          </a:p>
          <a:p>
            <a:pPr marL="0" indent="0" algn="ctr">
              <a:lnSpc>
                <a:spcPct val="150000"/>
              </a:lnSpc>
              <a:buNone/>
            </a:pPr>
            <a:r>
              <a:rPr lang="en-US" sz="2000" dirty="0">
                <a:solidFill>
                  <a:schemeClr val="accent4">
                    <a:lumMod val="75000"/>
                  </a:schemeClr>
                </a:solidFill>
                <a:cs typeface="Aharoni" panose="02010803020104030203" pitchFamily="2" charset="-79"/>
              </a:rPr>
              <a:t>“khanjarinezhadjoo19@students.ecu.edu”</a:t>
            </a:r>
          </a:p>
          <a:p>
            <a:pPr marL="0" indent="0">
              <a:buNone/>
            </a:pPr>
            <a:endParaRPr lang="en-US" sz="2400" dirty="0"/>
          </a:p>
        </p:txBody>
      </p:sp>
      <p:sp>
        <p:nvSpPr>
          <p:cNvPr id="2" name="Slide Number Placeholder 1">
            <a:extLst>
              <a:ext uri="{FF2B5EF4-FFF2-40B4-BE49-F238E27FC236}">
                <a16:creationId xmlns:a16="http://schemas.microsoft.com/office/drawing/2014/main" id="{1F94B59F-3C2F-4593-AC29-26732FB1CAB2}"/>
              </a:ext>
            </a:extLst>
          </p:cNvPr>
          <p:cNvSpPr>
            <a:spLocks noGrp="1"/>
          </p:cNvSpPr>
          <p:nvPr>
            <p:ph type="sldNum" sz="quarter" idx="12"/>
          </p:nvPr>
        </p:nvSpPr>
        <p:spPr/>
        <p:txBody>
          <a:bodyPr/>
          <a:lstStyle/>
          <a:p>
            <a:fld id="{85F881A0-7E4F-4F05-8C98-13E0A3A62794}" type="slidenum">
              <a:rPr lang="en-US" smtClean="0"/>
              <a:pPr/>
              <a:t>19</a:t>
            </a:fld>
            <a:endParaRPr lang="en-US"/>
          </a:p>
        </p:txBody>
      </p:sp>
      <p:sp>
        <p:nvSpPr>
          <p:cNvPr id="9" name="Rectangle 8">
            <a:extLst>
              <a:ext uri="{FF2B5EF4-FFF2-40B4-BE49-F238E27FC236}">
                <a16:creationId xmlns:a16="http://schemas.microsoft.com/office/drawing/2014/main" id="{2C7F1753-0D74-4A93-A388-D468FC429E5F}"/>
              </a:ext>
            </a:extLst>
          </p:cNvPr>
          <p:cNvSpPr/>
          <p:nvPr/>
        </p:nvSpPr>
        <p:spPr>
          <a:xfrm>
            <a:off x="0" y="152400"/>
            <a:ext cx="9144000" cy="2163762"/>
          </a:xfrm>
          <a:prstGeom prst="rect">
            <a:avLst/>
          </a:prstGeom>
          <a:solidFill>
            <a:srgbClr val="5E6E64"/>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sz="5400" b="1" dirty="0">
              <a:solidFill>
                <a:schemeClr val="accent3">
                  <a:lumMod val="20000"/>
                  <a:lumOff val="80000"/>
                </a:schemeClr>
              </a:solidFill>
            </a:endParaRPr>
          </a:p>
        </p:txBody>
      </p:sp>
    </p:spTree>
    <p:extLst>
      <p:ext uri="{BB962C8B-B14F-4D97-AF65-F5344CB8AC3E}">
        <p14:creationId xmlns:p14="http://schemas.microsoft.com/office/powerpoint/2010/main" val="3150104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mbri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8565</TotalTime>
  <Words>2096</Words>
  <Application>Microsoft Office PowerPoint</Application>
  <PresentationFormat>On-screen Show (4:3)</PresentationFormat>
  <Paragraphs>259</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Aharoni</vt:lpstr>
      <vt:lpstr>Arial</vt:lpstr>
      <vt:lpstr>Calibri</vt:lpstr>
      <vt:lpstr>Cambria</vt:lpstr>
      <vt:lpstr>Candara</vt:lpstr>
      <vt:lpstr>Open Sans</vt:lpstr>
      <vt:lpstr>Tahoma</vt:lpstr>
      <vt:lpstr>Times New Roman</vt:lpstr>
      <vt:lpstr>Wingdings</vt:lpstr>
      <vt:lpstr>Office Theme</vt:lpstr>
      <vt:lpstr>Social Media Analytics: An Overview of Applications and Approaches  KDIR 2021 : 13th International Conference on Knowledge Discovery and Information Retrieval </vt:lpstr>
      <vt:lpstr>Overview:</vt:lpstr>
      <vt:lpstr> Social Media Analytics </vt:lpstr>
      <vt:lpstr> Research Questions  </vt:lpstr>
      <vt:lpstr> Social Media Analytics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Social Media Analytics </vt:lpstr>
      <vt:lpstr>Reference</vt:lpstr>
      <vt:lpstr>PowerPoint Presentation</vt:lpstr>
    </vt:vector>
  </TitlesOfParts>
  <Company>East Carolina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Structural and Functional Assessment of Speech in Young Children Using Dynamic MRI</dc:title>
  <dc:creator>itcs</dc:creator>
  <cp:lastModifiedBy>Z Khanjari</cp:lastModifiedBy>
  <cp:revision>347</cp:revision>
  <cp:lastPrinted>2016-03-28T21:39:20Z</cp:lastPrinted>
  <dcterms:created xsi:type="dcterms:W3CDTF">2015-01-22T11:40:46Z</dcterms:created>
  <dcterms:modified xsi:type="dcterms:W3CDTF">2021-10-26T05:27:57Z</dcterms:modified>
</cp:coreProperties>
</file>